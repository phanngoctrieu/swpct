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70" r:id="rId14"/>
    <p:sldId id="271" r:id="rId15"/>
    <p:sldId id="273" r:id="rId16"/>
    <p:sldId id="278" r:id="rId17"/>
    <p:sldId id="288" r:id="rId18"/>
    <p:sldId id="277" r:id="rId19"/>
    <p:sldId id="289" r:id="rId20"/>
    <p:sldId id="292" r:id="rId21"/>
    <p:sldId id="290" r:id="rId22"/>
    <p:sldId id="302" r:id="rId23"/>
    <p:sldId id="301" r:id="rId24"/>
    <p:sldId id="304" r:id="rId25"/>
    <p:sldId id="303" r:id="rId26"/>
    <p:sldId id="305" r:id="rId27"/>
    <p:sldId id="307" r:id="rId28"/>
    <p:sldId id="306" r:id="rId29"/>
    <p:sldId id="295" r:id="rId30"/>
    <p:sldId id="287" r:id="rId31"/>
    <p:sldId id="280" r:id="rId32"/>
    <p:sldId id="298" r:id="rId33"/>
    <p:sldId id="297" r:id="rId34"/>
    <p:sldId id="294" r:id="rId35"/>
    <p:sldId id="279" r:id="rId36"/>
    <p:sldId id="282" r:id="rId37"/>
    <p:sldId id="281" r:id="rId38"/>
    <p:sldId id="283" r:id="rId39"/>
    <p:sldId id="284" r:id="rId40"/>
    <p:sldId id="285" r:id="rId41"/>
    <p:sldId id="300" r:id="rId42"/>
    <p:sldId id="286" r:id="rId43"/>
    <p:sldId id="308" r:id="rId44"/>
    <p:sldId id="299" r:id="rId45"/>
    <p:sldId id="293" r:id="rId46"/>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353"/>
  </p:normalViewPr>
  <p:slideViewPr>
    <p:cSldViewPr snapToGrid="0">
      <p:cViewPr>
        <p:scale>
          <a:sx n="68" d="100"/>
          <a:sy n="68" d="100"/>
        </p:scale>
        <p:origin x="1648" y="7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E45E18-D67E-104C-86EC-8A191DF43633}" type="datetimeFigureOut">
              <a:rPr lang="en-VN" smtClean="0"/>
              <a:t>9/4/25</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E7A067-A1AA-F040-9809-79E60F2BEC51}" type="slidenum">
              <a:rPr lang="en-VN" smtClean="0"/>
              <a:t>‹#›</a:t>
            </a:fld>
            <a:endParaRPr lang="en-VN"/>
          </a:p>
        </p:txBody>
      </p:sp>
    </p:spTree>
    <p:extLst>
      <p:ext uri="{BB962C8B-B14F-4D97-AF65-F5344CB8AC3E}">
        <p14:creationId xmlns:p14="http://schemas.microsoft.com/office/powerpoint/2010/main" val="2644693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Triều sẽ chia sẽ về nguyên tắc Triều dùng để quản lý tài chính của mình!</a:t>
            </a:r>
          </a:p>
          <a:p>
            <a:r>
              <a:rPr lang="en-VN" dirty="0"/>
              <a:t>Cho nên có thể nó sẽ không theo những quyển sách về quản lý tài chính mà các bạn đọc.</a:t>
            </a:r>
          </a:p>
          <a:p>
            <a:endParaRPr lang="en-VN" dirty="0"/>
          </a:p>
        </p:txBody>
      </p:sp>
      <p:sp>
        <p:nvSpPr>
          <p:cNvPr id="4" name="Slide Number Placeholder 3"/>
          <p:cNvSpPr>
            <a:spLocks noGrp="1"/>
          </p:cNvSpPr>
          <p:nvPr>
            <p:ph type="sldNum" sz="quarter" idx="5"/>
          </p:nvPr>
        </p:nvSpPr>
        <p:spPr/>
        <p:txBody>
          <a:bodyPr/>
          <a:lstStyle/>
          <a:p>
            <a:fld id="{C4E7A067-A1AA-F040-9809-79E60F2BEC51}" type="slidenum">
              <a:rPr lang="en-VN" smtClean="0"/>
              <a:t>1</a:t>
            </a:fld>
            <a:endParaRPr lang="en-VN"/>
          </a:p>
        </p:txBody>
      </p:sp>
    </p:spTree>
    <p:extLst>
      <p:ext uri="{BB962C8B-B14F-4D97-AF65-F5344CB8AC3E}">
        <p14:creationId xmlns:p14="http://schemas.microsoft.com/office/powerpoint/2010/main" val="17472111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Việc định nghĩa như thế này là do:</a:t>
            </a:r>
          </a:p>
          <a:p>
            <a:r>
              <a:rPr lang="en-US" dirty="0"/>
              <a:t>-&gt; </a:t>
            </a:r>
            <a:r>
              <a:rPr lang="en-US" dirty="0" err="1"/>
              <a:t>Hầu</a:t>
            </a:r>
            <a:r>
              <a:rPr lang="en-US" dirty="0"/>
              <a:t> </a:t>
            </a:r>
            <a:r>
              <a:rPr lang="en-US" dirty="0" err="1"/>
              <a:t>như</a:t>
            </a:r>
            <a:r>
              <a:rPr lang="en-US" dirty="0"/>
              <a:t> </a:t>
            </a:r>
            <a:r>
              <a:rPr lang="en-US" dirty="0" err="1"/>
              <a:t>những</a:t>
            </a:r>
            <a:r>
              <a:rPr lang="en-US" dirty="0"/>
              <a:t> </a:t>
            </a:r>
            <a:r>
              <a:rPr lang="en-US" dirty="0" err="1"/>
              <a:t>người</a:t>
            </a:r>
            <a:r>
              <a:rPr lang="en-US" dirty="0"/>
              <a:t> </a:t>
            </a:r>
            <a:r>
              <a:rPr lang="en-US" dirty="0" err="1"/>
              <a:t>được</a:t>
            </a:r>
            <a:r>
              <a:rPr lang="en-US" dirty="0"/>
              <a:t> </a:t>
            </a:r>
            <a:r>
              <a:rPr lang="en-US" dirty="0" err="1"/>
              <a:t>gọi</a:t>
            </a:r>
            <a:r>
              <a:rPr lang="en-US" dirty="0"/>
              <a:t> </a:t>
            </a:r>
            <a:r>
              <a:rPr lang="en-US" dirty="0" err="1"/>
              <a:t>là</a:t>
            </a:r>
            <a:r>
              <a:rPr lang="en-US" dirty="0"/>
              <a:t> </a:t>
            </a:r>
            <a:r>
              <a:rPr lang="en-US" dirty="0" err="1"/>
              <a:t>không</a:t>
            </a:r>
            <a:r>
              <a:rPr lang="en-US" dirty="0"/>
              <a:t> </a:t>
            </a:r>
            <a:r>
              <a:rPr lang="en-US" dirty="0" err="1"/>
              <a:t>quản</a:t>
            </a:r>
            <a:r>
              <a:rPr lang="en-US" dirty="0"/>
              <a:t> </a:t>
            </a:r>
            <a:r>
              <a:rPr lang="en-US" dirty="0" err="1"/>
              <a:t>lí</a:t>
            </a:r>
            <a:r>
              <a:rPr lang="en-US" dirty="0"/>
              <a:t> </a:t>
            </a:r>
            <a:r>
              <a:rPr lang="en-US" dirty="0" err="1"/>
              <a:t>tài</a:t>
            </a:r>
            <a:r>
              <a:rPr lang="en-US" dirty="0"/>
              <a:t> </a:t>
            </a:r>
            <a:r>
              <a:rPr lang="en-US" dirty="0" err="1"/>
              <a:t>chính</a:t>
            </a:r>
            <a:r>
              <a:rPr lang="en-US" dirty="0"/>
              <a:t> </a:t>
            </a:r>
            <a:r>
              <a:rPr lang="en-US" dirty="0" err="1"/>
              <a:t>tốt</a:t>
            </a:r>
            <a:r>
              <a:rPr lang="en-US" dirty="0"/>
              <a:t> </a:t>
            </a:r>
            <a:r>
              <a:rPr lang="en-US" dirty="0" err="1"/>
              <a:t>là</a:t>
            </a:r>
            <a:r>
              <a:rPr lang="en-US" dirty="0"/>
              <a:t> do </a:t>
            </a:r>
            <a:r>
              <a:rPr lang="en-US" dirty="0" err="1"/>
              <a:t>họ</a:t>
            </a:r>
            <a:r>
              <a:rPr lang="en-US" dirty="0"/>
              <a:t> </a:t>
            </a:r>
            <a:r>
              <a:rPr lang="en-US" dirty="0" err="1"/>
              <a:t>không</a:t>
            </a:r>
            <a:r>
              <a:rPr lang="en-US" dirty="0"/>
              <a:t> </a:t>
            </a:r>
            <a:r>
              <a:rPr lang="en-US" dirty="0" err="1"/>
              <a:t>có</a:t>
            </a:r>
            <a:r>
              <a:rPr lang="en-US" dirty="0"/>
              <a:t> </a:t>
            </a:r>
            <a:r>
              <a:rPr lang="en-US" dirty="0" err="1"/>
              <a:t>lên</a:t>
            </a:r>
            <a:r>
              <a:rPr lang="en-US" dirty="0"/>
              <a:t> </a:t>
            </a:r>
            <a:r>
              <a:rPr lang="en-US" dirty="0" err="1"/>
              <a:t>kế</a:t>
            </a:r>
            <a:r>
              <a:rPr lang="en-US" dirty="0"/>
              <a:t> </a:t>
            </a:r>
            <a:r>
              <a:rPr lang="en-US" dirty="0" err="1"/>
              <a:t>hoạch</a:t>
            </a:r>
            <a:r>
              <a:rPr lang="en-US" dirty="0"/>
              <a:t> </a:t>
            </a:r>
            <a:r>
              <a:rPr lang="en-US" dirty="0" err="1"/>
              <a:t>cho</a:t>
            </a:r>
            <a:r>
              <a:rPr lang="en-US" dirty="0"/>
              <a:t> </a:t>
            </a:r>
            <a:r>
              <a:rPr lang="en-US" dirty="0" err="1"/>
              <a:t>sự</a:t>
            </a:r>
            <a:r>
              <a:rPr lang="en-US" dirty="0"/>
              <a:t> chi </a:t>
            </a:r>
            <a:r>
              <a:rPr lang="en-US" dirty="0" err="1"/>
              <a:t>tiêu</a:t>
            </a:r>
            <a:r>
              <a:rPr lang="en-US" dirty="0"/>
              <a:t> </a:t>
            </a:r>
            <a:r>
              <a:rPr lang="en-US" dirty="0" err="1"/>
              <a:t>hợp</a:t>
            </a:r>
            <a:r>
              <a:rPr lang="en-US" dirty="0"/>
              <a:t> </a:t>
            </a:r>
            <a:r>
              <a:rPr lang="en-US" dirty="0" err="1"/>
              <a:t>lí</a:t>
            </a:r>
            <a:endParaRPr lang="en-US" dirty="0"/>
          </a:p>
          <a:p>
            <a:endParaRPr lang="en-VN" dirty="0"/>
          </a:p>
        </p:txBody>
      </p:sp>
      <p:sp>
        <p:nvSpPr>
          <p:cNvPr id="4" name="Slide Number Placeholder 3"/>
          <p:cNvSpPr>
            <a:spLocks noGrp="1"/>
          </p:cNvSpPr>
          <p:nvPr>
            <p:ph type="sldNum" sz="quarter" idx="5"/>
          </p:nvPr>
        </p:nvSpPr>
        <p:spPr/>
        <p:txBody>
          <a:bodyPr/>
          <a:lstStyle/>
          <a:p>
            <a:fld id="{C4E7A067-A1AA-F040-9809-79E60F2BEC51}" type="slidenum">
              <a:rPr lang="en-VN" smtClean="0"/>
              <a:t>4</a:t>
            </a:fld>
            <a:endParaRPr lang="en-VN"/>
          </a:p>
        </p:txBody>
      </p:sp>
    </p:spTree>
    <p:extLst>
      <p:ext uri="{BB962C8B-B14F-4D97-AF65-F5344CB8AC3E}">
        <p14:creationId xmlns:p14="http://schemas.microsoft.com/office/powerpoint/2010/main" val="1810033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15000"/>
              </a:lnSpc>
              <a:spcAft>
                <a:spcPts val="800"/>
              </a:spcAft>
              <a:buNone/>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Thật ra dòng logic trên sẽ trả lời cho quan câu hỏi nếu Chúa là chủ </a:t>
            </a:r>
            <a:r>
              <a:rPr lang="en-US" sz="1800" kern="100" dirty="0">
                <a:effectLst/>
                <a:latin typeface="Cambria" panose="02040503050406030204" pitchFamily="18" charset="0"/>
                <a:ea typeface="Calibri" panose="020F0502020204030204" pitchFamily="34" charset="0"/>
                <a:cs typeface="Times New Roman" panose="02020603050405020304" pitchFamily="18" charset="0"/>
              </a:rPr>
              <a:t>t</a:t>
            </a: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ài sản mình có thì tôi là ai đối với tài sản.</a:t>
            </a:r>
            <a:endParaRPr lang="en-V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Như Triều đã nói, Triều chưa bao giờ nghĩ mình là quản gia của Chúa hết vì thật ra Triều không nhớ trong Kinh Thánh ở đâu nói đến việc mình là quản gia </a:t>
            </a:r>
          </a:p>
          <a:p>
            <a:pPr algn="just">
              <a:lnSpc>
                <a:spcPct val="115000"/>
              </a:lnSpc>
              <a:spcAft>
                <a:spcPts val="800"/>
              </a:spcAft>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nên có thể Triều không có bàn đến lập luận trên.</a:t>
            </a:r>
            <a:endParaRPr lang="en-V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VN" dirty="0"/>
          </a:p>
        </p:txBody>
      </p:sp>
      <p:sp>
        <p:nvSpPr>
          <p:cNvPr id="4" name="Slide Number Placeholder 3"/>
          <p:cNvSpPr>
            <a:spLocks noGrp="1"/>
          </p:cNvSpPr>
          <p:nvPr>
            <p:ph type="sldNum" sz="quarter" idx="5"/>
          </p:nvPr>
        </p:nvSpPr>
        <p:spPr/>
        <p:txBody>
          <a:bodyPr/>
          <a:lstStyle/>
          <a:p>
            <a:fld id="{C4E7A067-A1AA-F040-9809-79E60F2BEC51}" type="slidenum">
              <a:rPr lang="en-VN" smtClean="0"/>
              <a:t>5</a:t>
            </a:fld>
            <a:endParaRPr lang="en-VN"/>
          </a:p>
        </p:txBody>
      </p:sp>
    </p:spTree>
    <p:extLst>
      <p:ext uri="{BB962C8B-B14F-4D97-AF65-F5344CB8AC3E}">
        <p14:creationId xmlns:p14="http://schemas.microsoft.com/office/powerpoint/2010/main" val="444305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Đức Chúa Trời tể trị và có quyền trên mọi sự:</a:t>
            </a:r>
          </a:p>
          <a:p>
            <a:pPr marL="171450" indent="-171450">
              <a:buFont typeface="Arial" panose="020B0604020202020204" pitchFamily="34" charset="0"/>
              <a:buChar char="•"/>
            </a:pPr>
            <a:r>
              <a:rPr lang="en-VN" dirty="0"/>
              <a:t>Sự thành công hay thất bại trong trận chiến</a:t>
            </a:r>
          </a:p>
          <a:p>
            <a:pPr marL="171450" indent="-171450">
              <a:buFont typeface="Arial" panose="020B0604020202020204" pitchFamily="34" charset="0"/>
              <a:buChar char="•"/>
            </a:pPr>
            <a:r>
              <a:rPr lang="en-VN" dirty="0"/>
              <a:t>Lượng của cải chúng ta có</a:t>
            </a:r>
          </a:p>
          <a:p>
            <a:pPr marL="171450" indent="-171450">
              <a:buFont typeface="Arial" panose="020B0604020202020204" pitchFamily="34" charset="0"/>
              <a:buChar char="•"/>
            </a:pPr>
            <a:endParaRPr lang="en-VN" dirty="0"/>
          </a:p>
          <a:p>
            <a:pPr marL="0" indent="0">
              <a:buFont typeface="Arial" panose="020B0604020202020204" pitchFamily="34" charset="0"/>
              <a:buNone/>
            </a:pPr>
            <a:r>
              <a:rPr lang="en-VN" dirty="0"/>
              <a:t>Đức Chúa Trời có quyền sử dụng mọi thứ theo ý muốn của Ngài – cụ thể Ngài có quyền sử dụng những gì thuộc về Ngài cho bất kì mục đích nào đó Ngài muốn</a:t>
            </a:r>
          </a:p>
          <a:p>
            <a:pPr marL="171450" indent="-171450">
              <a:buFont typeface="Arial" panose="020B0604020202020204" pitchFamily="34" charset="0"/>
              <a:buChar char="•"/>
            </a:pPr>
            <a:r>
              <a:rPr lang="en-VN" dirty="0"/>
              <a:t>Ngài muốn cho chúng ta thắng trận – như Áp-ram cũng là sự ban cho của Ngài</a:t>
            </a:r>
          </a:p>
          <a:p>
            <a:pPr marL="171450" indent="-171450">
              <a:buFont typeface="Arial" panose="020B0604020202020204" pitchFamily="34" charset="0"/>
              <a:buChar char="•"/>
            </a:pPr>
            <a:r>
              <a:rPr lang="en-VN" dirty="0"/>
              <a:t>Chúng ta có nhiều tiên -&gt; đó là sự ban cho của Ngài, chúng ta có ít tiền cũng là sự ban cho của Ngài.</a:t>
            </a:r>
          </a:p>
        </p:txBody>
      </p:sp>
      <p:sp>
        <p:nvSpPr>
          <p:cNvPr id="4" name="Slide Number Placeholder 3"/>
          <p:cNvSpPr>
            <a:spLocks noGrp="1"/>
          </p:cNvSpPr>
          <p:nvPr>
            <p:ph type="sldNum" sz="quarter" idx="5"/>
          </p:nvPr>
        </p:nvSpPr>
        <p:spPr/>
        <p:txBody>
          <a:bodyPr/>
          <a:lstStyle/>
          <a:p>
            <a:fld id="{C4E7A067-A1AA-F040-9809-79E60F2BEC51}" type="slidenum">
              <a:rPr lang="en-VN" smtClean="0"/>
              <a:t>10</a:t>
            </a:fld>
            <a:endParaRPr lang="en-VN"/>
          </a:p>
        </p:txBody>
      </p:sp>
    </p:spTree>
    <p:extLst>
      <p:ext uri="{BB962C8B-B14F-4D97-AF65-F5344CB8AC3E}">
        <p14:creationId xmlns:p14="http://schemas.microsoft.com/office/powerpoint/2010/main" val="3891897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368A6-8833-7BB2-CAFA-8463EEE5FA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1BAE77-06E9-F04A-27DD-5990FC7BC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103785-D488-3327-ED5C-F8430178E875}"/>
              </a:ext>
            </a:extLst>
          </p:cNvPr>
          <p:cNvSpPr>
            <a:spLocks noGrp="1"/>
          </p:cNvSpPr>
          <p:nvPr>
            <p:ph type="body" idx="1"/>
          </p:nvPr>
        </p:nvSpPr>
        <p:spPr/>
        <p:txBody>
          <a:bodyPr/>
          <a:lstStyle/>
          <a:p>
            <a:r>
              <a:rPr lang="en-VN" dirty="0"/>
              <a:t>Đức Chúa Trời tể trị và có quyền trên mọi sự:</a:t>
            </a:r>
          </a:p>
          <a:p>
            <a:pPr marL="171450" indent="-171450">
              <a:buFont typeface="Arial" panose="020B0604020202020204" pitchFamily="34" charset="0"/>
              <a:buChar char="•"/>
            </a:pPr>
            <a:r>
              <a:rPr lang="en-VN" dirty="0"/>
              <a:t>Sự thành công hay thất bại trong trận chiến</a:t>
            </a:r>
          </a:p>
          <a:p>
            <a:pPr marL="171450" indent="-171450">
              <a:buFont typeface="Arial" panose="020B0604020202020204" pitchFamily="34" charset="0"/>
              <a:buChar char="•"/>
            </a:pPr>
            <a:r>
              <a:rPr lang="en-VN" dirty="0"/>
              <a:t>Lượng của cải chúng ta có</a:t>
            </a:r>
          </a:p>
          <a:p>
            <a:pPr marL="171450" indent="-171450">
              <a:buFont typeface="Arial" panose="020B0604020202020204" pitchFamily="34" charset="0"/>
              <a:buChar char="•"/>
            </a:pPr>
            <a:endParaRPr lang="en-VN" dirty="0"/>
          </a:p>
          <a:p>
            <a:pPr marL="0" indent="0">
              <a:buFont typeface="Arial" panose="020B0604020202020204" pitchFamily="34" charset="0"/>
              <a:buNone/>
            </a:pPr>
            <a:r>
              <a:rPr lang="en-VN" dirty="0"/>
              <a:t>Đức Chúa Trời có quyền sử dụng mọi thứ theo ý muốn của Ngài – cụ thể Ngài có quyền sử dụng những gì thuộc về Ngài cho bất kì mục đích nào đó Ngài muốn</a:t>
            </a:r>
          </a:p>
          <a:p>
            <a:pPr marL="171450" indent="-171450">
              <a:buFont typeface="Arial" panose="020B0604020202020204" pitchFamily="34" charset="0"/>
              <a:buChar char="•"/>
            </a:pPr>
            <a:r>
              <a:rPr lang="en-VN" dirty="0"/>
              <a:t>Ngài muốn cho chúng ta thắng trận – như Áp-ram cũng là sự ban cho của Ngài</a:t>
            </a:r>
          </a:p>
          <a:p>
            <a:pPr marL="171450" indent="-171450">
              <a:buFont typeface="Arial" panose="020B0604020202020204" pitchFamily="34" charset="0"/>
              <a:buChar char="•"/>
            </a:pPr>
            <a:r>
              <a:rPr lang="en-VN" dirty="0"/>
              <a:t>Chúng ta có nhiều tiên -&gt; đó là sự ban cho của Ngài, chúng ta có ít tiền cũng là sự ban cho của Ngài.</a:t>
            </a:r>
          </a:p>
        </p:txBody>
      </p:sp>
      <p:sp>
        <p:nvSpPr>
          <p:cNvPr id="4" name="Slide Number Placeholder 3">
            <a:extLst>
              <a:ext uri="{FF2B5EF4-FFF2-40B4-BE49-F238E27FC236}">
                <a16:creationId xmlns:a16="http://schemas.microsoft.com/office/drawing/2014/main" id="{2E315819-6270-8671-7C9A-04CF7EDB7956}"/>
              </a:ext>
            </a:extLst>
          </p:cNvPr>
          <p:cNvSpPr>
            <a:spLocks noGrp="1"/>
          </p:cNvSpPr>
          <p:nvPr>
            <p:ph type="sldNum" sz="quarter" idx="5"/>
          </p:nvPr>
        </p:nvSpPr>
        <p:spPr/>
        <p:txBody>
          <a:bodyPr/>
          <a:lstStyle/>
          <a:p>
            <a:fld id="{C4E7A067-A1AA-F040-9809-79E60F2BEC51}" type="slidenum">
              <a:rPr lang="en-VN" smtClean="0"/>
              <a:t>11</a:t>
            </a:fld>
            <a:endParaRPr lang="en-VN"/>
          </a:p>
        </p:txBody>
      </p:sp>
    </p:spTree>
    <p:extLst>
      <p:ext uri="{BB962C8B-B14F-4D97-AF65-F5344CB8AC3E}">
        <p14:creationId xmlns:p14="http://schemas.microsoft.com/office/powerpoint/2010/main" val="1978120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934E0-7523-182C-5BD0-6E48D9892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C24E79-0CAF-BF51-1067-0001165D96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573C28-4E79-E174-4D4E-9EAD98A47B54}"/>
              </a:ext>
            </a:extLst>
          </p:cNvPr>
          <p:cNvSpPr>
            <a:spLocks noGrp="1"/>
          </p:cNvSpPr>
          <p:nvPr>
            <p:ph type="body" idx="1"/>
          </p:nvPr>
        </p:nvSpPr>
        <p:spPr/>
        <p:txBody>
          <a:bodyPr/>
          <a:lstStyle/>
          <a:p>
            <a:r>
              <a:rPr lang="en-VN" dirty="0"/>
              <a:t>Đức Chúa Trời tể trị và có quyền trên mọi sự:</a:t>
            </a:r>
          </a:p>
          <a:p>
            <a:pPr marL="171450" indent="-171450">
              <a:buFont typeface="Arial" panose="020B0604020202020204" pitchFamily="34" charset="0"/>
              <a:buChar char="•"/>
            </a:pPr>
            <a:r>
              <a:rPr lang="en-VN" dirty="0"/>
              <a:t>Sự thành công hay thất bại trong trận chiến</a:t>
            </a:r>
          </a:p>
          <a:p>
            <a:pPr marL="171450" indent="-171450">
              <a:buFont typeface="Arial" panose="020B0604020202020204" pitchFamily="34" charset="0"/>
              <a:buChar char="•"/>
            </a:pPr>
            <a:r>
              <a:rPr lang="en-VN" dirty="0"/>
              <a:t>Lượng của cải chúng ta có</a:t>
            </a:r>
          </a:p>
          <a:p>
            <a:pPr marL="171450" indent="-171450">
              <a:buFont typeface="Arial" panose="020B0604020202020204" pitchFamily="34" charset="0"/>
              <a:buChar char="•"/>
            </a:pPr>
            <a:endParaRPr lang="en-VN" dirty="0"/>
          </a:p>
          <a:p>
            <a:pPr marL="0" indent="0">
              <a:buFont typeface="Arial" panose="020B0604020202020204" pitchFamily="34" charset="0"/>
              <a:buNone/>
            </a:pPr>
            <a:r>
              <a:rPr lang="en-VN" dirty="0"/>
              <a:t>Đức Chúa Trời có quyền sử dụng mọi thứ theo ý muốn của Ngài – cụ thể Ngài có quyền sử dụng những gì thuộc về Ngài cho bất kì mục đích nào đó Ngài muốn</a:t>
            </a:r>
          </a:p>
          <a:p>
            <a:pPr marL="171450" indent="-171450">
              <a:buFont typeface="Arial" panose="020B0604020202020204" pitchFamily="34" charset="0"/>
              <a:buChar char="•"/>
            </a:pPr>
            <a:r>
              <a:rPr lang="en-VN" dirty="0"/>
              <a:t>Ngài muốn cho chúng ta thắng trận – như Áp-ram cũng là sự ban cho của Ngài</a:t>
            </a:r>
          </a:p>
          <a:p>
            <a:pPr marL="171450" indent="-171450">
              <a:buFont typeface="Arial" panose="020B0604020202020204" pitchFamily="34" charset="0"/>
              <a:buChar char="•"/>
            </a:pPr>
            <a:r>
              <a:rPr lang="en-VN" dirty="0"/>
              <a:t>Chúng ta có nhiều tiên -&gt; đó là sự ban cho của Ngài, chúng ta có ít tiền cũng là sự ban cho của Ngài.</a:t>
            </a:r>
          </a:p>
        </p:txBody>
      </p:sp>
      <p:sp>
        <p:nvSpPr>
          <p:cNvPr id="4" name="Slide Number Placeholder 3">
            <a:extLst>
              <a:ext uri="{FF2B5EF4-FFF2-40B4-BE49-F238E27FC236}">
                <a16:creationId xmlns:a16="http://schemas.microsoft.com/office/drawing/2014/main" id="{B0E2FCF6-9E4B-FEAA-6C1F-8FA04F33FA48}"/>
              </a:ext>
            </a:extLst>
          </p:cNvPr>
          <p:cNvSpPr>
            <a:spLocks noGrp="1"/>
          </p:cNvSpPr>
          <p:nvPr>
            <p:ph type="sldNum" sz="quarter" idx="5"/>
          </p:nvPr>
        </p:nvSpPr>
        <p:spPr/>
        <p:txBody>
          <a:bodyPr/>
          <a:lstStyle/>
          <a:p>
            <a:fld id="{C4E7A067-A1AA-F040-9809-79E60F2BEC51}" type="slidenum">
              <a:rPr lang="en-VN" smtClean="0"/>
              <a:t>12</a:t>
            </a:fld>
            <a:endParaRPr lang="en-VN"/>
          </a:p>
        </p:txBody>
      </p:sp>
    </p:spTree>
    <p:extLst>
      <p:ext uri="{BB962C8B-B14F-4D97-AF65-F5344CB8AC3E}">
        <p14:creationId xmlns:p14="http://schemas.microsoft.com/office/powerpoint/2010/main" val="12290554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047BD-ADA9-AF4C-1950-C43EFDFE94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886529-5A38-0372-4612-099A87094D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F9CDCF-301B-0C42-EF2D-7A99038A1FA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Có một điều thú vị đó là:</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ông Áp-ram không phải là ngồi yên để nhận được những gì Đức Chúa Trời ban cho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nhưng ông là người đứng lên kêu gọi và chiến đấu với liên minh của Kết-rô-Lao-me và Ngài mới có thể trao phó điều đó cho chính ông và ban cho ông những tài sản đó.</a:t>
            </a:r>
            <a:endParaRPr lang="en-V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VN" dirty="0"/>
          </a:p>
          <a:p>
            <a:pPr algn="just">
              <a:lnSpc>
                <a:spcPct val="115000"/>
              </a:lnSpc>
              <a:spcAft>
                <a:spcPts val="800"/>
              </a:spcAft>
              <a:buNone/>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Các bạn là những người sinh viên – hãy biết rằng ba mẹ là người làm lụm cho các bạn có tiền</a:t>
            </a:r>
            <a:endParaRPr lang="en-V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buNone/>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Triều là người đi làm – Triều cũng phải đi làm lụm cực nhọc mới có tiền </a:t>
            </a:r>
            <a:endParaRPr lang="en-V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buNone/>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Anh chị nhân sự là những người nhận được sự hỗ trợ - cũng phải biết rằng có người đang làm lụm cực nhọc để có mà hỗ trợ cho chính anh chị</a:t>
            </a:r>
            <a:endParaRPr lang="en-V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endParaRPr lang="vi-VN" sz="1800" dirty="0">
              <a:effectLst/>
              <a:latin typeface="Cambria" panose="02040503050406030204" pitchFamily="18" charset="0"/>
              <a:ea typeface="Calibri" panose="020F0502020204030204" pitchFamily="34" charset="0"/>
              <a:cs typeface="Times New Roman" panose="02020603050405020304" pitchFamily="18" charset="0"/>
            </a:endParaRPr>
          </a:p>
          <a:p>
            <a:pPr algn="just">
              <a:lnSpc>
                <a:spcPct val="115000"/>
              </a:lnSpc>
              <a:spcAft>
                <a:spcPts val="800"/>
              </a:spcAft>
            </a:pPr>
            <a:r>
              <a:rPr lang="vi-VN" sz="1800" dirty="0">
                <a:effectLst/>
                <a:latin typeface="Cambria" panose="02040503050406030204" pitchFamily="18" charset="0"/>
                <a:ea typeface="Calibri" panose="020F0502020204030204" pitchFamily="34" charset="0"/>
                <a:cs typeface="Times New Roman" panose="02020603050405020304" pitchFamily="18" charset="0"/>
              </a:rPr>
              <a:t>Và hiển nhiên tất cả những gì chúng ta có đó đều là ở trong ý muốn và sự ban cho của Đức Chúa Trời thông qua những người đó hay công việc đó.</a:t>
            </a:r>
            <a:r>
              <a:rPr lang="en-VN" sz="2800" dirty="0">
                <a:effectLst/>
              </a:rPr>
              <a:t> </a:t>
            </a:r>
            <a:endParaRPr lang="en-V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892ED22-FC67-0536-3726-61C0EECC209C}"/>
              </a:ext>
            </a:extLst>
          </p:cNvPr>
          <p:cNvSpPr>
            <a:spLocks noGrp="1"/>
          </p:cNvSpPr>
          <p:nvPr>
            <p:ph type="sldNum" sz="quarter" idx="5"/>
          </p:nvPr>
        </p:nvSpPr>
        <p:spPr/>
        <p:txBody>
          <a:bodyPr/>
          <a:lstStyle/>
          <a:p>
            <a:fld id="{C4E7A067-A1AA-F040-9809-79E60F2BEC51}" type="slidenum">
              <a:rPr lang="en-VN" smtClean="0"/>
              <a:t>13</a:t>
            </a:fld>
            <a:endParaRPr lang="en-VN"/>
          </a:p>
        </p:txBody>
      </p:sp>
    </p:spTree>
    <p:extLst>
      <p:ext uri="{BB962C8B-B14F-4D97-AF65-F5344CB8AC3E}">
        <p14:creationId xmlns:p14="http://schemas.microsoft.com/office/powerpoint/2010/main" val="3130332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F22EC-F15E-8259-065A-5A50DB8A8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1A0BD-5E1A-888D-1F86-4920A78FF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9EF7B5-FF2F-3F23-6E00-A05E497263AB}"/>
              </a:ext>
            </a:extLst>
          </p:cNvPr>
          <p:cNvSpPr>
            <a:spLocks noGrp="1"/>
          </p:cNvSpPr>
          <p:nvPr>
            <p:ph type="body" idx="1"/>
          </p:nvPr>
        </p:nvSpPr>
        <p:spPr/>
        <p:txBody>
          <a:bodyPr/>
          <a:lstStyle/>
          <a:p>
            <a:r>
              <a:rPr lang="en-VN" dirty="0"/>
              <a:t>Đức Chúa Trời tể trị và có quyền trên mọi sự:</a:t>
            </a:r>
          </a:p>
          <a:p>
            <a:pPr marL="171450" indent="-171450">
              <a:buFont typeface="Arial" panose="020B0604020202020204" pitchFamily="34" charset="0"/>
              <a:buChar char="•"/>
            </a:pPr>
            <a:r>
              <a:rPr lang="en-VN" dirty="0"/>
              <a:t>Sự thành công hay thất bại trong trận chiến</a:t>
            </a:r>
          </a:p>
          <a:p>
            <a:pPr marL="171450" indent="-171450">
              <a:buFont typeface="Arial" panose="020B0604020202020204" pitchFamily="34" charset="0"/>
              <a:buChar char="•"/>
            </a:pPr>
            <a:r>
              <a:rPr lang="en-VN" dirty="0"/>
              <a:t>Lượng của cải chúng ta có</a:t>
            </a:r>
          </a:p>
          <a:p>
            <a:pPr marL="171450" indent="-171450">
              <a:buFont typeface="Arial" panose="020B0604020202020204" pitchFamily="34" charset="0"/>
              <a:buChar char="•"/>
            </a:pPr>
            <a:endParaRPr lang="en-VN" dirty="0"/>
          </a:p>
          <a:p>
            <a:pPr marL="0" indent="0">
              <a:buFont typeface="Arial" panose="020B0604020202020204" pitchFamily="34" charset="0"/>
              <a:buNone/>
            </a:pPr>
            <a:r>
              <a:rPr lang="en-VN" dirty="0"/>
              <a:t>Đức Chúa Trời có quyền sử dụng mọi thứ theo ý muốn của Ngài – cụ thể Ngài có quyền sử dụng những gì thuộc về Ngài cho bất kì mục đích nào đó Ngài muốn</a:t>
            </a:r>
          </a:p>
          <a:p>
            <a:pPr marL="171450" indent="-171450">
              <a:buFont typeface="Arial" panose="020B0604020202020204" pitchFamily="34" charset="0"/>
              <a:buChar char="•"/>
            </a:pPr>
            <a:r>
              <a:rPr lang="en-VN" dirty="0"/>
              <a:t>Ngài muốn cho chúng ta thắng trận – như Áp-ram cũng là sự ban cho của Ngài</a:t>
            </a:r>
          </a:p>
          <a:p>
            <a:pPr marL="171450" indent="-171450">
              <a:buFont typeface="Arial" panose="020B0604020202020204" pitchFamily="34" charset="0"/>
              <a:buChar char="•"/>
            </a:pPr>
            <a:r>
              <a:rPr lang="en-VN" dirty="0"/>
              <a:t>Chúng ta có nhiều tiên -&gt; đó là sự ban cho của Ngài, chúng ta có ít tiền cũng là sự ban cho của Ngài.</a:t>
            </a:r>
          </a:p>
        </p:txBody>
      </p:sp>
      <p:sp>
        <p:nvSpPr>
          <p:cNvPr id="4" name="Slide Number Placeholder 3">
            <a:extLst>
              <a:ext uri="{FF2B5EF4-FFF2-40B4-BE49-F238E27FC236}">
                <a16:creationId xmlns:a16="http://schemas.microsoft.com/office/drawing/2014/main" id="{69C69A0B-B3FC-45E7-C252-438D4485F10E}"/>
              </a:ext>
            </a:extLst>
          </p:cNvPr>
          <p:cNvSpPr>
            <a:spLocks noGrp="1"/>
          </p:cNvSpPr>
          <p:nvPr>
            <p:ph type="sldNum" sz="quarter" idx="5"/>
          </p:nvPr>
        </p:nvSpPr>
        <p:spPr/>
        <p:txBody>
          <a:bodyPr/>
          <a:lstStyle/>
          <a:p>
            <a:fld id="{C4E7A067-A1AA-F040-9809-79E60F2BEC51}" type="slidenum">
              <a:rPr lang="en-VN" smtClean="0"/>
              <a:t>14</a:t>
            </a:fld>
            <a:endParaRPr lang="en-VN"/>
          </a:p>
        </p:txBody>
      </p:sp>
    </p:spTree>
    <p:extLst>
      <p:ext uri="{BB962C8B-B14F-4D97-AF65-F5344CB8AC3E}">
        <p14:creationId xmlns:p14="http://schemas.microsoft.com/office/powerpoint/2010/main" val="1616100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Quản lí tài chính như định nghĩa ở trên:</a:t>
            </a:r>
          </a:p>
          <a:p>
            <a:pPr marL="171450" indent="-171450">
              <a:buFontTx/>
              <a:buChar char="-"/>
            </a:pPr>
            <a:r>
              <a:rPr lang="en-VN" dirty="0"/>
              <a:t>Lên kế hoạch và cân đối tượng tiền chúng ta sẽ sử dụng</a:t>
            </a:r>
          </a:p>
          <a:p>
            <a:pPr marL="0" indent="0">
              <a:buFontTx/>
              <a:buNone/>
            </a:pPr>
            <a:endParaRPr lang="en-VN" dirty="0"/>
          </a:p>
          <a:p>
            <a:pPr marL="0" indent="0">
              <a:buFontTx/>
              <a:buNone/>
            </a:pPr>
            <a:r>
              <a:rPr lang="en-VN" dirty="0"/>
              <a:t>Để chúng ta có thể có thời gian nhìn xem thử nó có phù hợp mới ý muốn của chủ mình hay chưa</a:t>
            </a:r>
          </a:p>
          <a:p>
            <a:pPr marL="0" indent="0">
              <a:buFontTx/>
              <a:buNone/>
            </a:pPr>
            <a:r>
              <a:rPr lang="en-VN" dirty="0"/>
              <a:t>Và nó có thật sự đang phí phạm hay không?</a:t>
            </a:r>
          </a:p>
          <a:p>
            <a:pPr marL="0" indent="0">
              <a:buFontTx/>
              <a:buNone/>
            </a:pPr>
            <a:endParaRPr lang="en-VN" dirty="0"/>
          </a:p>
          <a:p>
            <a:pPr marL="0" indent="0">
              <a:buFontTx/>
              <a:buNone/>
            </a:pPr>
            <a:r>
              <a:rPr lang="en-VN" dirty="0"/>
              <a:t>Thật ra còn nhiều lí do khác như là tác hại của việc không quản lí tài chính – nghĩa là tiêu sai phung phí,…</a:t>
            </a:r>
          </a:p>
          <a:p>
            <a:pPr marL="0" indent="0">
              <a:buFontTx/>
              <a:buNone/>
            </a:pPr>
            <a:endParaRPr lang="en-VN" dirty="0"/>
          </a:p>
          <a:p>
            <a:pPr marL="0" indent="0">
              <a:buFontTx/>
              <a:buNone/>
            </a:pPr>
            <a:r>
              <a:rPr lang="en-VN" dirty="0"/>
              <a:t>Nhưng mà Triều không muốn nói về điều đó ngày hôm nay! Triều nghĩ mình không đủ thời gian cho chuyện đó nên Triều sẽ chia sẻ tập trung vào những gì mình nhận được từ Chúa và cách Triều đang làm ở hiện tại.</a:t>
            </a:r>
          </a:p>
          <a:p>
            <a:pPr marL="0" indent="0">
              <a:buFontTx/>
              <a:buNone/>
            </a:pPr>
            <a:endParaRPr lang="en-VN" dirty="0"/>
          </a:p>
        </p:txBody>
      </p:sp>
      <p:sp>
        <p:nvSpPr>
          <p:cNvPr id="4" name="Slide Number Placeholder 3"/>
          <p:cNvSpPr>
            <a:spLocks noGrp="1"/>
          </p:cNvSpPr>
          <p:nvPr>
            <p:ph type="sldNum" sz="quarter" idx="5"/>
          </p:nvPr>
        </p:nvSpPr>
        <p:spPr/>
        <p:txBody>
          <a:bodyPr/>
          <a:lstStyle/>
          <a:p>
            <a:fld id="{C4E7A067-A1AA-F040-9809-79E60F2BEC51}" type="slidenum">
              <a:rPr lang="en-VN" smtClean="0"/>
              <a:t>16</a:t>
            </a:fld>
            <a:endParaRPr lang="en-VN"/>
          </a:p>
        </p:txBody>
      </p:sp>
    </p:spTree>
    <p:extLst>
      <p:ext uri="{BB962C8B-B14F-4D97-AF65-F5344CB8AC3E}">
        <p14:creationId xmlns:p14="http://schemas.microsoft.com/office/powerpoint/2010/main" val="3754097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Hành động của Áp-ram sau khi nhận được sự chúc phước của Đức Chúa Trời qua Mên-chi-xê-đéc</a:t>
            </a:r>
          </a:p>
          <a:p>
            <a:r>
              <a:rPr lang="en-VN" dirty="0"/>
              <a:t>Tại sao vì ông lại làm như vậy?</a:t>
            </a:r>
          </a:p>
          <a:p>
            <a:pPr marL="171450" indent="-171450">
              <a:buFont typeface="Arial" panose="020B0604020202020204" pitchFamily="34" charset="0"/>
              <a:buChar char="•"/>
            </a:pPr>
            <a:r>
              <a:rPr lang="en-VN" dirty="0"/>
              <a:t>Chưa có luật hay yêu cầu nào về việc dâng phần 10</a:t>
            </a:r>
          </a:p>
          <a:p>
            <a:pPr marL="171450" indent="-171450">
              <a:buFont typeface="Arial" panose="020B0604020202020204" pitchFamily="34" charset="0"/>
              <a:buChar char="•"/>
            </a:pPr>
            <a:r>
              <a:rPr lang="en-VN" dirty="0"/>
              <a:t>Việc ông dâng phần mười là quyết định của chính ông</a:t>
            </a:r>
          </a:p>
          <a:p>
            <a:pPr marL="0" indent="0">
              <a:buFont typeface="Arial" panose="020B0604020202020204" pitchFamily="34" charset="0"/>
              <a:buNone/>
            </a:pPr>
            <a:endParaRPr lang="en-VN" dirty="0"/>
          </a:p>
          <a:p>
            <a:pPr marL="0" indent="0">
              <a:buFont typeface="Arial" panose="020B0604020202020204" pitchFamily="34" charset="0"/>
              <a:buNone/>
            </a:pPr>
            <a:r>
              <a:rPr lang="en-VN" dirty="0"/>
              <a:t>Đó là vì ông biết ơn Đức Chúa Trời! </a:t>
            </a:r>
            <a:r>
              <a:rPr lang="en-US" dirty="0"/>
              <a:t>N</a:t>
            </a:r>
            <a:r>
              <a:rPr lang="en-VN" dirty="0"/>
              <a:t>ên hành đồng đó như là hành động để bày tỏ lòng biết ơn với Đức Chúa Trời về phước hạnh mà Chúa ban cho chính ông qua sự chu cấp của Ngài</a:t>
            </a:r>
            <a:br>
              <a:rPr lang="en-VN" dirty="0"/>
            </a:br>
            <a:r>
              <a:rPr lang="en-VN" dirty="0"/>
              <a:t>Vì sao Anh biết điều đó?</a:t>
            </a:r>
          </a:p>
          <a:p>
            <a:pPr marL="0" indent="0">
              <a:buFont typeface="Arial" panose="020B0604020202020204" pitchFamily="34" charset="0"/>
              <a:buNone/>
            </a:pPr>
            <a:r>
              <a:rPr lang="en-VN" dirty="0"/>
              <a:t>Đơn giản là vì ngay khi Mên-chi-xê-đéc nói về những gì Đức Chúa Trời đã làm thì ông tiến hành dâng hiến.</a:t>
            </a:r>
          </a:p>
        </p:txBody>
      </p:sp>
      <p:sp>
        <p:nvSpPr>
          <p:cNvPr id="4" name="Slide Number Placeholder 3"/>
          <p:cNvSpPr>
            <a:spLocks noGrp="1"/>
          </p:cNvSpPr>
          <p:nvPr>
            <p:ph type="sldNum" sz="quarter" idx="5"/>
          </p:nvPr>
        </p:nvSpPr>
        <p:spPr/>
        <p:txBody>
          <a:bodyPr/>
          <a:lstStyle/>
          <a:p>
            <a:fld id="{C4E7A067-A1AA-F040-9809-79E60F2BEC51}" type="slidenum">
              <a:rPr lang="en-VN" smtClean="0"/>
              <a:t>18</a:t>
            </a:fld>
            <a:endParaRPr lang="en-VN"/>
          </a:p>
        </p:txBody>
      </p:sp>
    </p:spTree>
    <p:extLst>
      <p:ext uri="{BB962C8B-B14F-4D97-AF65-F5344CB8AC3E}">
        <p14:creationId xmlns:p14="http://schemas.microsoft.com/office/powerpoint/2010/main" val="965305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5C322-A529-14C5-0740-E4814EFBB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0D6564-4F54-D7D1-62E2-349A8E626B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617D7E-5627-B32C-7663-8F551133BE0F}"/>
              </a:ext>
            </a:extLst>
          </p:cNvPr>
          <p:cNvSpPr>
            <a:spLocks noGrp="1"/>
          </p:cNvSpPr>
          <p:nvPr>
            <p:ph type="body" idx="1"/>
          </p:nvPr>
        </p:nvSpPr>
        <p:spPr/>
        <p:txBody>
          <a:bodyPr/>
          <a:lstStyle/>
          <a:p>
            <a:r>
              <a:rPr lang="en-VN" dirty="0"/>
              <a:t>Đây là điều mà Triều nhận ra trong quá trình nhận được sự chu cấp của Ngài.</a:t>
            </a:r>
          </a:p>
          <a:p>
            <a:pPr marL="171450" indent="-171450">
              <a:buFont typeface="Arial" panose="020B0604020202020204" pitchFamily="34" charset="0"/>
              <a:buChar char="•"/>
            </a:pPr>
            <a:r>
              <a:rPr lang="en-VN" dirty="0"/>
              <a:t>Đức Chúa Trời bày tỏ tình yêu của Ngài dành cho chính trình qua sự chu cấp</a:t>
            </a:r>
          </a:p>
          <a:p>
            <a:pPr marL="171450" indent="-171450">
              <a:buFont typeface="Arial" panose="020B0604020202020204" pitchFamily="34" charset="0"/>
              <a:buChar char="•"/>
            </a:pPr>
            <a:r>
              <a:rPr lang="en-VN" dirty="0"/>
              <a:t>Tại sao? Vì một trong những lí do mà lúc trước Triều không dâng hiến là do sợ thiếu tiền ăn – vì tiền mình quá ít! </a:t>
            </a:r>
          </a:p>
          <a:p>
            <a:endParaRPr lang="en-VN" dirty="0"/>
          </a:p>
          <a:p>
            <a:r>
              <a:rPr lang="en-VN" dirty="0"/>
              <a:t>Việc lo sợ rằng Chúa chỉ cho chúng ta có chừng ấy tiền nên không đủ để ăn -&gt; làm sao dâng lên cho Ngài được.</a:t>
            </a:r>
          </a:p>
          <a:p>
            <a:r>
              <a:rPr lang="en-VN" dirty="0"/>
              <a:t>Điều này thể là sự vô tính của chúng ta với Đức Chúa Trời </a:t>
            </a:r>
          </a:p>
          <a:p>
            <a:r>
              <a:rPr lang="en-VN" dirty="0"/>
              <a:t>– vì chúng ta không tin Ngài là Chủ trên tài sản và Ngài có quyền chu cấp cho chúng ta cách dư dật </a:t>
            </a:r>
          </a:p>
          <a:p>
            <a:r>
              <a:rPr lang="en-VN" dirty="0"/>
              <a:t>– </a:t>
            </a:r>
            <a:r>
              <a:rPr lang="en-US" dirty="0"/>
              <a:t>v</a:t>
            </a:r>
            <a:r>
              <a:rPr lang="en-VN" dirty="0"/>
              <a:t>ì chúng ta không tin vào tình yêu của Ngài dành cho chúng ta</a:t>
            </a:r>
          </a:p>
          <a:p>
            <a:endParaRPr lang="en-VN" dirty="0"/>
          </a:p>
          <a:p>
            <a:r>
              <a:rPr lang="en-VN" dirty="0"/>
              <a:t>Cho nên sự chu cấp của Ngài như là sự khẳng định rằng:</a:t>
            </a:r>
          </a:p>
          <a:p>
            <a:pPr marL="171450" indent="-171450">
              <a:buFontTx/>
              <a:buChar char="-"/>
            </a:pPr>
            <a:r>
              <a:rPr lang="en-VN" dirty="0"/>
              <a:t>Ngài yêu chúng ta và Ngài quan tâm đến đời sống của chúng ta</a:t>
            </a:r>
          </a:p>
          <a:p>
            <a:pPr marL="0" indent="0">
              <a:buFontTx/>
              <a:buNone/>
            </a:pPr>
            <a:endParaRPr lang="en-VN" dirty="0"/>
          </a:p>
          <a:p>
            <a:pPr marL="0" indent="0">
              <a:buFontTx/>
              <a:buNone/>
            </a:pPr>
            <a:r>
              <a:rPr lang="en-VN" strike="sngStrike" dirty="0"/>
              <a:t>Mác 12:41-44: Người đàn bà quá nghèo dâng 2 đồng vàng cuối cùng -&gt; niềm tin vào sự chu cấp của Đức Chúa Trời</a:t>
            </a:r>
          </a:p>
          <a:p>
            <a:pPr marL="171450" indent="-171450">
              <a:buFontTx/>
              <a:buChar char="-"/>
            </a:pPr>
            <a:endParaRPr lang="en-VN" dirty="0"/>
          </a:p>
          <a:p>
            <a:pPr marL="0" indent="0">
              <a:buFontTx/>
              <a:buNone/>
            </a:pPr>
            <a:r>
              <a:rPr lang="en-VN" dirty="0"/>
              <a:t>Các bạn có biết làm thế nào để nhận biết được sự chu cấp là việc Đức Chúa Trời bày tỏ tình yêu và sự quan tâm của Ngài rõ nhất đâu?</a:t>
            </a:r>
          </a:p>
          <a:p>
            <a:pPr marL="0" indent="0">
              <a:buFontTx/>
              <a:buNone/>
            </a:pPr>
            <a:r>
              <a:rPr lang="en-VN" dirty="0"/>
              <a:t>Đó là Thập tự giá của Chúa Jesus: Đức Chúa Trời đã chu cấp Chúa Jesus là một giải pháp cho chính đời sống và sự bại hoại của con người chúng ta.</a:t>
            </a:r>
          </a:p>
          <a:p>
            <a:pPr marL="0" indent="0">
              <a:buFontTx/>
              <a:buNone/>
            </a:pPr>
            <a:endParaRPr lang="en-VN" dirty="0"/>
          </a:p>
          <a:p>
            <a:pPr marL="171450" indent="-171450">
              <a:buFont typeface="Arial" panose="020B0604020202020204" pitchFamily="34" charset="0"/>
              <a:buChar char="•"/>
            </a:pPr>
            <a:r>
              <a:rPr lang="en-US" dirty="0"/>
              <a:t>L</a:t>
            </a:r>
            <a:r>
              <a:rPr lang="en-VN" dirty="0"/>
              <a:t>à nơi tình yêu của Ngài được bày tỏ </a:t>
            </a:r>
          </a:p>
          <a:p>
            <a:pPr marL="171450" indent="-171450">
              <a:buFont typeface="Arial" panose="020B0604020202020204" pitchFamily="34" charset="0"/>
              <a:buChar char="•"/>
            </a:pPr>
            <a:endParaRPr lang="en-VN" dirty="0"/>
          </a:p>
        </p:txBody>
      </p:sp>
      <p:sp>
        <p:nvSpPr>
          <p:cNvPr id="4" name="Slide Number Placeholder 3">
            <a:extLst>
              <a:ext uri="{FF2B5EF4-FFF2-40B4-BE49-F238E27FC236}">
                <a16:creationId xmlns:a16="http://schemas.microsoft.com/office/drawing/2014/main" id="{55A8EF1B-F2AB-155C-9DEC-C8EDB2C1AA50}"/>
              </a:ext>
            </a:extLst>
          </p:cNvPr>
          <p:cNvSpPr>
            <a:spLocks noGrp="1"/>
          </p:cNvSpPr>
          <p:nvPr>
            <p:ph type="sldNum" sz="quarter" idx="5"/>
          </p:nvPr>
        </p:nvSpPr>
        <p:spPr/>
        <p:txBody>
          <a:bodyPr/>
          <a:lstStyle/>
          <a:p>
            <a:fld id="{C4E7A067-A1AA-F040-9809-79E60F2BEC51}" type="slidenum">
              <a:rPr lang="en-VN" smtClean="0"/>
              <a:t>19</a:t>
            </a:fld>
            <a:endParaRPr lang="en-VN"/>
          </a:p>
        </p:txBody>
      </p:sp>
    </p:spTree>
    <p:extLst>
      <p:ext uri="{BB962C8B-B14F-4D97-AF65-F5344CB8AC3E}">
        <p14:creationId xmlns:p14="http://schemas.microsoft.com/office/powerpoint/2010/main" val="2803493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6E207-D59B-2E69-0B81-3BC97495CC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53ED6-63DB-71E8-3C28-533D6B5AA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C9174-4963-9036-F540-04DF47D13368}"/>
              </a:ext>
            </a:extLst>
          </p:cNvPr>
          <p:cNvSpPr>
            <a:spLocks noGrp="1"/>
          </p:cNvSpPr>
          <p:nvPr>
            <p:ph type="body" idx="1"/>
          </p:nvPr>
        </p:nvSpPr>
        <p:spPr/>
        <p:txBody>
          <a:bodyPr/>
          <a:lstStyle/>
          <a:p>
            <a:r>
              <a:rPr lang="en-VN" dirty="0"/>
              <a:t>Đây là điều mà Triều nhận ra trong quá trình nhận được sự chu cấp của Ngài.</a:t>
            </a:r>
          </a:p>
          <a:p>
            <a:pPr marL="171450" indent="-171450">
              <a:buFont typeface="Arial" panose="020B0604020202020204" pitchFamily="34" charset="0"/>
              <a:buChar char="•"/>
            </a:pPr>
            <a:r>
              <a:rPr lang="en-VN" dirty="0"/>
              <a:t>Đức Chúa Trời bày tỏ tình yêu của Ngài dành cho chính trình qua sự chu cấp</a:t>
            </a:r>
          </a:p>
          <a:p>
            <a:pPr marL="171450" indent="-171450">
              <a:buFont typeface="Arial" panose="020B0604020202020204" pitchFamily="34" charset="0"/>
              <a:buChar char="•"/>
            </a:pPr>
            <a:r>
              <a:rPr lang="en-VN" dirty="0"/>
              <a:t>Tại sao? Vì một trong những lí do mà lúc trước Triều không dâng hiến là do sợ thiếu tiền ăn – vì tiền mình quá ít! </a:t>
            </a:r>
          </a:p>
          <a:p>
            <a:endParaRPr lang="en-VN" dirty="0"/>
          </a:p>
          <a:p>
            <a:r>
              <a:rPr lang="en-VN" dirty="0"/>
              <a:t>Việc lo sợ rằng Chúa chỉ cho chúng ta có chừng ấy tiền nên không đủ để ăn -&gt; làm sao dâng lên cho Ngài được.</a:t>
            </a:r>
          </a:p>
          <a:p>
            <a:r>
              <a:rPr lang="en-VN" dirty="0"/>
              <a:t>Điều này thể là sự vô tính của chúng ta với Đức Chúa Trời </a:t>
            </a:r>
          </a:p>
          <a:p>
            <a:r>
              <a:rPr lang="en-VN" dirty="0"/>
              <a:t>– vì chúng ta không tin Ngài là Chủ trên tài sản và Ngài có quyền chu cấp cho chúng ta cách dư dật </a:t>
            </a:r>
          </a:p>
          <a:p>
            <a:r>
              <a:rPr lang="en-VN" dirty="0"/>
              <a:t>– </a:t>
            </a:r>
            <a:r>
              <a:rPr lang="en-US" dirty="0"/>
              <a:t>v</a:t>
            </a:r>
            <a:r>
              <a:rPr lang="en-VN" dirty="0"/>
              <a:t>ì chúng ta không tin vào tình yêu của Ngài dành cho chúng ta</a:t>
            </a:r>
          </a:p>
          <a:p>
            <a:endParaRPr lang="en-VN" dirty="0"/>
          </a:p>
          <a:p>
            <a:r>
              <a:rPr lang="en-VN" dirty="0"/>
              <a:t>Cho nên sự chu cấp của Ngài như là sự khẳng định rằng:</a:t>
            </a:r>
          </a:p>
          <a:p>
            <a:pPr marL="171450" indent="-171450">
              <a:buFontTx/>
              <a:buChar char="-"/>
            </a:pPr>
            <a:r>
              <a:rPr lang="en-VN" dirty="0"/>
              <a:t>Ngài yêu chúng ta và Ngài quan tâm đến đời sống của chúng ta</a:t>
            </a:r>
          </a:p>
          <a:p>
            <a:pPr marL="171450" indent="-171450">
              <a:buFontTx/>
              <a:buChar char="-"/>
            </a:pPr>
            <a:endParaRPr lang="en-VN" dirty="0"/>
          </a:p>
          <a:p>
            <a:pPr marL="0" indent="0">
              <a:buFontTx/>
              <a:buNone/>
            </a:pPr>
            <a:r>
              <a:rPr lang="en-VN" dirty="0"/>
              <a:t>Các bạn có biết làm thế nào để nhận biết được sự chu cấp là việc Đức Chúa Trời bày tỏ tình yêu và sự quan tâm của Ngài rõ nhất đâu?</a:t>
            </a:r>
          </a:p>
          <a:p>
            <a:pPr marL="0" indent="0">
              <a:buFontTx/>
              <a:buNone/>
            </a:pPr>
            <a:r>
              <a:rPr lang="en-VN" dirty="0"/>
              <a:t>Đó là Thập tự giá của Chúa Jesus: Đức Chúa Trời đã chu cấp Chúa Jesus là một giải pháp cho chính đời sống và sự bại hoại của con người chúng ta.</a:t>
            </a:r>
          </a:p>
          <a:p>
            <a:pPr marL="0" indent="0">
              <a:buFontTx/>
              <a:buNone/>
            </a:pPr>
            <a:endParaRPr lang="en-VN" dirty="0"/>
          </a:p>
          <a:p>
            <a:pPr marL="171450" indent="-171450">
              <a:buFont typeface="Arial" panose="020B0604020202020204" pitchFamily="34" charset="0"/>
              <a:buChar char="•"/>
            </a:pPr>
            <a:r>
              <a:rPr lang="en-US" dirty="0"/>
              <a:t>L</a:t>
            </a:r>
            <a:r>
              <a:rPr lang="en-VN" dirty="0"/>
              <a:t>à nơi tình yêu của Ngài được bày tỏ </a:t>
            </a:r>
          </a:p>
          <a:p>
            <a:pPr marL="171450" indent="-171450">
              <a:buFont typeface="Arial" panose="020B0604020202020204" pitchFamily="34" charset="0"/>
              <a:buChar char="•"/>
            </a:pPr>
            <a:endParaRPr lang="en-VN" dirty="0"/>
          </a:p>
        </p:txBody>
      </p:sp>
      <p:sp>
        <p:nvSpPr>
          <p:cNvPr id="4" name="Slide Number Placeholder 3">
            <a:extLst>
              <a:ext uri="{FF2B5EF4-FFF2-40B4-BE49-F238E27FC236}">
                <a16:creationId xmlns:a16="http://schemas.microsoft.com/office/drawing/2014/main" id="{A5F60FCB-A6F4-05C3-1F65-3A62E1DC3E71}"/>
              </a:ext>
            </a:extLst>
          </p:cNvPr>
          <p:cNvSpPr>
            <a:spLocks noGrp="1"/>
          </p:cNvSpPr>
          <p:nvPr>
            <p:ph type="sldNum" sz="quarter" idx="5"/>
          </p:nvPr>
        </p:nvSpPr>
        <p:spPr/>
        <p:txBody>
          <a:bodyPr/>
          <a:lstStyle/>
          <a:p>
            <a:fld id="{C4E7A067-A1AA-F040-9809-79E60F2BEC51}" type="slidenum">
              <a:rPr lang="en-VN" smtClean="0"/>
              <a:t>20</a:t>
            </a:fld>
            <a:endParaRPr lang="en-VN"/>
          </a:p>
        </p:txBody>
      </p:sp>
    </p:spTree>
    <p:extLst>
      <p:ext uri="{BB962C8B-B14F-4D97-AF65-F5344CB8AC3E}">
        <p14:creationId xmlns:p14="http://schemas.microsoft.com/office/powerpoint/2010/main" val="20974217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FBE4B-751C-602D-4625-5632A640CF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22BC52-2D31-8922-7A8E-6AB5802E7A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0EF9C8-9769-FF82-BB4E-736648F2973B}"/>
              </a:ext>
            </a:extLst>
          </p:cNvPr>
          <p:cNvSpPr>
            <a:spLocks noGrp="1"/>
          </p:cNvSpPr>
          <p:nvPr>
            <p:ph type="body" idx="1"/>
          </p:nvPr>
        </p:nvSpPr>
        <p:spPr/>
        <p:txBody>
          <a:bodyPr/>
          <a:lstStyle/>
          <a:p>
            <a:r>
              <a:rPr lang="en-VN" dirty="0"/>
              <a:t>Đức Chúa Trời tể trị và có quyền trên mọi sự:</a:t>
            </a:r>
          </a:p>
          <a:p>
            <a:pPr marL="171450" indent="-171450">
              <a:buFont typeface="Arial" panose="020B0604020202020204" pitchFamily="34" charset="0"/>
              <a:buChar char="•"/>
            </a:pPr>
            <a:r>
              <a:rPr lang="en-VN" dirty="0"/>
              <a:t>Sự thành công hay thất bại trong trận chiến</a:t>
            </a:r>
          </a:p>
          <a:p>
            <a:pPr marL="171450" indent="-171450">
              <a:buFont typeface="Arial" panose="020B0604020202020204" pitchFamily="34" charset="0"/>
              <a:buChar char="•"/>
            </a:pPr>
            <a:r>
              <a:rPr lang="en-VN" dirty="0"/>
              <a:t>Lượng của cải chúng ta có</a:t>
            </a:r>
          </a:p>
          <a:p>
            <a:pPr marL="171450" indent="-171450">
              <a:buFont typeface="Arial" panose="020B0604020202020204" pitchFamily="34" charset="0"/>
              <a:buChar char="•"/>
            </a:pPr>
            <a:endParaRPr lang="en-VN" dirty="0"/>
          </a:p>
          <a:p>
            <a:pPr marL="0" indent="0">
              <a:buFont typeface="Arial" panose="020B0604020202020204" pitchFamily="34" charset="0"/>
              <a:buNone/>
            </a:pPr>
            <a:r>
              <a:rPr lang="en-VN" dirty="0"/>
              <a:t>Đức Chúa Trời có quyền sử dụng mọi thứ theo ý muốn của Ngài – cụ thể Ngài có quyền sử dụng những gì thuộc về Ngài cho bất kì mục đích nào đó Ngài muốn</a:t>
            </a:r>
          </a:p>
          <a:p>
            <a:pPr marL="171450" indent="-171450">
              <a:buFont typeface="Arial" panose="020B0604020202020204" pitchFamily="34" charset="0"/>
              <a:buChar char="•"/>
            </a:pPr>
            <a:r>
              <a:rPr lang="en-VN" dirty="0"/>
              <a:t>Ngài muốn cho chúng ta thắng trận – như Áp-ram cũng là sự ban cho của Ngài</a:t>
            </a:r>
          </a:p>
          <a:p>
            <a:pPr marL="171450" indent="-171450">
              <a:buFont typeface="Arial" panose="020B0604020202020204" pitchFamily="34" charset="0"/>
              <a:buChar char="•"/>
            </a:pPr>
            <a:r>
              <a:rPr lang="en-VN" dirty="0"/>
              <a:t>Chúng ta có nhiều tiên -&gt; đó là sự ban cho của Ngài, chúng ta có ít tiền cũng là sự ban cho của Ngài.</a:t>
            </a:r>
          </a:p>
        </p:txBody>
      </p:sp>
      <p:sp>
        <p:nvSpPr>
          <p:cNvPr id="4" name="Slide Number Placeholder 3">
            <a:extLst>
              <a:ext uri="{FF2B5EF4-FFF2-40B4-BE49-F238E27FC236}">
                <a16:creationId xmlns:a16="http://schemas.microsoft.com/office/drawing/2014/main" id="{6E463B26-850B-1DDA-2344-1562B871E7D6}"/>
              </a:ext>
            </a:extLst>
          </p:cNvPr>
          <p:cNvSpPr>
            <a:spLocks noGrp="1"/>
          </p:cNvSpPr>
          <p:nvPr>
            <p:ph type="sldNum" sz="quarter" idx="5"/>
          </p:nvPr>
        </p:nvSpPr>
        <p:spPr/>
        <p:txBody>
          <a:bodyPr/>
          <a:lstStyle/>
          <a:p>
            <a:fld id="{C4E7A067-A1AA-F040-9809-79E60F2BEC51}" type="slidenum">
              <a:rPr lang="en-VN" smtClean="0"/>
              <a:t>21</a:t>
            </a:fld>
            <a:endParaRPr lang="en-VN"/>
          </a:p>
        </p:txBody>
      </p:sp>
    </p:spTree>
    <p:extLst>
      <p:ext uri="{BB962C8B-B14F-4D97-AF65-F5344CB8AC3E}">
        <p14:creationId xmlns:p14="http://schemas.microsoft.com/office/powerpoint/2010/main" val="2030112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25711-1997-5416-58B9-F4D6B5465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0ABA7F-558F-BD17-93AD-DD419414FC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088619-8339-FCE6-F076-83E74711CDAB}"/>
              </a:ext>
            </a:extLst>
          </p:cNvPr>
          <p:cNvSpPr>
            <a:spLocks noGrp="1"/>
          </p:cNvSpPr>
          <p:nvPr>
            <p:ph type="body" idx="1"/>
          </p:nvPr>
        </p:nvSpPr>
        <p:spPr/>
        <p:txBody>
          <a:bodyPr/>
          <a:lstStyle/>
          <a:p>
            <a:r>
              <a:rPr lang="en-VN" dirty="0"/>
              <a:t>Quản lí tài chính như định nghĩa ở trên:</a:t>
            </a:r>
          </a:p>
          <a:p>
            <a:pPr marL="171450" indent="-171450">
              <a:buFontTx/>
              <a:buChar char="-"/>
            </a:pPr>
            <a:r>
              <a:rPr lang="en-VN" dirty="0"/>
              <a:t>Lên kế hoạch và cân đối tượng tiền chúng ta sẽ sử dụng</a:t>
            </a:r>
          </a:p>
          <a:p>
            <a:pPr marL="0" indent="0">
              <a:buFontTx/>
              <a:buNone/>
            </a:pPr>
            <a:endParaRPr lang="en-VN" dirty="0"/>
          </a:p>
          <a:p>
            <a:pPr marL="0" indent="0">
              <a:buFontTx/>
              <a:buNone/>
            </a:pPr>
            <a:r>
              <a:rPr lang="en-VN" dirty="0"/>
              <a:t>Để chúng ta có thể có thời gian nhìn xem thử nó có phù hợp mới ý muốn của chủ mình hay chưa</a:t>
            </a:r>
          </a:p>
          <a:p>
            <a:pPr marL="0" indent="0">
              <a:buFontTx/>
              <a:buNone/>
            </a:pPr>
            <a:r>
              <a:rPr lang="en-VN" dirty="0"/>
              <a:t>Và nó có thật sự đang phí phạm hay không?</a:t>
            </a:r>
          </a:p>
          <a:p>
            <a:pPr marL="0" indent="0">
              <a:buFontTx/>
              <a:buNone/>
            </a:pPr>
            <a:endParaRPr lang="en-VN" dirty="0"/>
          </a:p>
          <a:p>
            <a:pPr marL="0" indent="0">
              <a:buFontTx/>
              <a:buNone/>
            </a:pPr>
            <a:r>
              <a:rPr lang="en-VN" dirty="0"/>
              <a:t>Thật ra còn nhiều lí do khác như là tác hại của việc không quản lí tài chính – nghĩa là tiêu sai phung phí,…</a:t>
            </a:r>
          </a:p>
          <a:p>
            <a:pPr marL="0" indent="0">
              <a:buFontTx/>
              <a:buNone/>
            </a:pPr>
            <a:endParaRPr lang="en-VN" dirty="0"/>
          </a:p>
          <a:p>
            <a:pPr marL="0" indent="0">
              <a:buFontTx/>
              <a:buNone/>
            </a:pPr>
            <a:r>
              <a:rPr lang="en-VN" dirty="0"/>
              <a:t>Nhưng mà Triều không muốn nói về điều đó ngày hôm nay! Triều nghĩ mình không đủ thời gian cho chuyện đó nên Triều sẽ chia sẻ tập trung vào những gì mình nhận được từ Chúa và cách Triều đang làm ở hiện tại.</a:t>
            </a:r>
          </a:p>
          <a:p>
            <a:pPr marL="0" indent="0">
              <a:buFontTx/>
              <a:buNone/>
            </a:pPr>
            <a:endParaRPr lang="en-VN" dirty="0"/>
          </a:p>
        </p:txBody>
      </p:sp>
      <p:sp>
        <p:nvSpPr>
          <p:cNvPr id="4" name="Slide Number Placeholder 3">
            <a:extLst>
              <a:ext uri="{FF2B5EF4-FFF2-40B4-BE49-F238E27FC236}">
                <a16:creationId xmlns:a16="http://schemas.microsoft.com/office/drawing/2014/main" id="{7B27C849-86A4-14F1-102E-F349B92E7240}"/>
              </a:ext>
            </a:extLst>
          </p:cNvPr>
          <p:cNvSpPr>
            <a:spLocks noGrp="1"/>
          </p:cNvSpPr>
          <p:nvPr>
            <p:ph type="sldNum" sz="quarter" idx="5"/>
          </p:nvPr>
        </p:nvSpPr>
        <p:spPr/>
        <p:txBody>
          <a:bodyPr/>
          <a:lstStyle/>
          <a:p>
            <a:fld id="{C4E7A067-A1AA-F040-9809-79E60F2BEC51}" type="slidenum">
              <a:rPr lang="en-VN" smtClean="0"/>
              <a:t>22</a:t>
            </a:fld>
            <a:endParaRPr lang="en-VN"/>
          </a:p>
        </p:txBody>
      </p:sp>
    </p:spTree>
    <p:extLst>
      <p:ext uri="{BB962C8B-B14F-4D97-AF65-F5344CB8AC3E}">
        <p14:creationId xmlns:p14="http://schemas.microsoft.com/office/powerpoint/2010/main" val="37504952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95DF7-3CB5-4651-2650-EC5F847245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63DC9E-0E59-C41D-8AB6-6A04C4B814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03C41-6B39-2BB3-2380-7C48F24220C4}"/>
              </a:ext>
            </a:extLst>
          </p:cNvPr>
          <p:cNvSpPr>
            <a:spLocks noGrp="1"/>
          </p:cNvSpPr>
          <p:nvPr>
            <p:ph type="body" idx="1"/>
          </p:nvPr>
        </p:nvSpPr>
        <p:spPr/>
        <p:txBody>
          <a:bodyPr/>
          <a:lstStyle/>
          <a:p>
            <a:pPr marL="0" indent="0">
              <a:buFont typeface="Arial" panose="020B0604020202020204" pitchFamily="34" charset="0"/>
              <a:buNone/>
            </a:pPr>
            <a:r>
              <a:rPr lang="en-VN" dirty="0"/>
              <a:t>Tại sao lại là Mên-chi-xê-đéc?</a:t>
            </a:r>
          </a:p>
          <a:p>
            <a:pPr marL="0" indent="0">
              <a:buFont typeface="Arial" panose="020B0604020202020204" pitchFamily="34" charset="0"/>
              <a:buNone/>
            </a:pPr>
            <a:endParaRPr lang="en-VN" dirty="0"/>
          </a:p>
          <a:p>
            <a:pPr marL="0" indent="0">
              <a:buFont typeface="Arial" panose="020B0604020202020204" pitchFamily="34" charset="0"/>
              <a:buNone/>
            </a:pPr>
            <a:r>
              <a:rPr lang="en-VN" dirty="0"/>
              <a:t>Thành thật mà nói thì – không biết!</a:t>
            </a:r>
          </a:p>
          <a:p>
            <a:pPr marL="0" indent="0">
              <a:buFont typeface="Arial" panose="020B0604020202020204" pitchFamily="34" charset="0"/>
              <a:buNone/>
            </a:pPr>
            <a:r>
              <a:rPr lang="en-VN" dirty="0"/>
              <a:t>Không biết vì sao lại dâng cho Mên-chi-xê-đéc! Triều chưa đào sâu được đến mức đó.</a:t>
            </a:r>
          </a:p>
          <a:p>
            <a:pPr marL="0" indent="0">
              <a:buFont typeface="Arial" panose="020B0604020202020204" pitchFamily="34" charset="0"/>
              <a:buNone/>
            </a:pPr>
            <a:endParaRPr lang="en-VN" dirty="0"/>
          </a:p>
          <a:p>
            <a:pPr marL="171450" indent="-171450">
              <a:buFont typeface="Symbol" pitchFamily="2" charset="2"/>
              <a:buChar char="Þ"/>
            </a:pPr>
            <a:r>
              <a:rPr lang="en-VN" dirty="0"/>
              <a:t>Câu trả lời duy nhất mà Triều tìm thấy trong đoạn này đó là: …Thầy Tế Lễ của Đức Chúa Trời chí cao!</a:t>
            </a:r>
          </a:p>
          <a:p>
            <a:pPr marL="0" indent="0">
              <a:buFont typeface="Symbol" pitchFamily="2" charset="2"/>
              <a:buNone/>
            </a:pPr>
            <a:endParaRPr lang="en-VN" dirty="0"/>
          </a:p>
          <a:p>
            <a:pPr marL="0" indent="0">
              <a:buFont typeface="Symbol" pitchFamily="2" charset="2"/>
              <a:buNone/>
            </a:pPr>
            <a:r>
              <a:rPr lang="en-VN" dirty="0"/>
              <a:t>Triều cũng không biết vì sao Thầy Tế Lễ sẽ nhận được phần dâng hiến đó – Triều chưa suy tư đến mức nhìn vào điều đó được! </a:t>
            </a:r>
          </a:p>
          <a:p>
            <a:pPr marL="0" indent="0">
              <a:buFont typeface="Symbol" pitchFamily="2" charset="2"/>
              <a:buNone/>
            </a:pPr>
            <a:r>
              <a:rPr lang="en-VN" dirty="0"/>
              <a:t>Có một vài tài liệu cũng như là sách Hê-bơ-rơ 7 nói về việc Mên-chi-xê-đéc vừa là vua – vừa là thầy tế lễ =&gt; đó là hình ảnh của Chúa Jesus sau này!</a:t>
            </a:r>
          </a:p>
          <a:p>
            <a:pPr marL="0" indent="0">
              <a:buFont typeface="Symbol" pitchFamily="2" charset="2"/>
              <a:buNone/>
            </a:pPr>
            <a:r>
              <a:rPr lang="en-VN" dirty="0"/>
              <a:t>Nhưng Triều vẫn không giải thích được sự liên kết ở đó!</a:t>
            </a:r>
            <a:br>
              <a:rPr lang="en-VN" dirty="0"/>
            </a:br>
            <a:r>
              <a:rPr lang="en-VN" dirty="0"/>
              <a:t>Cho nên, Triều không biết cái đó – Triều sẽ không bàn đến chuyện đó!</a:t>
            </a:r>
          </a:p>
          <a:p>
            <a:pPr marL="0" indent="0">
              <a:buFont typeface="Symbol" pitchFamily="2" charset="2"/>
              <a:buNone/>
            </a:pPr>
            <a:endParaRPr lang="en-VN" dirty="0"/>
          </a:p>
          <a:p>
            <a:pPr marL="0" indent="0">
              <a:buFont typeface="Symbol" pitchFamily="2" charset="2"/>
              <a:buNone/>
            </a:pPr>
            <a:r>
              <a:rPr lang="en-VN" dirty="0"/>
              <a:t>Tuy nhiên, có điều thú vị là sau này có một luật lệ dành cho dân Y-sơ-ra-ên khi ra khỏi xứ Ai-cập</a:t>
            </a:r>
          </a:p>
          <a:p>
            <a:pPr marL="0" indent="0">
              <a:buFont typeface="Symbol" pitchFamily="2" charset="2"/>
              <a:buNone/>
            </a:pPr>
            <a:r>
              <a:rPr lang="en-VN" dirty="0"/>
              <a:t>Đó là gì mọi người biết không?</a:t>
            </a:r>
          </a:p>
          <a:p>
            <a:pPr marL="0" indent="0">
              <a:buFont typeface="Symbol" pitchFamily="2" charset="2"/>
              <a:buNone/>
            </a:pPr>
            <a:endParaRPr lang="en-VN" dirty="0"/>
          </a:p>
        </p:txBody>
      </p:sp>
      <p:sp>
        <p:nvSpPr>
          <p:cNvPr id="4" name="Slide Number Placeholder 3">
            <a:extLst>
              <a:ext uri="{FF2B5EF4-FFF2-40B4-BE49-F238E27FC236}">
                <a16:creationId xmlns:a16="http://schemas.microsoft.com/office/drawing/2014/main" id="{318281E0-8207-73E2-0FDC-800F07D0837C}"/>
              </a:ext>
            </a:extLst>
          </p:cNvPr>
          <p:cNvSpPr>
            <a:spLocks noGrp="1"/>
          </p:cNvSpPr>
          <p:nvPr>
            <p:ph type="sldNum" sz="quarter" idx="5"/>
          </p:nvPr>
        </p:nvSpPr>
        <p:spPr/>
        <p:txBody>
          <a:bodyPr/>
          <a:lstStyle/>
          <a:p>
            <a:fld id="{C4E7A067-A1AA-F040-9809-79E60F2BEC51}" type="slidenum">
              <a:rPr lang="en-VN" smtClean="0"/>
              <a:t>23</a:t>
            </a:fld>
            <a:endParaRPr lang="en-VN"/>
          </a:p>
        </p:txBody>
      </p:sp>
    </p:spTree>
    <p:extLst>
      <p:ext uri="{BB962C8B-B14F-4D97-AF65-F5344CB8AC3E}">
        <p14:creationId xmlns:p14="http://schemas.microsoft.com/office/powerpoint/2010/main" val="12477681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DE2F3-526E-51C1-69F5-CF2D8423F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265BE-FA59-64B0-7DA1-5DA0D270E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33185F-1BD8-C70A-E644-CF9AB8678138}"/>
              </a:ext>
            </a:extLst>
          </p:cNvPr>
          <p:cNvSpPr>
            <a:spLocks noGrp="1"/>
          </p:cNvSpPr>
          <p:nvPr>
            <p:ph type="body" idx="1"/>
          </p:nvPr>
        </p:nvSpPr>
        <p:spPr/>
        <p:txBody>
          <a:bodyPr/>
          <a:lstStyle/>
          <a:p>
            <a:pPr marL="0" indent="0">
              <a:buFont typeface="Arial" panose="020B0604020202020204" pitchFamily="34" charset="0"/>
              <a:buNone/>
            </a:pPr>
            <a:r>
              <a:rPr lang="en-VN" dirty="0"/>
              <a:t>Sau khi ra khỏi sứ Ai-cập, Đức Chúa Trời đã lập lên những người Lê-vi và chức tế lễ dòng dõi A-rôn.</a:t>
            </a:r>
          </a:p>
          <a:p>
            <a:pPr marL="0" indent="0">
              <a:buFont typeface="Arial" panose="020B0604020202020204" pitchFamily="34" charset="0"/>
              <a:buNone/>
            </a:pPr>
            <a:r>
              <a:rPr lang="en-VN" dirty="0"/>
              <a:t>Qua phân đoạn này chúng ta thấy được rằng, việc dâng hiến phần 10 chính là sản nghiệp cho những người Lê-vi vì họ phải phục vụ Chúa trong đền thờ trọn thời gian không đi ra ngoài kiếm việc làm để có tiền.</a:t>
            </a:r>
          </a:p>
          <a:p>
            <a:pPr marL="0" indent="0">
              <a:buFont typeface="Arial" panose="020B0604020202020204" pitchFamily="34" charset="0"/>
              <a:buNone/>
            </a:pPr>
            <a:endParaRPr lang="en-VN" dirty="0"/>
          </a:p>
        </p:txBody>
      </p:sp>
      <p:sp>
        <p:nvSpPr>
          <p:cNvPr id="4" name="Slide Number Placeholder 3">
            <a:extLst>
              <a:ext uri="{FF2B5EF4-FFF2-40B4-BE49-F238E27FC236}">
                <a16:creationId xmlns:a16="http://schemas.microsoft.com/office/drawing/2014/main" id="{DC101762-ABCC-EDBD-7F5E-3A3F07E71F19}"/>
              </a:ext>
            </a:extLst>
          </p:cNvPr>
          <p:cNvSpPr>
            <a:spLocks noGrp="1"/>
          </p:cNvSpPr>
          <p:nvPr>
            <p:ph type="sldNum" sz="quarter" idx="5"/>
          </p:nvPr>
        </p:nvSpPr>
        <p:spPr/>
        <p:txBody>
          <a:bodyPr/>
          <a:lstStyle/>
          <a:p>
            <a:fld id="{C4E7A067-A1AA-F040-9809-79E60F2BEC51}" type="slidenum">
              <a:rPr lang="en-VN" smtClean="0"/>
              <a:t>24</a:t>
            </a:fld>
            <a:endParaRPr lang="en-VN"/>
          </a:p>
        </p:txBody>
      </p:sp>
    </p:spTree>
    <p:extLst>
      <p:ext uri="{BB962C8B-B14F-4D97-AF65-F5344CB8AC3E}">
        <p14:creationId xmlns:p14="http://schemas.microsoft.com/office/powerpoint/2010/main" val="2653386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FD8E0-CEFC-63DF-59B6-15921D32AB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6E040F-FFA8-89CF-331F-0CB31B746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DD41E4-4621-69B3-5314-8F62DF5B0056}"/>
              </a:ext>
            </a:extLst>
          </p:cNvPr>
          <p:cNvSpPr>
            <a:spLocks noGrp="1"/>
          </p:cNvSpPr>
          <p:nvPr>
            <p:ph type="body" idx="1"/>
          </p:nvPr>
        </p:nvSpPr>
        <p:spPr/>
        <p:txBody>
          <a:bodyPr/>
          <a:lstStyle/>
          <a:p>
            <a:pPr marL="0" indent="0">
              <a:buFont typeface="Arial" panose="020B0604020202020204" pitchFamily="34" charset="0"/>
              <a:buNone/>
            </a:pPr>
            <a:r>
              <a:rPr lang="en-VN" dirty="0"/>
              <a:t>Sau khi ra khỏi sứ Ai-cập, Đức Chúa Trời đã lập lên những người Lê-vi và chức tế lễ dòng dõi A-rôn.</a:t>
            </a:r>
          </a:p>
          <a:p>
            <a:pPr marL="0" indent="0">
              <a:buFont typeface="Arial" panose="020B0604020202020204" pitchFamily="34" charset="0"/>
              <a:buNone/>
            </a:pPr>
            <a:r>
              <a:rPr lang="en-VN" dirty="0"/>
              <a:t>Qua phân đoạn này chúng ta thấy được rằng, việc dâng hiến phần 10 chính là sản nghiệp cho những người Lê-vi vì họ phải phục vụ Chúa trong đền thờ trọn thời gian không đi ra ngoài kiếm việc làm để có tiền.</a:t>
            </a:r>
          </a:p>
          <a:p>
            <a:pPr marL="0" indent="0">
              <a:buFont typeface="Arial" panose="020B0604020202020204" pitchFamily="34" charset="0"/>
              <a:buNone/>
            </a:pPr>
            <a:endParaRPr lang="en-VN" dirty="0"/>
          </a:p>
        </p:txBody>
      </p:sp>
      <p:sp>
        <p:nvSpPr>
          <p:cNvPr id="4" name="Slide Number Placeholder 3">
            <a:extLst>
              <a:ext uri="{FF2B5EF4-FFF2-40B4-BE49-F238E27FC236}">
                <a16:creationId xmlns:a16="http://schemas.microsoft.com/office/drawing/2014/main" id="{73F5CEE2-CB86-CF17-0283-4ACB3FAA4AD8}"/>
              </a:ext>
            </a:extLst>
          </p:cNvPr>
          <p:cNvSpPr>
            <a:spLocks noGrp="1"/>
          </p:cNvSpPr>
          <p:nvPr>
            <p:ph type="sldNum" sz="quarter" idx="5"/>
          </p:nvPr>
        </p:nvSpPr>
        <p:spPr/>
        <p:txBody>
          <a:bodyPr/>
          <a:lstStyle/>
          <a:p>
            <a:fld id="{C4E7A067-A1AA-F040-9809-79E60F2BEC51}" type="slidenum">
              <a:rPr lang="en-VN" smtClean="0"/>
              <a:t>25</a:t>
            </a:fld>
            <a:endParaRPr lang="en-VN"/>
          </a:p>
        </p:txBody>
      </p:sp>
    </p:spTree>
    <p:extLst>
      <p:ext uri="{BB962C8B-B14F-4D97-AF65-F5344CB8AC3E}">
        <p14:creationId xmlns:p14="http://schemas.microsoft.com/office/powerpoint/2010/main" val="456723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7880B-FAED-9AB3-2147-3CC669BBE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43F475-37B5-D925-E299-43AB5A3B2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C138A0-DF15-8B41-46D8-132F779FEFAC}"/>
              </a:ext>
            </a:extLst>
          </p:cNvPr>
          <p:cNvSpPr>
            <a:spLocks noGrp="1"/>
          </p:cNvSpPr>
          <p:nvPr>
            <p:ph type="body" idx="1"/>
          </p:nvPr>
        </p:nvSpPr>
        <p:spPr/>
        <p:txBody>
          <a:bodyPr/>
          <a:lstStyle/>
          <a:p>
            <a:pPr marL="0" indent="0">
              <a:buFontTx/>
              <a:buNone/>
            </a:pPr>
            <a:endParaRPr lang="en-VN" dirty="0"/>
          </a:p>
        </p:txBody>
      </p:sp>
      <p:sp>
        <p:nvSpPr>
          <p:cNvPr id="4" name="Slide Number Placeholder 3">
            <a:extLst>
              <a:ext uri="{FF2B5EF4-FFF2-40B4-BE49-F238E27FC236}">
                <a16:creationId xmlns:a16="http://schemas.microsoft.com/office/drawing/2014/main" id="{24E29AC9-F717-3194-0144-02F0382F0F56}"/>
              </a:ext>
            </a:extLst>
          </p:cNvPr>
          <p:cNvSpPr>
            <a:spLocks noGrp="1"/>
          </p:cNvSpPr>
          <p:nvPr>
            <p:ph type="sldNum" sz="quarter" idx="5"/>
          </p:nvPr>
        </p:nvSpPr>
        <p:spPr/>
        <p:txBody>
          <a:bodyPr/>
          <a:lstStyle/>
          <a:p>
            <a:fld id="{C4E7A067-A1AA-F040-9809-79E60F2BEC51}" type="slidenum">
              <a:rPr lang="en-VN" smtClean="0"/>
              <a:t>26</a:t>
            </a:fld>
            <a:endParaRPr lang="en-VN"/>
          </a:p>
        </p:txBody>
      </p:sp>
    </p:spTree>
    <p:extLst>
      <p:ext uri="{BB962C8B-B14F-4D97-AF65-F5344CB8AC3E}">
        <p14:creationId xmlns:p14="http://schemas.microsoft.com/office/powerpoint/2010/main" val="12154455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EA658-3C5F-0FA0-907D-1215B32FC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7D5A74-5599-BA29-F0B5-C4CC8B7D0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CAAAD2-E1F5-8AEA-5DAD-B659CAF56A6E}"/>
              </a:ext>
            </a:extLst>
          </p:cNvPr>
          <p:cNvSpPr>
            <a:spLocks noGrp="1"/>
          </p:cNvSpPr>
          <p:nvPr>
            <p:ph type="body" idx="1"/>
          </p:nvPr>
        </p:nvSpPr>
        <p:spPr/>
        <p:txBody>
          <a:bodyPr/>
          <a:lstStyle/>
          <a:p>
            <a:pPr marL="0" indent="0">
              <a:buFont typeface="Arial" panose="020B0604020202020204" pitchFamily="34" charset="0"/>
              <a:buNone/>
            </a:pPr>
            <a:r>
              <a:rPr lang="en-VN" dirty="0"/>
              <a:t>Sau khi ra khỏi sứ Ai-cập, Đức Chúa Trời đã lập lên những người Lê-vi và chức tế lễ dòng dõi A-rôn.</a:t>
            </a:r>
          </a:p>
          <a:p>
            <a:pPr marL="0" indent="0">
              <a:buFont typeface="Arial" panose="020B0604020202020204" pitchFamily="34" charset="0"/>
              <a:buNone/>
            </a:pPr>
            <a:r>
              <a:rPr lang="en-VN" dirty="0"/>
              <a:t>Qua phân đoạn này chúng ta thấy được rằng, việc dâng hiến phần 10 chính là sản nghiệp cho những người Lê-vi vì họ phải phục vụ Chúa trong đền thờ trọn thời gian không đi ra ngoài kiếm việc làm để có tiền.</a:t>
            </a:r>
          </a:p>
          <a:p>
            <a:pPr marL="0" indent="0">
              <a:buFont typeface="Arial" panose="020B0604020202020204" pitchFamily="34" charset="0"/>
              <a:buNone/>
            </a:pPr>
            <a:endParaRPr lang="en-VN" dirty="0"/>
          </a:p>
        </p:txBody>
      </p:sp>
      <p:sp>
        <p:nvSpPr>
          <p:cNvPr id="4" name="Slide Number Placeholder 3">
            <a:extLst>
              <a:ext uri="{FF2B5EF4-FFF2-40B4-BE49-F238E27FC236}">
                <a16:creationId xmlns:a16="http://schemas.microsoft.com/office/drawing/2014/main" id="{7A970EBD-4C85-814C-6DD1-DA3625BC37AC}"/>
              </a:ext>
            </a:extLst>
          </p:cNvPr>
          <p:cNvSpPr>
            <a:spLocks noGrp="1"/>
          </p:cNvSpPr>
          <p:nvPr>
            <p:ph type="sldNum" sz="quarter" idx="5"/>
          </p:nvPr>
        </p:nvSpPr>
        <p:spPr/>
        <p:txBody>
          <a:bodyPr/>
          <a:lstStyle/>
          <a:p>
            <a:fld id="{C4E7A067-A1AA-F040-9809-79E60F2BEC51}" type="slidenum">
              <a:rPr lang="en-VN" smtClean="0"/>
              <a:t>27</a:t>
            </a:fld>
            <a:endParaRPr lang="en-VN"/>
          </a:p>
        </p:txBody>
      </p:sp>
    </p:spTree>
    <p:extLst>
      <p:ext uri="{BB962C8B-B14F-4D97-AF65-F5344CB8AC3E}">
        <p14:creationId xmlns:p14="http://schemas.microsoft.com/office/powerpoint/2010/main" val="27930720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Việc dâng hiến phần mười này rất quan trọng! Điều này thấy rõ hơn nữa khi chúng ta nhìn vào sách Nê-hê-mi,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sau khi dựng lại xong tường thành Giê-ru-sa-lem thì ông trở lại với vua Ba-tư là Ạt-ta-xét-xe rồi sau một thời gian dài trở lại thành Giê-ru-sa-lem thì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ông phát hiện ra rằng công việc của đền thờ - là nơi thờ phượng Chúa không còn hoạt động nữa –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và nguyên nhân chính là vì không có ai dâng hiến phần mười cho đền thờ để những người như thầy tế lễ, các ca sĩ có thể hầu việc Chúa trong đền thờ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 hầu như những người đó đều phải bỏ bê công việc của đền thờ mà trở về vườn để làm lụm và kiếm tiền.</a:t>
            </a:r>
            <a:endParaRPr lang="en-V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VN" dirty="0"/>
          </a:p>
          <a:p>
            <a:pPr marL="0" marR="0" lvl="0" indent="0" algn="l" defTabSz="914400" rtl="0" eaLnBrk="1" fontAlgn="auto" latinLnBrk="0" hangingPunct="1">
              <a:lnSpc>
                <a:spcPct val="100000"/>
              </a:lnSpc>
              <a:spcBef>
                <a:spcPts val="0"/>
              </a:spcBef>
              <a:spcAft>
                <a:spcPts val="0"/>
              </a:spcAft>
              <a:buClrTx/>
              <a:buSzTx/>
              <a:buFontTx/>
              <a:buNone/>
              <a:tabLst/>
              <a:defRPr/>
            </a:pP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Cho nên cũng có lời kêu gọi của Đức Chúa Trời dành cho dân sự để họ trở lại với sự thờ phượng được chép trong </a:t>
            </a:r>
            <a:r>
              <a:rPr lang="vi-VN" sz="1800" b="1" kern="100" dirty="0">
                <a:effectLst/>
                <a:latin typeface="Cambria" panose="02040503050406030204" pitchFamily="18" charset="0"/>
                <a:ea typeface="Calibri" panose="020F0502020204030204" pitchFamily="34" charset="0"/>
                <a:cs typeface="Times New Roman" panose="02020603050405020304" pitchFamily="18" charset="0"/>
              </a:rPr>
              <a:t>Ma-la-chi 3:10</a:t>
            </a:r>
            <a:r>
              <a:rPr lang="vi-VN" sz="1800" kern="100" dirty="0">
                <a:effectLst/>
                <a:latin typeface="Cambria" panose="02040503050406030204" pitchFamily="18" charset="0"/>
                <a:ea typeface="Calibri" panose="020F0502020204030204" pitchFamily="34" charset="0"/>
                <a:cs typeface="Times New Roman" panose="02020603050405020304" pitchFamily="18" charset="0"/>
              </a:rPr>
              <a:t> “Các ngươi hãy đem hết thảy phần mười vào kho, hầu cho có lương thực trong nhà ta; và từ nay các ngươi khá lấy điều nầy mà thử ta, Đức Giê-hô-va vạn quân phán, xem ta có mở các cửa sổ trên trời cho các ngươi, đổ phước xuống cho các ngươi đến nỗi không chỗ chứa chăng!”</a:t>
            </a:r>
            <a:endParaRPr lang="en-V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VN" dirty="0"/>
          </a:p>
        </p:txBody>
      </p:sp>
      <p:sp>
        <p:nvSpPr>
          <p:cNvPr id="4" name="Slide Number Placeholder 3"/>
          <p:cNvSpPr>
            <a:spLocks noGrp="1"/>
          </p:cNvSpPr>
          <p:nvPr>
            <p:ph type="sldNum" sz="quarter" idx="5"/>
          </p:nvPr>
        </p:nvSpPr>
        <p:spPr/>
        <p:txBody>
          <a:bodyPr/>
          <a:lstStyle/>
          <a:p>
            <a:fld id="{C4E7A067-A1AA-F040-9809-79E60F2BEC51}" type="slidenum">
              <a:rPr lang="en-VN" smtClean="0"/>
              <a:t>28</a:t>
            </a:fld>
            <a:endParaRPr lang="en-VN"/>
          </a:p>
        </p:txBody>
      </p:sp>
    </p:spTree>
    <p:extLst>
      <p:ext uri="{BB962C8B-B14F-4D97-AF65-F5344CB8AC3E}">
        <p14:creationId xmlns:p14="http://schemas.microsoft.com/office/powerpoint/2010/main" val="30473646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F9AF5-ABBB-5367-7605-A0DCC555C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7A872E-7230-8358-DAFD-CF046FE12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3EE2C-C83B-C5F5-5AA9-8B21C36A8003}"/>
              </a:ext>
            </a:extLst>
          </p:cNvPr>
          <p:cNvSpPr>
            <a:spLocks noGrp="1"/>
          </p:cNvSpPr>
          <p:nvPr>
            <p:ph type="body" idx="1"/>
          </p:nvPr>
        </p:nvSpPr>
        <p:spPr/>
        <p:txBody>
          <a:bodyPr/>
          <a:lstStyle/>
          <a:p>
            <a:r>
              <a:rPr lang="en-VN" dirty="0"/>
              <a:t>Nguyên tắc về việc dâng hiến: Nhận biết số tiền dâng được dùng cho công việc Chúa</a:t>
            </a:r>
          </a:p>
          <a:p>
            <a:endParaRPr lang="en-VN" dirty="0"/>
          </a:p>
          <a:p>
            <a:r>
              <a:rPr lang="en-VN" dirty="0"/>
              <a:t>Đó cũng là cách mà Phao-lô là người hầu việc Chúa trọn thời gian nhận được sự hỗ trợ từ các con dâng Chúa</a:t>
            </a:r>
          </a:p>
        </p:txBody>
      </p:sp>
      <p:sp>
        <p:nvSpPr>
          <p:cNvPr id="4" name="Slide Number Placeholder 3">
            <a:extLst>
              <a:ext uri="{FF2B5EF4-FFF2-40B4-BE49-F238E27FC236}">
                <a16:creationId xmlns:a16="http://schemas.microsoft.com/office/drawing/2014/main" id="{5A80DA70-E32B-9F7D-1BFD-C44A1D24E14E}"/>
              </a:ext>
            </a:extLst>
          </p:cNvPr>
          <p:cNvSpPr>
            <a:spLocks noGrp="1"/>
          </p:cNvSpPr>
          <p:nvPr>
            <p:ph type="sldNum" sz="quarter" idx="5"/>
          </p:nvPr>
        </p:nvSpPr>
        <p:spPr/>
        <p:txBody>
          <a:bodyPr/>
          <a:lstStyle/>
          <a:p>
            <a:fld id="{C4E7A067-A1AA-F040-9809-79E60F2BEC51}" type="slidenum">
              <a:rPr lang="en-VN" smtClean="0"/>
              <a:t>29</a:t>
            </a:fld>
            <a:endParaRPr lang="en-VN"/>
          </a:p>
        </p:txBody>
      </p:sp>
    </p:spTree>
    <p:extLst>
      <p:ext uri="{BB962C8B-B14F-4D97-AF65-F5344CB8AC3E}">
        <p14:creationId xmlns:p14="http://schemas.microsoft.com/office/powerpoint/2010/main" val="7824377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9AAFE-A05C-98B2-2A18-558D3EDA5E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F8A731-24DE-B453-AF04-0A936034E0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9BFA6D-1CBD-6335-81AB-F89C59344A7C}"/>
              </a:ext>
            </a:extLst>
          </p:cNvPr>
          <p:cNvSpPr>
            <a:spLocks noGrp="1"/>
          </p:cNvSpPr>
          <p:nvPr>
            <p:ph type="body" idx="1"/>
          </p:nvPr>
        </p:nvSpPr>
        <p:spPr/>
        <p:txBody>
          <a:bodyPr/>
          <a:lstStyle/>
          <a:p>
            <a:pPr marL="0" lvl="0" indent="0" algn="just">
              <a:lnSpc>
                <a:spcPct val="115000"/>
              </a:lnSpc>
              <a:buNone/>
            </a:pPr>
            <a:r>
              <a:rPr lang="en-US" sz="1200" b="0" kern="100" noProof="1">
                <a:latin typeface="Cambria" panose="02040503050406030204" pitchFamily="18" charset="0"/>
                <a:ea typeface="Calibri" panose="020F0502020204030204" pitchFamily="34" charset="0"/>
                <a:cs typeface="Times New Roman" panose="02020603050405020304" pitchFamily="18" charset="0"/>
              </a:rPr>
              <a:t>1. Nghĩ về nguyên tắc của cải:</a:t>
            </a:r>
          </a:p>
          <a:p>
            <a:pPr marL="171450" lvl="0" indent="-171450" algn="just">
              <a:lnSpc>
                <a:spcPct val="115000"/>
              </a:lnSpc>
              <a:buFontTx/>
              <a:buChar char="-"/>
            </a:pPr>
            <a:r>
              <a:rPr lang="en-US" sz="1200" b="0" kern="100" noProof="1">
                <a:latin typeface="Cambria" panose="02040503050406030204" pitchFamily="18" charset="0"/>
                <a:ea typeface="Calibri" panose="020F0502020204030204" pitchFamily="34" charset="0"/>
                <a:cs typeface="Times New Roman" panose="02020603050405020304" pitchFamily="18" charset="0"/>
              </a:rPr>
              <a:t>Triều thì dựa trên hai nguyên tắc lúc nãy giờ mà Triều đề cập đến để luôn nghĩ về nguồn gốc của tài sản mình có là từ đâu và vì sao chúng ta cần phải sử dụng tài chính hiệu quả </a:t>
            </a:r>
          </a:p>
          <a:p>
            <a:pPr marL="171450" lvl="0" indent="-171450" algn="just">
              <a:lnSpc>
                <a:spcPct val="115000"/>
              </a:lnSpc>
              <a:buFontTx/>
              <a:buChar char="-"/>
            </a:pPr>
            <a:r>
              <a:rPr lang="en-US" sz="1200" b="0" kern="100" noProof="1">
                <a:latin typeface="Cambria" panose="02040503050406030204" pitchFamily="18" charset="0"/>
                <a:ea typeface="Calibri" panose="020F0502020204030204" pitchFamily="34" charset="0"/>
                <a:cs typeface="Times New Roman" panose="02020603050405020304" pitchFamily="18" charset="0"/>
              </a:rPr>
              <a:t>Điều này được hiểu như là việc nhận biết động cơ mình cần sử dụng tài chính hiệu quả</a:t>
            </a:r>
          </a:p>
          <a:p>
            <a:pPr marL="0" lvl="0" indent="0" algn="just">
              <a:lnSpc>
                <a:spcPct val="115000"/>
              </a:lnSpc>
              <a:buFontTx/>
              <a:buNone/>
            </a:pPr>
            <a:endParaRPr lang="en-US" sz="1200" b="0" kern="100" noProof="1">
              <a:latin typeface="Cambria" panose="02040503050406030204" pitchFamily="18" charset="0"/>
              <a:ea typeface="Calibri" panose="020F0502020204030204" pitchFamily="34" charset="0"/>
              <a:cs typeface="Times New Roman" panose="02020603050405020304" pitchFamily="18" charset="0"/>
            </a:endParaRPr>
          </a:p>
          <a:p>
            <a:pPr marL="0" lvl="0" indent="0" algn="just">
              <a:lnSpc>
                <a:spcPct val="115000"/>
              </a:lnSpc>
              <a:buFontTx/>
              <a:buNone/>
            </a:pPr>
            <a:r>
              <a:rPr lang="en-US" sz="1200" b="0" kern="100" noProof="1">
                <a:latin typeface="Cambria" panose="02040503050406030204" pitchFamily="18" charset="0"/>
                <a:ea typeface="Calibri" panose="020F0502020204030204" pitchFamily="34" charset="0"/>
                <a:cs typeface="Times New Roman" panose="02020603050405020304" pitchFamily="18" charset="0"/>
              </a:rPr>
              <a:t>Đối với Triều thì thời sinh viên Triều tiêu sai khá ít – thật ra đi chơi vs bạn bè Triều hay nói thẳng là hết tiền rồi, nên đứa nào rủ đi cf thì mời không thì thôi! Rồi sau đó mình mời lại sau kkk.</a:t>
            </a:r>
          </a:p>
          <a:p>
            <a:pPr marL="0" lvl="0" indent="0" algn="just">
              <a:lnSpc>
                <a:spcPct val="115000"/>
              </a:lnSpc>
              <a:buFontTx/>
              <a:buNone/>
            </a:pPr>
            <a:r>
              <a:rPr lang="en-US" sz="1200" b="0" kern="100" noProof="1">
                <a:latin typeface="Cambria" panose="02040503050406030204" pitchFamily="18" charset="0"/>
                <a:ea typeface="Calibri" panose="020F0502020204030204" pitchFamily="34" charset="0"/>
                <a:cs typeface="Times New Roman" panose="02020603050405020304" pitchFamily="18" charset="0"/>
              </a:rPr>
              <a:t>Nếu không tính tiền nhà thì độ đâu đó Triều sài tầm 1.5tr/tháng (vì khoảng gần 2 tuần/lần thì Triều xin ba mẹ 500k).</a:t>
            </a:r>
          </a:p>
          <a:p>
            <a:pPr marL="0" lvl="0" indent="0" algn="just">
              <a:lnSpc>
                <a:spcPct val="115000"/>
              </a:lnSpc>
              <a:buFontTx/>
              <a:buNone/>
            </a:pPr>
            <a:r>
              <a:rPr lang="en-US" sz="1200" b="0" kern="100" noProof="1">
                <a:latin typeface="Cambria" panose="02040503050406030204" pitchFamily="18" charset="0"/>
                <a:ea typeface="Calibri" panose="020F0502020204030204" pitchFamily="34" charset="0"/>
                <a:cs typeface="Times New Roman" panose="02020603050405020304" pitchFamily="18" charset="0"/>
              </a:rPr>
              <a:t>Để ba mẹ đỡ vất vả thì nhiều lúc Triều còn chạy grab kiếm tiền – tháng nào kiếm nhiều tiền thì k cần xin tiền ba mẹ.</a:t>
            </a:r>
          </a:p>
          <a:p>
            <a:pPr marL="0" lvl="0" indent="0" algn="just">
              <a:lnSpc>
                <a:spcPct val="115000"/>
              </a:lnSpc>
              <a:buFontTx/>
              <a:buNone/>
            </a:pPr>
            <a:endParaRPr lang="en-US" sz="1200" b="0" kern="100" noProof="1">
              <a:latin typeface="Cambria" panose="02040503050406030204" pitchFamily="18" charset="0"/>
              <a:ea typeface="Calibri" panose="020F0502020204030204" pitchFamily="34" charset="0"/>
              <a:cs typeface="Times New Roman" panose="02020603050405020304" pitchFamily="18" charset="0"/>
            </a:endParaRPr>
          </a:p>
          <a:p>
            <a:pPr marL="0" lvl="0" indent="0" algn="just">
              <a:lnSpc>
                <a:spcPct val="115000"/>
              </a:lnSpc>
              <a:buNone/>
            </a:pPr>
            <a:endParaRPr lang="en-US" sz="1200" b="0" kern="100" noProof="1">
              <a:latin typeface="Cambria" panose="02040503050406030204" pitchFamily="18" charset="0"/>
              <a:ea typeface="Calibri" panose="020F0502020204030204" pitchFamily="34" charset="0"/>
              <a:cs typeface="Times New Roman" panose="02020603050405020304" pitchFamily="18" charset="0"/>
            </a:endParaRPr>
          </a:p>
          <a:p>
            <a:pPr marL="0" lvl="0" indent="0" algn="just">
              <a:lnSpc>
                <a:spcPct val="115000"/>
              </a:lnSpc>
              <a:buNone/>
            </a:pPr>
            <a:r>
              <a:rPr lang="en-US" sz="1200" b="0" kern="100" noProof="1">
                <a:latin typeface="Cambria" panose="02040503050406030204" pitchFamily="18" charset="0"/>
                <a:ea typeface="Calibri" panose="020F0502020204030204" pitchFamily="34" charset="0"/>
                <a:cs typeface="Times New Roman" panose="02020603050405020304" pitchFamily="18" charset="0"/>
              </a:rPr>
              <a:t>2. Lên kế hoạch:</a:t>
            </a:r>
          </a:p>
          <a:p>
            <a:pPr marL="171450" lvl="0" indent="-171450" algn="just">
              <a:lnSpc>
                <a:spcPct val="115000"/>
              </a:lnSpc>
              <a:buFontTx/>
              <a:buChar char="-"/>
            </a:pPr>
            <a:r>
              <a:rPr lang="en-US" sz="1200" b="0" kern="100" noProof="1">
                <a:latin typeface="Cambria" panose="02040503050406030204" pitchFamily="18" charset="0"/>
                <a:ea typeface="Calibri" panose="020F0502020204030204" pitchFamily="34" charset="0"/>
                <a:cs typeface="Times New Roman" panose="02020603050405020304" pitchFamily="18" charset="0"/>
              </a:rPr>
              <a:t>Việc lên kế hoạch cho chi tiêu sẽ giúp chúng ta định hình được những gì chúng ta cần sử dụng</a:t>
            </a:r>
          </a:p>
          <a:p>
            <a:pPr marL="0" lvl="0" indent="0" algn="just">
              <a:lnSpc>
                <a:spcPct val="115000"/>
              </a:lnSpc>
              <a:buFontTx/>
              <a:buNone/>
            </a:pPr>
            <a:endParaRPr lang="en-US" sz="1200" b="0" kern="100" noProof="1">
              <a:latin typeface="Cambria" panose="02040503050406030204" pitchFamily="18" charset="0"/>
              <a:ea typeface="Calibri" panose="020F0502020204030204" pitchFamily="34" charset="0"/>
              <a:cs typeface="Times New Roman" panose="02020603050405020304" pitchFamily="18" charset="0"/>
            </a:endParaRPr>
          </a:p>
          <a:p>
            <a:pPr marL="0" lvl="0" indent="0" algn="just">
              <a:lnSpc>
                <a:spcPct val="115000"/>
              </a:lnSpc>
              <a:buFontTx/>
              <a:buNone/>
            </a:pPr>
            <a:r>
              <a:rPr lang="en-US" sz="1200" b="0" kern="100" noProof="1">
                <a:latin typeface="Cambria" panose="02040503050406030204" pitchFamily="18" charset="0"/>
                <a:ea typeface="Calibri" panose="020F0502020204030204" pitchFamily="34" charset="0"/>
                <a:cs typeface="Times New Roman" panose="02020603050405020304" pitchFamily="18" charset="0"/>
              </a:rPr>
              <a:t>3. Xem xét kế hoạch:</a:t>
            </a:r>
          </a:p>
          <a:p>
            <a:pPr marL="171450" lvl="0" indent="-171450" algn="just">
              <a:lnSpc>
                <a:spcPct val="115000"/>
              </a:lnSpc>
              <a:buFontTx/>
              <a:buChar char="-"/>
            </a:pPr>
            <a:r>
              <a:rPr lang="en-US" sz="1200" b="0" kern="100" noProof="1">
                <a:latin typeface="Cambria" panose="02040503050406030204" pitchFamily="18" charset="0"/>
                <a:ea typeface="Calibri" panose="020F0502020204030204" pitchFamily="34" charset="0"/>
                <a:cs typeface="Times New Roman" panose="02020603050405020304" pitchFamily="18" charset="0"/>
              </a:rPr>
              <a:t>Nhìn nhận lại kế hoạch chi tiêu của mình có chỗ nào không đúng hay là bị lãng phí hay không?</a:t>
            </a:r>
          </a:p>
          <a:p>
            <a:pPr marL="0" lvl="0" indent="0" algn="just">
              <a:lnSpc>
                <a:spcPct val="115000"/>
              </a:lnSpc>
              <a:buFontTx/>
              <a:buNone/>
            </a:pPr>
            <a:endParaRPr lang="en-US" sz="1200" b="0" kern="100" noProof="1">
              <a:latin typeface="Cambria" panose="02040503050406030204" pitchFamily="18" charset="0"/>
              <a:ea typeface="Calibri" panose="020F0502020204030204" pitchFamily="34" charset="0"/>
              <a:cs typeface="Times New Roman" panose="02020603050405020304" pitchFamily="18" charset="0"/>
            </a:endParaRPr>
          </a:p>
          <a:p>
            <a:pPr marL="0" lvl="0" indent="0" algn="just">
              <a:lnSpc>
                <a:spcPct val="115000"/>
              </a:lnSpc>
              <a:buFontTx/>
              <a:buNone/>
            </a:pPr>
            <a:r>
              <a:rPr lang="en-US" sz="1200" b="0" kern="100" noProof="1">
                <a:latin typeface="Cambria" panose="02040503050406030204" pitchFamily="18" charset="0"/>
                <a:ea typeface="Calibri" panose="020F0502020204030204" pitchFamily="34" charset="0"/>
                <a:cs typeface="Times New Roman" panose="02020603050405020304" pitchFamily="18" charset="0"/>
              </a:rPr>
              <a:t>4. Tạo nguyên tắc:</a:t>
            </a:r>
          </a:p>
          <a:p>
            <a:pPr marL="171450" lvl="0" indent="-171450" algn="just">
              <a:lnSpc>
                <a:spcPct val="115000"/>
              </a:lnSpc>
              <a:buFontTx/>
              <a:buChar char="-"/>
            </a:pPr>
            <a:r>
              <a:rPr lang="en-US" sz="1200" b="0" kern="100" noProof="1">
                <a:latin typeface="Cambria" panose="02040503050406030204" pitchFamily="18" charset="0"/>
                <a:ea typeface="Calibri" panose="020F0502020204030204" pitchFamily="34" charset="0"/>
                <a:cs typeface="Times New Roman" panose="02020603050405020304" pitchFamily="18" charset="0"/>
              </a:rPr>
              <a:t>Việc tạo ra nguyên tắc cho chính mình sẽ giúp chúng ta thực hiện kế hoạch một cách hiệu quả</a:t>
            </a:r>
          </a:p>
          <a:p>
            <a:pPr marL="0" lvl="0" indent="0" algn="just">
              <a:lnSpc>
                <a:spcPct val="115000"/>
              </a:lnSpc>
              <a:buNone/>
            </a:pPr>
            <a:r>
              <a:rPr lang="en-US" sz="1200" kern="100" noProof="1">
                <a:latin typeface="Cambria" panose="02040503050406030204" pitchFamily="18" charset="0"/>
                <a:ea typeface="Calibri" panose="020F0502020204030204" pitchFamily="34" charset="0"/>
                <a:cs typeface="Times New Roman" panose="02020603050405020304" pitchFamily="18" charset="0"/>
              </a:rPr>
              <a:t>Ví dụ như có nguyên tắc: Zero-Outcome.</a:t>
            </a:r>
          </a:p>
        </p:txBody>
      </p:sp>
      <p:sp>
        <p:nvSpPr>
          <p:cNvPr id="4" name="Slide Number Placeholder 3">
            <a:extLst>
              <a:ext uri="{FF2B5EF4-FFF2-40B4-BE49-F238E27FC236}">
                <a16:creationId xmlns:a16="http://schemas.microsoft.com/office/drawing/2014/main" id="{203BA13D-B179-CF2A-45BF-30B1668B3849}"/>
              </a:ext>
            </a:extLst>
          </p:cNvPr>
          <p:cNvSpPr>
            <a:spLocks noGrp="1"/>
          </p:cNvSpPr>
          <p:nvPr>
            <p:ph type="sldNum" sz="quarter" idx="5"/>
          </p:nvPr>
        </p:nvSpPr>
        <p:spPr/>
        <p:txBody>
          <a:bodyPr/>
          <a:lstStyle/>
          <a:p>
            <a:fld id="{C4E7A067-A1AA-F040-9809-79E60F2BEC51}" type="slidenum">
              <a:rPr lang="en-VN" smtClean="0"/>
              <a:t>31</a:t>
            </a:fld>
            <a:endParaRPr lang="en-VN"/>
          </a:p>
        </p:txBody>
      </p:sp>
    </p:spTree>
    <p:extLst>
      <p:ext uri="{BB962C8B-B14F-4D97-AF65-F5344CB8AC3E}">
        <p14:creationId xmlns:p14="http://schemas.microsoft.com/office/powerpoint/2010/main" val="4419912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54765-C924-603A-9947-A677D8AD1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45E4E-CC80-B533-8744-7EFD3CA96E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D32C3E-8A40-FC5D-2401-9DBA225F0FF8}"/>
              </a:ext>
            </a:extLst>
          </p:cNvPr>
          <p:cNvSpPr>
            <a:spLocks noGrp="1"/>
          </p:cNvSpPr>
          <p:nvPr>
            <p:ph type="body" idx="1"/>
          </p:nvPr>
        </p:nvSpPr>
        <p:spPr/>
        <p:txBody>
          <a:bodyPr/>
          <a:lstStyle/>
          <a:p>
            <a:r>
              <a:rPr lang="en-VN" dirty="0"/>
              <a:t>Quản lí tài chính như định nghĩa ở trên:</a:t>
            </a:r>
          </a:p>
          <a:p>
            <a:pPr marL="171450" indent="-171450">
              <a:buFontTx/>
              <a:buChar char="-"/>
            </a:pPr>
            <a:r>
              <a:rPr lang="en-VN" dirty="0"/>
              <a:t>Lên kế hoạch và cân đối tượng tiền chúng ta sẽ sử dụng</a:t>
            </a:r>
          </a:p>
          <a:p>
            <a:pPr marL="0" indent="0">
              <a:buFontTx/>
              <a:buNone/>
            </a:pPr>
            <a:endParaRPr lang="en-VN" dirty="0"/>
          </a:p>
          <a:p>
            <a:pPr marL="0" indent="0">
              <a:buFontTx/>
              <a:buNone/>
            </a:pPr>
            <a:r>
              <a:rPr lang="en-VN" dirty="0"/>
              <a:t>Để chúng ta có thể có thời gian nhìn xem thử nó có phù hợp mới ý muốn của chủ mình hay chưa</a:t>
            </a:r>
          </a:p>
          <a:p>
            <a:pPr marL="0" indent="0">
              <a:buFontTx/>
              <a:buNone/>
            </a:pPr>
            <a:r>
              <a:rPr lang="en-VN" dirty="0"/>
              <a:t>Và nó có thật sự đang phí phạm hay không?</a:t>
            </a:r>
          </a:p>
          <a:p>
            <a:pPr marL="0" indent="0">
              <a:buFontTx/>
              <a:buNone/>
            </a:pPr>
            <a:endParaRPr lang="en-VN" dirty="0"/>
          </a:p>
          <a:p>
            <a:pPr marL="0" indent="0">
              <a:buFontTx/>
              <a:buNone/>
            </a:pPr>
            <a:r>
              <a:rPr lang="en-VN" dirty="0"/>
              <a:t>Thật ra còn nhiều lí do khác như là tác hại của việc không quản lí tài chính – nghĩa là tiêu sai phung phí,…</a:t>
            </a:r>
          </a:p>
          <a:p>
            <a:pPr marL="0" indent="0">
              <a:buFontTx/>
              <a:buNone/>
            </a:pPr>
            <a:endParaRPr lang="en-VN" dirty="0"/>
          </a:p>
          <a:p>
            <a:pPr marL="0" indent="0">
              <a:buFontTx/>
              <a:buNone/>
            </a:pPr>
            <a:r>
              <a:rPr lang="en-VN" dirty="0"/>
              <a:t>Nhưng mà Triều không muốn nói về điều đó ngày hôm nay! Triều nghĩ mình không đủ thời gian cho chuyện đó nên Triều sẽ chia sẻ tập trung vào những gì mình nhận được từ Chúa và cách Triều đang làm ở hiện tại.</a:t>
            </a:r>
          </a:p>
          <a:p>
            <a:pPr marL="0" indent="0">
              <a:buFontTx/>
              <a:buNone/>
            </a:pPr>
            <a:endParaRPr lang="en-VN" dirty="0"/>
          </a:p>
        </p:txBody>
      </p:sp>
      <p:sp>
        <p:nvSpPr>
          <p:cNvPr id="4" name="Slide Number Placeholder 3">
            <a:extLst>
              <a:ext uri="{FF2B5EF4-FFF2-40B4-BE49-F238E27FC236}">
                <a16:creationId xmlns:a16="http://schemas.microsoft.com/office/drawing/2014/main" id="{995F3577-CCED-A9E0-8378-8613CE9AD14E}"/>
              </a:ext>
            </a:extLst>
          </p:cNvPr>
          <p:cNvSpPr>
            <a:spLocks noGrp="1"/>
          </p:cNvSpPr>
          <p:nvPr>
            <p:ph type="sldNum" sz="quarter" idx="5"/>
          </p:nvPr>
        </p:nvSpPr>
        <p:spPr/>
        <p:txBody>
          <a:bodyPr/>
          <a:lstStyle/>
          <a:p>
            <a:fld id="{C4E7A067-A1AA-F040-9809-79E60F2BEC51}" type="slidenum">
              <a:rPr lang="en-VN" smtClean="0"/>
              <a:t>32</a:t>
            </a:fld>
            <a:endParaRPr lang="en-VN"/>
          </a:p>
        </p:txBody>
      </p:sp>
    </p:spTree>
    <p:extLst>
      <p:ext uri="{BB962C8B-B14F-4D97-AF65-F5344CB8AC3E}">
        <p14:creationId xmlns:p14="http://schemas.microsoft.com/office/powerpoint/2010/main" val="17701039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Cá nhân:</a:t>
            </a:r>
          </a:p>
          <a:p>
            <a:r>
              <a:rPr lang="en-VN" dirty="0"/>
              <a:t>Vì đó là sự chu cấp của Đức Chúa Trời cho chính chúng ta nhằm giúp chúng ta có cuộc sống ổn định và có thể sinh sống được</a:t>
            </a:r>
          </a:p>
          <a:p>
            <a:endParaRPr lang="en-VN" dirty="0"/>
          </a:p>
          <a:p>
            <a:r>
              <a:rPr lang="en-VN" dirty="0"/>
              <a:t>Tích trữ:</a:t>
            </a:r>
          </a:p>
          <a:p>
            <a:r>
              <a:rPr lang="en-VN" dirty="0"/>
              <a:t>Chúa muốn chúng ta có sự khôn ngon trong việc dùng tiền -&gt; nên có khoản tiết kiệm</a:t>
            </a:r>
          </a:p>
        </p:txBody>
      </p:sp>
      <p:sp>
        <p:nvSpPr>
          <p:cNvPr id="4" name="Slide Number Placeholder 3"/>
          <p:cNvSpPr>
            <a:spLocks noGrp="1"/>
          </p:cNvSpPr>
          <p:nvPr>
            <p:ph type="sldNum" sz="quarter" idx="5"/>
          </p:nvPr>
        </p:nvSpPr>
        <p:spPr/>
        <p:txBody>
          <a:bodyPr/>
          <a:lstStyle/>
          <a:p>
            <a:fld id="{C4E7A067-A1AA-F040-9809-79E60F2BEC51}" type="slidenum">
              <a:rPr lang="en-VN" smtClean="0"/>
              <a:t>33</a:t>
            </a:fld>
            <a:endParaRPr lang="en-VN"/>
          </a:p>
        </p:txBody>
      </p:sp>
    </p:spTree>
    <p:extLst>
      <p:ext uri="{BB962C8B-B14F-4D97-AF65-F5344CB8AC3E}">
        <p14:creationId xmlns:p14="http://schemas.microsoft.com/office/powerpoint/2010/main" val="29314366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latin typeface="Cambria" panose="02040503050406030204" pitchFamily="18" charset="0"/>
                <a:ea typeface="Calibri" panose="020F0502020204030204" pitchFamily="34" charset="0"/>
                <a:cs typeface="Times New Roman" panose="02020603050405020304" pitchFamily="18" charset="0"/>
              </a:rPr>
              <a:t>“</a:t>
            </a:r>
            <a:r>
              <a:rPr lang="vi-VN" sz="1200" dirty="0">
                <a:effectLst/>
                <a:latin typeface="Cambria" panose="02040503050406030204" pitchFamily="18" charset="0"/>
                <a:ea typeface="Calibri" panose="020F0502020204030204" pitchFamily="34" charset="0"/>
                <a:cs typeface="Times New Roman" panose="02020603050405020304" pitchFamily="18" charset="0"/>
              </a:rPr>
              <a:t>Mỗi người nên quyên góp tùy theo lòng mình đã định, không miễn cưỡng hoặc do ép buộc,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effectLst/>
                <a:latin typeface="Cambria" panose="02040503050406030204" pitchFamily="18" charset="0"/>
                <a:ea typeface="Calibri" panose="020F0502020204030204" pitchFamily="34" charset="0"/>
                <a:cs typeface="Times New Roman" panose="02020603050405020304" pitchFamily="18" charset="0"/>
              </a:rPr>
              <a:t>vì Đức Chúa Trời yêu mến người dâng hiến một cách vui lòng. </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Đức Chúa Trời có quyền ban cho anh em ân điển sung mãn để đáp ứng mọi nhu cầu của anh em</a:t>
            </a:r>
            <a:r>
              <a:rPr lang="vi-VN" sz="1200" dirty="0">
                <a:effectLst/>
                <a:latin typeface="Cambria" panose="02040503050406030204" pitchFamily="18" charset="0"/>
                <a:ea typeface="Calibri" panose="020F0502020204030204" pitchFamily="34" charset="0"/>
                <a:cs typeface="Times New Roman" panose="02020603050405020304" pitchFamily="18" charset="0"/>
              </a:rPr>
              <a:t>, lại còn có dư dật để làm mọi việc lành” – II Cô-rinh 9:7-8</a:t>
            </a:r>
            <a:endParaRPr lang="en-VN" sz="1200" dirty="0">
              <a:effectLst/>
              <a:latin typeface="Cambria" panose="02040503050406030204" pitchFamily="18" charset="0"/>
              <a:ea typeface="Calibri" panose="020F0502020204030204" pitchFamily="34" charset="0"/>
              <a:cs typeface="Times New Roman" panose="02020603050405020304" pitchFamily="18" charset="0"/>
            </a:endParaRPr>
          </a:p>
          <a:p>
            <a:endParaRPr lang="en-VN" dirty="0"/>
          </a:p>
        </p:txBody>
      </p:sp>
      <p:sp>
        <p:nvSpPr>
          <p:cNvPr id="4" name="Slide Number Placeholder 3"/>
          <p:cNvSpPr>
            <a:spLocks noGrp="1"/>
          </p:cNvSpPr>
          <p:nvPr>
            <p:ph type="sldNum" sz="quarter" idx="5"/>
          </p:nvPr>
        </p:nvSpPr>
        <p:spPr/>
        <p:txBody>
          <a:bodyPr/>
          <a:lstStyle/>
          <a:p>
            <a:fld id="{C4E7A067-A1AA-F040-9809-79E60F2BEC51}" type="slidenum">
              <a:rPr lang="en-VN" smtClean="0"/>
              <a:t>34</a:t>
            </a:fld>
            <a:endParaRPr lang="en-VN"/>
          </a:p>
        </p:txBody>
      </p:sp>
    </p:spTree>
    <p:extLst>
      <p:ext uri="{BB962C8B-B14F-4D97-AF65-F5344CB8AC3E}">
        <p14:creationId xmlns:p14="http://schemas.microsoft.com/office/powerpoint/2010/main" val="35652611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dirty="0"/>
              <a:t>Chia sẻ màn hình về file excel chi tiêu tháng 2/2025 (Tháng có tiêu thêm tiền tết) </a:t>
            </a:r>
          </a:p>
        </p:txBody>
      </p:sp>
      <p:sp>
        <p:nvSpPr>
          <p:cNvPr id="4" name="Slide Number Placeholder 3"/>
          <p:cNvSpPr>
            <a:spLocks noGrp="1"/>
          </p:cNvSpPr>
          <p:nvPr>
            <p:ph type="sldNum" sz="quarter" idx="5"/>
          </p:nvPr>
        </p:nvSpPr>
        <p:spPr/>
        <p:txBody>
          <a:bodyPr/>
          <a:lstStyle/>
          <a:p>
            <a:fld id="{C4E7A067-A1AA-F040-9809-79E60F2BEC51}" type="slidenum">
              <a:rPr lang="en-VN" smtClean="0"/>
              <a:t>39</a:t>
            </a:fld>
            <a:endParaRPr lang="en-VN"/>
          </a:p>
        </p:txBody>
      </p:sp>
    </p:spTree>
    <p:extLst>
      <p:ext uri="{BB962C8B-B14F-4D97-AF65-F5344CB8AC3E}">
        <p14:creationId xmlns:p14="http://schemas.microsoft.com/office/powerpoint/2010/main" val="8721890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B8EF9-9247-677B-63D0-BB5810DED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5FF039-7DF9-2E4C-A8C1-DC1FCAA597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F4469C-CD82-386F-5FC5-4C18DAF0339D}"/>
              </a:ext>
            </a:extLst>
          </p:cNvPr>
          <p:cNvSpPr>
            <a:spLocks noGrp="1"/>
          </p:cNvSpPr>
          <p:nvPr>
            <p:ph type="body" idx="1"/>
          </p:nvPr>
        </p:nvSpPr>
        <p:spPr/>
        <p:txBody>
          <a:bodyPr/>
          <a:lstStyle/>
          <a:p>
            <a:pPr lvl="0" algn="just">
              <a:lnSpc>
                <a:spcPct val="150000"/>
              </a:lnSpc>
            </a:pPr>
            <a:r>
              <a:rPr lang="en-US" sz="1200" kern="100" dirty="0">
                <a:latin typeface="Cambria" panose="02040503050406030204" pitchFamily="18" charset="0"/>
                <a:ea typeface="Calibri" panose="020F0502020204030204" pitchFamily="34" charset="0"/>
                <a:cs typeface="Times New Roman" panose="02020603050405020304" pitchFamily="18" charset="0"/>
              </a:rPr>
              <a:t>Force ~ Discipline:</a:t>
            </a:r>
            <a:r>
              <a:rPr lang="en-VN" sz="1200" kern="100" dirty="0">
                <a:latin typeface="Cambria" panose="02040503050406030204" pitchFamily="18" charset="0"/>
                <a:ea typeface="Calibri" panose="020F0502020204030204" pitchFamily="34" charset="0"/>
                <a:cs typeface="Times New Roman" panose="02020603050405020304" pitchFamily="18" charset="0"/>
              </a:rPr>
              <a:t> Khi đặt ra kế hoạch chi tiêu chúng ta cần phải tuân thủ theo những gì đã định ra – đặc biệt là chi tiêu routine. </a:t>
            </a:r>
          </a:p>
          <a:p>
            <a:pPr lvl="0" algn="just">
              <a:lnSpc>
                <a:spcPct val="150000"/>
              </a:lnSpc>
            </a:pPr>
            <a:r>
              <a:rPr lang="en-VN" sz="1200" kern="100" dirty="0">
                <a:latin typeface="Cambria" panose="02040503050406030204" pitchFamily="18" charset="0"/>
                <a:ea typeface="Calibri" panose="020F0502020204030204" pitchFamily="34" charset="0"/>
                <a:cs typeface="Times New Roman" panose="02020603050405020304" pitchFamily="18" charset="0"/>
              </a:rPr>
              <a:t>Nếu bị âm cần đền bù phù hợp</a:t>
            </a:r>
          </a:p>
          <a:p>
            <a:pPr lvl="0" algn="just">
              <a:lnSpc>
                <a:spcPct val="150000"/>
              </a:lnSpc>
            </a:pPr>
            <a:r>
              <a:rPr lang="en-VN" sz="1200" kern="100" dirty="0">
                <a:latin typeface="Cambria" panose="02040503050406030204" pitchFamily="18" charset="0"/>
                <a:ea typeface="Calibri" panose="020F0502020204030204" pitchFamily="34" charset="0"/>
                <a:cs typeface="Times New Roman" panose="02020603050405020304" pitchFamily="18" charset="0"/>
              </a:rPr>
              <a:t>Ví dụ: Nếu routine định ra 2.5m -&gt; mà dùng lên 3m: lúc này hãy coi 500m đó là phần thưởng cho chính mình! </a:t>
            </a:r>
            <a:r>
              <a:rPr lang="en-US" sz="1200" kern="100" dirty="0">
                <a:latin typeface="Cambria" panose="02040503050406030204" pitchFamily="18" charset="0"/>
                <a:ea typeface="Calibri" panose="020F0502020204030204" pitchFamily="34" charset="0"/>
                <a:cs typeface="Times New Roman" panose="02020603050405020304" pitchFamily="18" charset="0"/>
              </a:rPr>
              <a:t>V</a:t>
            </a:r>
            <a:r>
              <a:rPr lang="en-VN" sz="1200" kern="100" dirty="0">
                <a:latin typeface="Cambria" panose="02040503050406030204" pitchFamily="18" charset="0"/>
                <a:ea typeface="Calibri" panose="020F0502020204030204" pitchFamily="34" charset="0"/>
                <a:cs typeface="Times New Roman" panose="02020603050405020304" pitchFamily="18" charset="0"/>
              </a:rPr>
              <a:t>à tìm xem nguyên nhân vì sao mà tiêu quá 500m</a:t>
            </a:r>
          </a:p>
          <a:p>
            <a:pPr lvl="0" algn="just">
              <a:lnSpc>
                <a:spcPct val="150000"/>
              </a:lnSpc>
            </a:pPr>
            <a:r>
              <a:rPr lang="en-VN" sz="1200" kern="100" dirty="0">
                <a:latin typeface="Cambria" panose="02040503050406030204" pitchFamily="18" charset="0"/>
                <a:ea typeface="Calibri" panose="020F0502020204030204" pitchFamily="34" charset="0"/>
                <a:cs typeface="Times New Roman" panose="02020603050405020304" pitchFamily="18" charset="0"/>
              </a:rPr>
              <a:t>Nếu là vì uống cf nhiều -&gt; hạn chế lại!</a:t>
            </a:r>
          </a:p>
          <a:p>
            <a:pPr lvl="0" algn="just">
              <a:lnSpc>
                <a:spcPct val="150000"/>
              </a:lnSpc>
            </a:pPr>
            <a:endParaRPr lang="en-VN" sz="1200" kern="100" dirty="0">
              <a:latin typeface="Cambria" panose="02040503050406030204" pitchFamily="18" charset="0"/>
              <a:ea typeface="Calibri" panose="020F0502020204030204" pitchFamily="34" charset="0"/>
              <a:cs typeface="Times New Roman" panose="02020603050405020304" pitchFamily="18" charset="0"/>
            </a:endParaRPr>
          </a:p>
          <a:p>
            <a:pPr lvl="0" algn="just">
              <a:lnSpc>
                <a:spcPct val="150000"/>
              </a:lnSpc>
            </a:pPr>
            <a:endParaRPr lang="en-VN" sz="1200" kern="100" dirty="0">
              <a:latin typeface="Cambria" panose="02040503050406030204" pitchFamily="18" charset="0"/>
              <a:ea typeface="Calibri" panose="020F0502020204030204" pitchFamily="34" charset="0"/>
              <a:cs typeface="Times New Roman" panose="02020603050405020304" pitchFamily="18" charset="0"/>
            </a:endParaRPr>
          </a:p>
          <a:p>
            <a:pPr lvl="0" algn="just">
              <a:lnSpc>
                <a:spcPct val="150000"/>
              </a:lnSpc>
            </a:pPr>
            <a:r>
              <a:rPr lang="en-US" sz="1200" kern="100" dirty="0">
                <a:latin typeface="Cambria" panose="02040503050406030204" pitchFamily="18" charset="0"/>
                <a:ea typeface="Calibri" panose="020F0502020204030204" pitchFamily="34" charset="0"/>
                <a:cs typeface="Times New Roman" panose="02020603050405020304" pitchFamily="18" charset="0"/>
              </a:rPr>
              <a:t>Reward:</a:t>
            </a:r>
            <a:r>
              <a:rPr lang="en-VN" sz="1200" kern="100" dirty="0">
                <a:latin typeface="Cambria" panose="02040503050406030204" pitchFamily="18" charset="0"/>
                <a:ea typeface="Calibri" panose="020F0502020204030204" pitchFamily="34" charset="0"/>
                <a:cs typeface="Times New Roman" panose="02020603050405020304" pitchFamily="18" charset="0"/>
              </a:rPr>
              <a:t> Mỗi tháng các bạn đạt chỉ tiêu – hãy tự thưởng cho mình một cái gì đó để khích lệ (phần thưởng tuỳ vào tài chính). </a:t>
            </a:r>
          </a:p>
          <a:p>
            <a:pPr lvl="0" algn="just">
              <a:lnSpc>
                <a:spcPct val="150000"/>
              </a:lnSpc>
            </a:pPr>
            <a:r>
              <a:rPr lang="en-VN" sz="1200" kern="100" dirty="0">
                <a:latin typeface="Cambria" panose="02040503050406030204" pitchFamily="18" charset="0"/>
                <a:ea typeface="Calibri" panose="020F0502020204030204" pitchFamily="34" charset="0"/>
                <a:cs typeface="Times New Roman" panose="02020603050405020304" pitchFamily="18" charset="0"/>
              </a:rPr>
              <a:t>Mục đích là để khích lệ bản thân tiếp tục </a:t>
            </a:r>
            <a:endParaRPr lang="en-US" sz="1200" kern="100" dirty="0">
              <a:latin typeface="Cambria" panose="02040503050406030204" pitchFamily="18"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ABFC756-3131-F6E6-DD24-F636DB683B46}"/>
              </a:ext>
            </a:extLst>
          </p:cNvPr>
          <p:cNvSpPr>
            <a:spLocks noGrp="1"/>
          </p:cNvSpPr>
          <p:nvPr>
            <p:ph type="sldNum" sz="quarter" idx="5"/>
          </p:nvPr>
        </p:nvSpPr>
        <p:spPr/>
        <p:txBody>
          <a:bodyPr/>
          <a:lstStyle/>
          <a:p>
            <a:fld id="{C4E7A067-A1AA-F040-9809-79E60F2BEC51}" type="slidenum">
              <a:rPr lang="en-VN" smtClean="0"/>
              <a:t>40</a:t>
            </a:fld>
            <a:endParaRPr lang="en-VN"/>
          </a:p>
        </p:txBody>
      </p:sp>
    </p:spTree>
    <p:extLst>
      <p:ext uri="{BB962C8B-B14F-4D97-AF65-F5344CB8AC3E}">
        <p14:creationId xmlns:p14="http://schemas.microsoft.com/office/powerpoint/2010/main" val="1437295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D1BE5-1FDF-C0EC-A35C-9CC07975645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VN"/>
          </a:p>
        </p:txBody>
      </p:sp>
      <p:sp>
        <p:nvSpPr>
          <p:cNvPr id="3" name="Subtitle 2">
            <a:extLst>
              <a:ext uri="{FF2B5EF4-FFF2-40B4-BE49-F238E27FC236}">
                <a16:creationId xmlns:a16="http://schemas.microsoft.com/office/drawing/2014/main" id="{F0304AE8-D32B-6417-DD03-2DE42EFD49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VN"/>
          </a:p>
        </p:txBody>
      </p:sp>
      <p:sp>
        <p:nvSpPr>
          <p:cNvPr id="4" name="Date Placeholder 3">
            <a:extLst>
              <a:ext uri="{FF2B5EF4-FFF2-40B4-BE49-F238E27FC236}">
                <a16:creationId xmlns:a16="http://schemas.microsoft.com/office/drawing/2014/main" id="{CB673DA8-D3B0-BB9F-FE13-282DFCA99BD8}"/>
              </a:ext>
            </a:extLst>
          </p:cNvPr>
          <p:cNvSpPr>
            <a:spLocks noGrp="1"/>
          </p:cNvSpPr>
          <p:nvPr>
            <p:ph type="dt" sz="half" idx="10"/>
          </p:nvPr>
        </p:nvSpPr>
        <p:spPr/>
        <p:txBody>
          <a:bodyPr/>
          <a:lstStyle/>
          <a:p>
            <a:fld id="{93D19106-D98E-7943-983A-C1663ED3223F}" type="datetimeFigureOut">
              <a:rPr lang="en-VN" smtClean="0"/>
              <a:t>8/4/25</a:t>
            </a:fld>
            <a:endParaRPr lang="en-VN"/>
          </a:p>
        </p:txBody>
      </p:sp>
      <p:sp>
        <p:nvSpPr>
          <p:cNvPr id="5" name="Footer Placeholder 4">
            <a:extLst>
              <a:ext uri="{FF2B5EF4-FFF2-40B4-BE49-F238E27FC236}">
                <a16:creationId xmlns:a16="http://schemas.microsoft.com/office/drawing/2014/main" id="{DBC7CDE7-58A1-9CCA-D4F0-7853361A0E9C}"/>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F3F605CC-447D-8BB6-1FA3-4A120FD43FC2}"/>
              </a:ext>
            </a:extLst>
          </p:cNvPr>
          <p:cNvSpPr>
            <a:spLocks noGrp="1"/>
          </p:cNvSpPr>
          <p:nvPr>
            <p:ph type="sldNum" sz="quarter" idx="12"/>
          </p:nvPr>
        </p:nvSpPr>
        <p:spPr/>
        <p:txBody>
          <a:bodyPr/>
          <a:lstStyle/>
          <a:p>
            <a:fld id="{EE63316F-49AB-544B-9C2F-A27CF3A0A2EC}" type="slidenum">
              <a:rPr lang="en-VN" smtClean="0"/>
              <a:t>‹#›</a:t>
            </a:fld>
            <a:endParaRPr lang="en-VN"/>
          </a:p>
        </p:txBody>
      </p:sp>
    </p:spTree>
    <p:extLst>
      <p:ext uri="{BB962C8B-B14F-4D97-AF65-F5344CB8AC3E}">
        <p14:creationId xmlns:p14="http://schemas.microsoft.com/office/powerpoint/2010/main" val="3152713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AD82F-321B-581B-E1EF-0940A5D94393}"/>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B2E883CA-660F-F290-AF2F-1E88C7F017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D930FA34-8D5D-954C-AEE5-8F61499BD9DD}"/>
              </a:ext>
            </a:extLst>
          </p:cNvPr>
          <p:cNvSpPr>
            <a:spLocks noGrp="1"/>
          </p:cNvSpPr>
          <p:nvPr>
            <p:ph type="dt" sz="half" idx="10"/>
          </p:nvPr>
        </p:nvSpPr>
        <p:spPr/>
        <p:txBody>
          <a:bodyPr/>
          <a:lstStyle/>
          <a:p>
            <a:fld id="{93D19106-D98E-7943-983A-C1663ED3223F}" type="datetimeFigureOut">
              <a:rPr lang="en-VN" smtClean="0"/>
              <a:t>8/4/25</a:t>
            </a:fld>
            <a:endParaRPr lang="en-VN"/>
          </a:p>
        </p:txBody>
      </p:sp>
      <p:sp>
        <p:nvSpPr>
          <p:cNvPr id="5" name="Footer Placeholder 4">
            <a:extLst>
              <a:ext uri="{FF2B5EF4-FFF2-40B4-BE49-F238E27FC236}">
                <a16:creationId xmlns:a16="http://schemas.microsoft.com/office/drawing/2014/main" id="{F5DCE025-C945-A86C-5BB6-85FB3B4E5BA8}"/>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C942E1F4-A6E4-7BC5-D2A4-F1912DD7D6B0}"/>
              </a:ext>
            </a:extLst>
          </p:cNvPr>
          <p:cNvSpPr>
            <a:spLocks noGrp="1"/>
          </p:cNvSpPr>
          <p:nvPr>
            <p:ph type="sldNum" sz="quarter" idx="12"/>
          </p:nvPr>
        </p:nvSpPr>
        <p:spPr/>
        <p:txBody>
          <a:bodyPr/>
          <a:lstStyle/>
          <a:p>
            <a:fld id="{EE63316F-49AB-544B-9C2F-A27CF3A0A2EC}" type="slidenum">
              <a:rPr lang="en-VN" smtClean="0"/>
              <a:t>‹#›</a:t>
            </a:fld>
            <a:endParaRPr lang="en-VN"/>
          </a:p>
        </p:txBody>
      </p:sp>
    </p:spTree>
    <p:extLst>
      <p:ext uri="{BB962C8B-B14F-4D97-AF65-F5344CB8AC3E}">
        <p14:creationId xmlns:p14="http://schemas.microsoft.com/office/powerpoint/2010/main" val="2488908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BE294-203B-7FF8-8EAE-025EA8DFF2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VN"/>
          </a:p>
        </p:txBody>
      </p:sp>
      <p:sp>
        <p:nvSpPr>
          <p:cNvPr id="3" name="Text Placeholder 2">
            <a:extLst>
              <a:ext uri="{FF2B5EF4-FFF2-40B4-BE49-F238E27FC236}">
                <a16:creationId xmlns:a16="http://schemas.microsoft.com/office/drawing/2014/main" id="{BD4844B8-75F0-B051-A2E3-681A5991A6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020586-C911-C7DC-34E8-DD02E0B07FB5}"/>
              </a:ext>
            </a:extLst>
          </p:cNvPr>
          <p:cNvSpPr>
            <a:spLocks noGrp="1"/>
          </p:cNvSpPr>
          <p:nvPr>
            <p:ph type="dt" sz="half" idx="10"/>
          </p:nvPr>
        </p:nvSpPr>
        <p:spPr/>
        <p:txBody>
          <a:bodyPr/>
          <a:lstStyle/>
          <a:p>
            <a:fld id="{93D19106-D98E-7943-983A-C1663ED3223F}" type="datetimeFigureOut">
              <a:rPr lang="en-VN" smtClean="0"/>
              <a:t>8/4/25</a:t>
            </a:fld>
            <a:endParaRPr lang="en-VN"/>
          </a:p>
        </p:txBody>
      </p:sp>
      <p:sp>
        <p:nvSpPr>
          <p:cNvPr id="5" name="Footer Placeholder 4">
            <a:extLst>
              <a:ext uri="{FF2B5EF4-FFF2-40B4-BE49-F238E27FC236}">
                <a16:creationId xmlns:a16="http://schemas.microsoft.com/office/drawing/2014/main" id="{13AA7EA5-2AC7-A48C-9384-576BCC94D618}"/>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60A05462-A52A-968F-553A-86B60CB60120}"/>
              </a:ext>
            </a:extLst>
          </p:cNvPr>
          <p:cNvSpPr>
            <a:spLocks noGrp="1"/>
          </p:cNvSpPr>
          <p:nvPr>
            <p:ph type="sldNum" sz="quarter" idx="12"/>
          </p:nvPr>
        </p:nvSpPr>
        <p:spPr/>
        <p:txBody>
          <a:bodyPr/>
          <a:lstStyle/>
          <a:p>
            <a:fld id="{EE63316F-49AB-544B-9C2F-A27CF3A0A2EC}" type="slidenum">
              <a:rPr lang="en-VN" smtClean="0"/>
              <a:t>‹#›</a:t>
            </a:fld>
            <a:endParaRPr lang="en-VN"/>
          </a:p>
        </p:txBody>
      </p:sp>
    </p:spTree>
    <p:extLst>
      <p:ext uri="{BB962C8B-B14F-4D97-AF65-F5344CB8AC3E}">
        <p14:creationId xmlns:p14="http://schemas.microsoft.com/office/powerpoint/2010/main" val="4160516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71E18-E9DC-13E4-D00D-9B4532C41BAA}"/>
              </a:ext>
            </a:extLst>
          </p:cNvPr>
          <p:cNvSpPr>
            <a:spLocks noGrp="1"/>
          </p:cNvSpPr>
          <p:nvPr>
            <p:ph type="title"/>
          </p:nvPr>
        </p:nvSpPr>
        <p:spPr/>
        <p:txBody>
          <a:bodyPr/>
          <a:lstStyle/>
          <a:p>
            <a:r>
              <a:rPr lang="en-US"/>
              <a:t>Click to edit Master title style</a:t>
            </a:r>
            <a:endParaRPr lang="en-VN"/>
          </a:p>
        </p:txBody>
      </p:sp>
      <p:sp>
        <p:nvSpPr>
          <p:cNvPr id="3" name="Content Placeholder 2">
            <a:extLst>
              <a:ext uri="{FF2B5EF4-FFF2-40B4-BE49-F238E27FC236}">
                <a16:creationId xmlns:a16="http://schemas.microsoft.com/office/drawing/2014/main" id="{02B6CD4B-37AC-243A-E939-6CC6E50753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Content Placeholder 3">
            <a:extLst>
              <a:ext uri="{FF2B5EF4-FFF2-40B4-BE49-F238E27FC236}">
                <a16:creationId xmlns:a16="http://schemas.microsoft.com/office/drawing/2014/main" id="{CF140E87-7E53-96A0-5CCB-D31140FC39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Date Placeholder 4">
            <a:extLst>
              <a:ext uri="{FF2B5EF4-FFF2-40B4-BE49-F238E27FC236}">
                <a16:creationId xmlns:a16="http://schemas.microsoft.com/office/drawing/2014/main" id="{98BFA6CF-ECD4-2D59-8AE4-3D415CDFB58F}"/>
              </a:ext>
            </a:extLst>
          </p:cNvPr>
          <p:cNvSpPr>
            <a:spLocks noGrp="1"/>
          </p:cNvSpPr>
          <p:nvPr>
            <p:ph type="dt" sz="half" idx="10"/>
          </p:nvPr>
        </p:nvSpPr>
        <p:spPr/>
        <p:txBody>
          <a:bodyPr/>
          <a:lstStyle/>
          <a:p>
            <a:fld id="{93D19106-D98E-7943-983A-C1663ED3223F}" type="datetimeFigureOut">
              <a:rPr lang="en-VN" smtClean="0"/>
              <a:t>8/4/25</a:t>
            </a:fld>
            <a:endParaRPr lang="en-VN"/>
          </a:p>
        </p:txBody>
      </p:sp>
      <p:sp>
        <p:nvSpPr>
          <p:cNvPr id="6" name="Footer Placeholder 5">
            <a:extLst>
              <a:ext uri="{FF2B5EF4-FFF2-40B4-BE49-F238E27FC236}">
                <a16:creationId xmlns:a16="http://schemas.microsoft.com/office/drawing/2014/main" id="{0ECF1294-A6B3-AA44-6ECD-A1C3FA5464A5}"/>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8AE73BFE-5C96-8F8E-A0F8-2E5B198856E8}"/>
              </a:ext>
            </a:extLst>
          </p:cNvPr>
          <p:cNvSpPr>
            <a:spLocks noGrp="1"/>
          </p:cNvSpPr>
          <p:nvPr>
            <p:ph type="sldNum" sz="quarter" idx="12"/>
          </p:nvPr>
        </p:nvSpPr>
        <p:spPr/>
        <p:txBody>
          <a:bodyPr/>
          <a:lstStyle/>
          <a:p>
            <a:fld id="{EE63316F-49AB-544B-9C2F-A27CF3A0A2EC}" type="slidenum">
              <a:rPr lang="en-VN" smtClean="0"/>
              <a:t>‹#›</a:t>
            </a:fld>
            <a:endParaRPr lang="en-VN"/>
          </a:p>
        </p:txBody>
      </p:sp>
    </p:spTree>
    <p:extLst>
      <p:ext uri="{BB962C8B-B14F-4D97-AF65-F5344CB8AC3E}">
        <p14:creationId xmlns:p14="http://schemas.microsoft.com/office/powerpoint/2010/main" val="1247211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1B331-3B99-D455-5704-3B4CF5998ADE}"/>
              </a:ext>
            </a:extLst>
          </p:cNvPr>
          <p:cNvSpPr>
            <a:spLocks noGrp="1"/>
          </p:cNvSpPr>
          <p:nvPr>
            <p:ph type="title"/>
          </p:nvPr>
        </p:nvSpPr>
        <p:spPr>
          <a:xfrm>
            <a:off x="839788" y="365125"/>
            <a:ext cx="10515600" cy="1325563"/>
          </a:xfrm>
        </p:spPr>
        <p:txBody>
          <a:bodyPr/>
          <a:lstStyle/>
          <a:p>
            <a:r>
              <a:rPr lang="en-US"/>
              <a:t>Click to edit Master title style</a:t>
            </a:r>
            <a:endParaRPr lang="en-VN"/>
          </a:p>
        </p:txBody>
      </p:sp>
      <p:sp>
        <p:nvSpPr>
          <p:cNvPr id="3" name="Text Placeholder 2">
            <a:extLst>
              <a:ext uri="{FF2B5EF4-FFF2-40B4-BE49-F238E27FC236}">
                <a16:creationId xmlns:a16="http://schemas.microsoft.com/office/drawing/2014/main" id="{C7858104-0A8B-2F69-6F4E-36908FBCD1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844BBC-27CF-A65B-2AA8-03D94546CE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5" name="Text Placeholder 4">
            <a:extLst>
              <a:ext uri="{FF2B5EF4-FFF2-40B4-BE49-F238E27FC236}">
                <a16:creationId xmlns:a16="http://schemas.microsoft.com/office/drawing/2014/main" id="{C31DA580-9EC3-C5DD-8BB6-1F39C041C5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2E0DD1C-F8DA-7C97-63E5-9CEBB6C3E2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7" name="Date Placeholder 6">
            <a:extLst>
              <a:ext uri="{FF2B5EF4-FFF2-40B4-BE49-F238E27FC236}">
                <a16:creationId xmlns:a16="http://schemas.microsoft.com/office/drawing/2014/main" id="{7E5C9036-FDD2-230F-9EA4-8B26ED40C579}"/>
              </a:ext>
            </a:extLst>
          </p:cNvPr>
          <p:cNvSpPr>
            <a:spLocks noGrp="1"/>
          </p:cNvSpPr>
          <p:nvPr>
            <p:ph type="dt" sz="half" idx="10"/>
          </p:nvPr>
        </p:nvSpPr>
        <p:spPr/>
        <p:txBody>
          <a:bodyPr/>
          <a:lstStyle/>
          <a:p>
            <a:fld id="{93D19106-D98E-7943-983A-C1663ED3223F}" type="datetimeFigureOut">
              <a:rPr lang="en-VN" smtClean="0"/>
              <a:t>8/4/25</a:t>
            </a:fld>
            <a:endParaRPr lang="en-VN"/>
          </a:p>
        </p:txBody>
      </p:sp>
      <p:sp>
        <p:nvSpPr>
          <p:cNvPr id="8" name="Footer Placeholder 7">
            <a:extLst>
              <a:ext uri="{FF2B5EF4-FFF2-40B4-BE49-F238E27FC236}">
                <a16:creationId xmlns:a16="http://schemas.microsoft.com/office/drawing/2014/main" id="{3C7950D6-B796-78FF-8C94-A02BFAED69BF}"/>
              </a:ext>
            </a:extLst>
          </p:cNvPr>
          <p:cNvSpPr>
            <a:spLocks noGrp="1"/>
          </p:cNvSpPr>
          <p:nvPr>
            <p:ph type="ftr" sz="quarter" idx="11"/>
          </p:nvPr>
        </p:nvSpPr>
        <p:spPr/>
        <p:txBody>
          <a:bodyPr/>
          <a:lstStyle/>
          <a:p>
            <a:endParaRPr lang="en-VN"/>
          </a:p>
        </p:txBody>
      </p:sp>
      <p:sp>
        <p:nvSpPr>
          <p:cNvPr id="9" name="Slide Number Placeholder 8">
            <a:extLst>
              <a:ext uri="{FF2B5EF4-FFF2-40B4-BE49-F238E27FC236}">
                <a16:creationId xmlns:a16="http://schemas.microsoft.com/office/drawing/2014/main" id="{1ECE6FAD-B591-F872-FA1B-7FD304830131}"/>
              </a:ext>
            </a:extLst>
          </p:cNvPr>
          <p:cNvSpPr>
            <a:spLocks noGrp="1"/>
          </p:cNvSpPr>
          <p:nvPr>
            <p:ph type="sldNum" sz="quarter" idx="12"/>
          </p:nvPr>
        </p:nvSpPr>
        <p:spPr/>
        <p:txBody>
          <a:bodyPr/>
          <a:lstStyle/>
          <a:p>
            <a:fld id="{EE63316F-49AB-544B-9C2F-A27CF3A0A2EC}" type="slidenum">
              <a:rPr lang="en-VN" smtClean="0"/>
              <a:t>‹#›</a:t>
            </a:fld>
            <a:endParaRPr lang="en-VN"/>
          </a:p>
        </p:txBody>
      </p:sp>
    </p:spTree>
    <p:extLst>
      <p:ext uri="{BB962C8B-B14F-4D97-AF65-F5344CB8AC3E}">
        <p14:creationId xmlns:p14="http://schemas.microsoft.com/office/powerpoint/2010/main" val="3121430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6E573-9389-20A6-29F2-B2EE07CDB0A3}"/>
              </a:ext>
            </a:extLst>
          </p:cNvPr>
          <p:cNvSpPr>
            <a:spLocks noGrp="1"/>
          </p:cNvSpPr>
          <p:nvPr>
            <p:ph type="title"/>
          </p:nvPr>
        </p:nvSpPr>
        <p:spPr/>
        <p:txBody>
          <a:bodyPr/>
          <a:lstStyle/>
          <a:p>
            <a:r>
              <a:rPr lang="en-US"/>
              <a:t>Click to edit Master title style</a:t>
            </a:r>
            <a:endParaRPr lang="en-VN"/>
          </a:p>
        </p:txBody>
      </p:sp>
      <p:sp>
        <p:nvSpPr>
          <p:cNvPr id="3" name="Date Placeholder 2">
            <a:extLst>
              <a:ext uri="{FF2B5EF4-FFF2-40B4-BE49-F238E27FC236}">
                <a16:creationId xmlns:a16="http://schemas.microsoft.com/office/drawing/2014/main" id="{BC019BD1-418F-C3B4-16F8-EB071CE64A41}"/>
              </a:ext>
            </a:extLst>
          </p:cNvPr>
          <p:cNvSpPr>
            <a:spLocks noGrp="1"/>
          </p:cNvSpPr>
          <p:nvPr>
            <p:ph type="dt" sz="half" idx="10"/>
          </p:nvPr>
        </p:nvSpPr>
        <p:spPr/>
        <p:txBody>
          <a:bodyPr/>
          <a:lstStyle/>
          <a:p>
            <a:fld id="{93D19106-D98E-7943-983A-C1663ED3223F}" type="datetimeFigureOut">
              <a:rPr lang="en-VN" smtClean="0"/>
              <a:t>8/4/25</a:t>
            </a:fld>
            <a:endParaRPr lang="en-VN"/>
          </a:p>
        </p:txBody>
      </p:sp>
      <p:sp>
        <p:nvSpPr>
          <p:cNvPr id="4" name="Footer Placeholder 3">
            <a:extLst>
              <a:ext uri="{FF2B5EF4-FFF2-40B4-BE49-F238E27FC236}">
                <a16:creationId xmlns:a16="http://schemas.microsoft.com/office/drawing/2014/main" id="{5077EEED-FBCE-3202-265B-D18AAE8A0D07}"/>
              </a:ext>
            </a:extLst>
          </p:cNvPr>
          <p:cNvSpPr>
            <a:spLocks noGrp="1"/>
          </p:cNvSpPr>
          <p:nvPr>
            <p:ph type="ftr" sz="quarter" idx="11"/>
          </p:nvPr>
        </p:nvSpPr>
        <p:spPr/>
        <p:txBody>
          <a:bodyPr/>
          <a:lstStyle/>
          <a:p>
            <a:endParaRPr lang="en-VN"/>
          </a:p>
        </p:txBody>
      </p:sp>
      <p:sp>
        <p:nvSpPr>
          <p:cNvPr id="5" name="Slide Number Placeholder 4">
            <a:extLst>
              <a:ext uri="{FF2B5EF4-FFF2-40B4-BE49-F238E27FC236}">
                <a16:creationId xmlns:a16="http://schemas.microsoft.com/office/drawing/2014/main" id="{0F8E30B9-D853-1C9A-54BF-2871AC8DE1F1}"/>
              </a:ext>
            </a:extLst>
          </p:cNvPr>
          <p:cNvSpPr>
            <a:spLocks noGrp="1"/>
          </p:cNvSpPr>
          <p:nvPr>
            <p:ph type="sldNum" sz="quarter" idx="12"/>
          </p:nvPr>
        </p:nvSpPr>
        <p:spPr/>
        <p:txBody>
          <a:bodyPr/>
          <a:lstStyle/>
          <a:p>
            <a:fld id="{EE63316F-49AB-544B-9C2F-A27CF3A0A2EC}" type="slidenum">
              <a:rPr lang="en-VN" smtClean="0"/>
              <a:t>‹#›</a:t>
            </a:fld>
            <a:endParaRPr lang="en-VN"/>
          </a:p>
        </p:txBody>
      </p:sp>
    </p:spTree>
    <p:extLst>
      <p:ext uri="{BB962C8B-B14F-4D97-AF65-F5344CB8AC3E}">
        <p14:creationId xmlns:p14="http://schemas.microsoft.com/office/powerpoint/2010/main" val="2007825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6A8ECF-64EA-6451-EC38-B40FC4E729D4}"/>
              </a:ext>
            </a:extLst>
          </p:cNvPr>
          <p:cNvSpPr>
            <a:spLocks noGrp="1"/>
          </p:cNvSpPr>
          <p:nvPr>
            <p:ph type="dt" sz="half" idx="10"/>
          </p:nvPr>
        </p:nvSpPr>
        <p:spPr/>
        <p:txBody>
          <a:bodyPr/>
          <a:lstStyle/>
          <a:p>
            <a:fld id="{93D19106-D98E-7943-983A-C1663ED3223F}" type="datetimeFigureOut">
              <a:rPr lang="en-VN" smtClean="0"/>
              <a:t>8/4/25</a:t>
            </a:fld>
            <a:endParaRPr lang="en-VN"/>
          </a:p>
        </p:txBody>
      </p:sp>
      <p:sp>
        <p:nvSpPr>
          <p:cNvPr id="3" name="Footer Placeholder 2">
            <a:extLst>
              <a:ext uri="{FF2B5EF4-FFF2-40B4-BE49-F238E27FC236}">
                <a16:creationId xmlns:a16="http://schemas.microsoft.com/office/drawing/2014/main" id="{CD8A8F49-22FE-3885-8465-537DABD2657E}"/>
              </a:ext>
            </a:extLst>
          </p:cNvPr>
          <p:cNvSpPr>
            <a:spLocks noGrp="1"/>
          </p:cNvSpPr>
          <p:nvPr>
            <p:ph type="ftr" sz="quarter" idx="11"/>
          </p:nvPr>
        </p:nvSpPr>
        <p:spPr/>
        <p:txBody>
          <a:bodyPr/>
          <a:lstStyle/>
          <a:p>
            <a:endParaRPr lang="en-VN"/>
          </a:p>
        </p:txBody>
      </p:sp>
      <p:sp>
        <p:nvSpPr>
          <p:cNvPr id="4" name="Slide Number Placeholder 3">
            <a:extLst>
              <a:ext uri="{FF2B5EF4-FFF2-40B4-BE49-F238E27FC236}">
                <a16:creationId xmlns:a16="http://schemas.microsoft.com/office/drawing/2014/main" id="{89BA677F-C9AF-C84A-DB5F-2777CE0CC92C}"/>
              </a:ext>
            </a:extLst>
          </p:cNvPr>
          <p:cNvSpPr>
            <a:spLocks noGrp="1"/>
          </p:cNvSpPr>
          <p:nvPr>
            <p:ph type="sldNum" sz="quarter" idx="12"/>
          </p:nvPr>
        </p:nvSpPr>
        <p:spPr/>
        <p:txBody>
          <a:bodyPr/>
          <a:lstStyle/>
          <a:p>
            <a:fld id="{EE63316F-49AB-544B-9C2F-A27CF3A0A2EC}" type="slidenum">
              <a:rPr lang="en-VN" smtClean="0"/>
              <a:t>‹#›</a:t>
            </a:fld>
            <a:endParaRPr lang="en-VN"/>
          </a:p>
        </p:txBody>
      </p:sp>
    </p:spTree>
    <p:extLst>
      <p:ext uri="{BB962C8B-B14F-4D97-AF65-F5344CB8AC3E}">
        <p14:creationId xmlns:p14="http://schemas.microsoft.com/office/powerpoint/2010/main" val="2725060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8B969-C28B-1434-9E50-EA1B97EA4B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Content Placeholder 2">
            <a:extLst>
              <a:ext uri="{FF2B5EF4-FFF2-40B4-BE49-F238E27FC236}">
                <a16:creationId xmlns:a16="http://schemas.microsoft.com/office/drawing/2014/main" id="{86F467A7-82DD-877E-FD7F-898130C68A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Text Placeholder 3">
            <a:extLst>
              <a:ext uri="{FF2B5EF4-FFF2-40B4-BE49-F238E27FC236}">
                <a16:creationId xmlns:a16="http://schemas.microsoft.com/office/drawing/2014/main" id="{C6C17E53-CC53-93BB-2BC9-0B4FC85096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7A8265-3556-4191-D154-026B76BF3713}"/>
              </a:ext>
            </a:extLst>
          </p:cNvPr>
          <p:cNvSpPr>
            <a:spLocks noGrp="1"/>
          </p:cNvSpPr>
          <p:nvPr>
            <p:ph type="dt" sz="half" idx="10"/>
          </p:nvPr>
        </p:nvSpPr>
        <p:spPr/>
        <p:txBody>
          <a:bodyPr/>
          <a:lstStyle/>
          <a:p>
            <a:fld id="{93D19106-D98E-7943-983A-C1663ED3223F}" type="datetimeFigureOut">
              <a:rPr lang="en-VN" smtClean="0"/>
              <a:t>8/4/25</a:t>
            </a:fld>
            <a:endParaRPr lang="en-VN"/>
          </a:p>
        </p:txBody>
      </p:sp>
      <p:sp>
        <p:nvSpPr>
          <p:cNvPr id="6" name="Footer Placeholder 5">
            <a:extLst>
              <a:ext uri="{FF2B5EF4-FFF2-40B4-BE49-F238E27FC236}">
                <a16:creationId xmlns:a16="http://schemas.microsoft.com/office/drawing/2014/main" id="{2477E495-6054-0EF1-9D5A-F5D2FBE9D410}"/>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4136463A-1087-E374-A7DB-ACBCC4FB5346}"/>
              </a:ext>
            </a:extLst>
          </p:cNvPr>
          <p:cNvSpPr>
            <a:spLocks noGrp="1"/>
          </p:cNvSpPr>
          <p:nvPr>
            <p:ph type="sldNum" sz="quarter" idx="12"/>
          </p:nvPr>
        </p:nvSpPr>
        <p:spPr/>
        <p:txBody>
          <a:bodyPr/>
          <a:lstStyle/>
          <a:p>
            <a:fld id="{EE63316F-49AB-544B-9C2F-A27CF3A0A2EC}" type="slidenum">
              <a:rPr lang="en-VN" smtClean="0"/>
              <a:t>‹#›</a:t>
            </a:fld>
            <a:endParaRPr lang="en-VN"/>
          </a:p>
        </p:txBody>
      </p:sp>
    </p:spTree>
    <p:extLst>
      <p:ext uri="{BB962C8B-B14F-4D97-AF65-F5344CB8AC3E}">
        <p14:creationId xmlns:p14="http://schemas.microsoft.com/office/powerpoint/2010/main" val="1612641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9D784-DE27-EBBF-8131-2071060FD7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VN"/>
          </a:p>
        </p:txBody>
      </p:sp>
      <p:sp>
        <p:nvSpPr>
          <p:cNvPr id="3" name="Picture Placeholder 2">
            <a:extLst>
              <a:ext uri="{FF2B5EF4-FFF2-40B4-BE49-F238E27FC236}">
                <a16:creationId xmlns:a16="http://schemas.microsoft.com/office/drawing/2014/main" id="{3C445264-BC35-EC73-8FB2-C7A974EB13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VN"/>
          </a:p>
        </p:txBody>
      </p:sp>
      <p:sp>
        <p:nvSpPr>
          <p:cNvPr id="4" name="Text Placeholder 3">
            <a:extLst>
              <a:ext uri="{FF2B5EF4-FFF2-40B4-BE49-F238E27FC236}">
                <a16:creationId xmlns:a16="http://schemas.microsoft.com/office/drawing/2014/main" id="{40839511-AFCC-0D7B-422B-BC3FB4CD70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E3281-8635-EC80-C3B8-8F86E8F47987}"/>
              </a:ext>
            </a:extLst>
          </p:cNvPr>
          <p:cNvSpPr>
            <a:spLocks noGrp="1"/>
          </p:cNvSpPr>
          <p:nvPr>
            <p:ph type="dt" sz="half" idx="10"/>
          </p:nvPr>
        </p:nvSpPr>
        <p:spPr/>
        <p:txBody>
          <a:bodyPr/>
          <a:lstStyle/>
          <a:p>
            <a:fld id="{93D19106-D98E-7943-983A-C1663ED3223F}" type="datetimeFigureOut">
              <a:rPr lang="en-VN" smtClean="0"/>
              <a:t>8/4/25</a:t>
            </a:fld>
            <a:endParaRPr lang="en-VN"/>
          </a:p>
        </p:txBody>
      </p:sp>
      <p:sp>
        <p:nvSpPr>
          <p:cNvPr id="6" name="Footer Placeholder 5">
            <a:extLst>
              <a:ext uri="{FF2B5EF4-FFF2-40B4-BE49-F238E27FC236}">
                <a16:creationId xmlns:a16="http://schemas.microsoft.com/office/drawing/2014/main" id="{8DD643FE-7913-6F1B-CEA5-D8CB8AFFDAB4}"/>
              </a:ext>
            </a:extLst>
          </p:cNvPr>
          <p:cNvSpPr>
            <a:spLocks noGrp="1"/>
          </p:cNvSpPr>
          <p:nvPr>
            <p:ph type="ftr" sz="quarter" idx="11"/>
          </p:nvPr>
        </p:nvSpPr>
        <p:spPr/>
        <p:txBody>
          <a:bodyPr/>
          <a:lstStyle/>
          <a:p>
            <a:endParaRPr lang="en-VN"/>
          </a:p>
        </p:txBody>
      </p:sp>
      <p:sp>
        <p:nvSpPr>
          <p:cNvPr id="7" name="Slide Number Placeholder 6">
            <a:extLst>
              <a:ext uri="{FF2B5EF4-FFF2-40B4-BE49-F238E27FC236}">
                <a16:creationId xmlns:a16="http://schemas.microsoft.com/office/drawing/2014/main" id="{ECEC6AE1-5692-8ABB-089E-A0D48B749CAC}"/>
              </a:ext>
            </a:extLst>
          </p:cNvPr>
          <p:cNvSpPr>
            <a:spLocks noGrp="1"/>
          </p:cNvSpPr>
          <p:nvPr>
            <p:ph type="sldNum" sz="quarter" idx="12"/>
          </p:nvPr>
        </p:nvSpPr>
        <p:spPr/>
        <p:txBody>
          <a:bodyPr/>
          <a:lstStyle/>
          <a:p>
            <a:fld id="{EE63316F-49AB-544B-9C2F-A27CF3A0A2EC}" type="slidenum">
              <a:rPr lang="en-VN" smtClean="0"/>
              <a:t>‹#›</a:t>
            </a:fld>
            <a:endParaRPr lang="en-VN"/>
          </a:p>
        </p:txBody>
      </p:sp>
    </p:spTree>
    <p:extLst>
      <p:ext uri="{BB962C8B-B14F-4D97-AF65-F5344CB8AC3E}">
        <p14:creationId xmlns:p14="http://schemas.microsoft.com/office/powerpoint/2010/main" val="407138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DC46F-619A-26F4-1A66-7E9D7F97EADA}"/>
              </a:ext>
            </a:extLst>
          </p:cNvPr>
          <p:cNvSpPr>
            <a:spLocks noGrp="1"/>
          </p:cNvSpPr>
          <p:nvPr>
            <p:ph type="title"/>
          </p:nvPr>
        </p:nvSpPr>
        <p:spPr/>
        <p:txBody>
          <a:bodyPr/>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B9E0F199-FE40-E465-ADBE-6FD0179CAA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125EF6D8-FB97-2885-9289-117662CB0F34}"/>
              </a:ext>
            </a:extLst>
          </p:cNvPr>
          <p:cNvSpPr>
            <a:spLocks noGrp="1"/>
          </p:cNvSpPr>
          <p:nvPr>
            <p:ph type="dt" sz="half" idx="10"/>
          </p:nvPr>
        </p:nvSpPr>
        <p:spPr/>
        <p:txBody>
          <a:bodyPr/>
          <a:lstStyle/>
          <a:p>
            <a:fld id="{93D19106-D98E-7943-983A-C1663ED3223F}" type="datetimeFigureOut">
              <a:rPr lang="en-VN" smtClean="0"/>
              <a:t>8/4/25</a:t>
            </a:fld>
            <a:endParaRPr lang="en-VN"/>
          </a:p>
        </p:txBody>
      </p:sp>
      <p:sp>
        <p:nvSpPr>
          <p:cNvPr id="5" name="Footer Placeholder 4">
            <a:extLst>
              <a:ext uri="{FF2B5EF4-FFF2-40B4-BE49-F238E27FC236}">
                <a16:creationId xmlns:a16="http://schemas.microsoft.com/office/drawing/2014/main" id="{111A78BC-A4DB-DA75-9283-B5053F421171}"/>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98BB9310-A6AB-DCCC-6EE1-7A0BF1BB8379}"/>
              </a:ext>
            </a:extLst>
          </p:cNvPr>
          <p:cNvSpPr>
            <a:spLocks noGrp="1"/>
          </p:cNvSpPr>
          <p:nvPr>
            <p:ph type="sldNum" sz="quarter" idx="12"/>
          </p:nvPr>
        </p:nvSpPr>
        <p:spPr/>
        <p:txBody>
          <a:bodyPr/>
          <a:lstStyle/>
          <a:p>
            <a:fld id="{EE63316F-49AB-544B-9C2F-A27CF3A0A2EC}" type="slidenum">
              <a:rPr lang="en-VN" smtClean="0"/>
              <a:t>‹#›</a:t>
            </a:fld>
            <a:endParaRPr lang="en-VN"/>
          </a:p>
        </p:txBody>
      </p:sp>
    </p:spTree>
    <p:extLst>
      <p:ext uri="{BB962C8B-B14F-4D97-AF65-F5344CB8AC3E}">
        <p14:creationId xmlns:p14="http://schemas.microsoft.com/office/powerpoint/2010/main" val="283048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FFA98F-C4CD-0255-E486-E16F64C8C70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VN"/>
          </a:p>
        </p:txBody>
      </p:sp>
      <p:sp>
        <p:nvSpPr>
          <p:cNvPr id="3" name="Vertical Text Placeholder 2">
            <a:extLst>
              <a:ext uri="{FF2B5EF4-FFF2-40B4-BE49-F238E27FC236}">
                <a16:creationId xmlns:a16="http://schemas.microsoft.com/office/drawing/2014/main" id="{8CACB97C-BF27-7080-6081-6672EA8FA3E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4CDB71ED-16CD-F9FF-2204-C5ADC9D39B43}"/>
              </a:ext>
            </a:extLst>
          </p:cNvPr>
          <p:cNvSpPr>
            <a:spLocks noGrp="1"/>
          </p:cNvSpPr>
          <p:nvPr>
            <p:ph type="dt" sz="half" idx="10"/>
          </p:nvPr>
        </p:nvSpPr>
        <p:spPr/>
        <p:txBody>
          <a:bodyPr/>
          <a:lstStyle/>
          <a:p>
            <a:fld id="{93D19106-D98E-7943-983A-C1663ED3223F}" type="datetimeFigureOut">
              <a:rPr lang="en-VN" smtClean="0"/>
              <a:t>8/4/25</a:t>
            </a:fld>
            <a:endParaRPr lang="en-VN"/>
          </a:p>
        </p:txBody>
      </p:sp>
      <p:sp>
        <p:nvSpPr>
          <p:cNvPr id="5" name="Footer Placeholder 4">
            <a:extLst>
              <a:ext uri="{FF2B5EF4-FFF2-40B4-BE49-F238E27FC236}">
                <a16:creationId xmlns:a16="http://schemas.microsoft.com/office/drawing/2014/main" id="{C838C216-61DC-0F52-643F-2D09D725EDF8}"/>
              </a:ext>
            </a:extLst>
          </p:cNvPr>
          <p:cNvSpPr>
            <a:spLocks noGrp="1"/>
          </p:cNvSpPr>
          <p:nvPr>
            <p:ph type="ftr" sz="quarter" idx="11"/>
          </p:nvPr>
        </p:nvSpPr>
        <p:spPr/>
        <p:txBody>
          <a:bodyPr/>
          <a:lstStyle/>
          <a:p>
            <a:endParaRPr lang="en-VN"/>
          </a:p>
        </p:txBody>
      </p:sp>
      <p:sp>
        <p:nvSpPr>
          <p:cNvPr id="6" name="Slide Number Placeholder 5">
            <a:extLst>
              <a:ext uri="{FF2B5EF4-FFF2-40B4-BE49-F238E27FC236}">
                <a16:creationId xmlns:a16="http://schemas.microsoft.com/office/drawing/2014/main" id="{D782AC40-6CAE-63A8-112F-29AEAE15DEE3}"/>
              </a:ext>
            </a:extLst>
          </p:cNvPr>
          <p:cNvSpPr>
            <a:spLocks noGrp="1"/>
          </p:cNvSpPr>
          <p:nvPr>
            <p:ph type="sldNum" sz="quarter" idx="12"/>
          </p:nvPr>
        </p:nvSpPr>
        <p:spPr/>
        <p:txBody>
          <a:bodyPr/>
          <a:lstStyle/>
          <a:p>
            <a:fld id="{EE63316F-49AB-544B-9C2F-A27CF3A0A2EC}" type="slidenum">
              <a:rPr lang="en-VN" smtClean="0"/>
              <a:t>‹#›</a:t>
            </a:fld>
            <a:endParaRPr lang="en-VN"/>
          </a:p>
        </p:txBody>
      </p:sp>
    </p:spTree>
    <p:extLst>
      <p:ext uri="{BB962C8B-B14F-4D97-AF65-F5344CB8AC3E}">
        <p14:creationId xmlns:p14="http://schemas.microsoft.com/office/powerpoint/2010/main" val="2904816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906180-7C7E-5214-BF89-0B0F848296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1D4F12D5-640F-2CD6-4A12-F8F894466E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4FF2400-1FCC-D8E6-CE9C-6F3C949C4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D19106-D98E-7943-983A-C1663ED3223F}" type="datetimeFigureOut">
              <a:rPr lang="en-VN" smtClean="0"/>
              <a:t>8/4/25</a:t>
            </a:fld>
            <a:endParaRPr lang="en-VN"/>
          </a:p>
        </p:txBody>
      </p:sp>
      <p:sp>
        <p:nvSpPr>
          <p:cNvPr id="5" name="Footer Placeholder 4">
            <a:extLst>
              <a:ext uri="{FF2B5EF4-FFF2-40B4-BE49-F238E27FC236}">
                <a16:creationId xmlns:a16="http://schemas.microsoft.com/office/drawing/2014/main" id="{A6212162-6D4D-FA7E-6DCE-157684CDADB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VN"/>
          </a:p>
        </p:txBody>
      </p:sp>
      <p:sp>
        <p:nvSpPr>
          <p:cNvPr id="6" name="Slide Number Placeholder 5">
            <a:extLst>
              <a:ext uri="{FF2B5EF4-FFF2-40B4-BE49-F238E27FC236}">
                <a16:creationId xmlns:a16="http://schemas.microsoft.com/office/drawing/2014/main" id="{18300DB4-CFA9-A869-B17A-1BD56B25E9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63316F-49AB-544B-9C2F-A27CF3A0A2EC}" type="slidenum">
              <a:rPr lang="en-VN" smtClean="0"/>
              <a:t>‹#›</a:t>
            </a:fld>
            <a:endParaRPr lang="en-VN"/>
          </a:p>
        </p:txBody>
      </p:sp>
    </p:spTree>
    <p:extLst>
      <p:ext uri="{BB962C8B-B14F-4D97-AF65-F5344CB8AC3E}">
        <p14:creationId xmlns:p14="http://schemas.microsoft.com/office/powerpoint/2010/main" val="5761288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cdn.rts.edu/wp-content/uploads/2019/05/Purpose-of-Money.pdf" TargetMode="External"/><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4000" r="-14000"/>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B7BC66C-E2BD-954A-DCFB-C13C66672B7C}"/>
              </a:ext>
            </a:extLst>
          </p:cNvPr>
          <p:cNvSpPr/>
          <p:nvPr/>
        </p:nvSpPr>
        <p:spPr>
          <a:xfrm>
            <a:off x="0" y="285333"/>
            <a:ext cx="12401550" cy="2308324"/>
          </a:xfrm>
          <a:prstGeom prst="rect">
            <a:avLst/>
          </a:prstGeom>
          <a:noFill/>
        </p:spPr>
        <p:txBody>
          <a:bodyPr wrap="square" lIns="91440" tIns="45720" rIns="91440" bIns="45720">
            <a:spAutoFit/>
          </a:bodyPr>
          <a:lstStyle/>
          <a:p>
            <a:pPr algn="ctr"/>
            <a:r>
              <a:rPr lang="en-US" sz="7200" b="1" dirty="0">
                <a:ln w="13462">
                  <a:solidFill>
                    <a:schemeClr val="bg1"/>
                  </a:solidFill>
                  <a:prstDash val="solid"/>
                </a:ln>
                <a:solidFill>
                  <a:srgbClr val="FF0000"/>
                </a:solidFill>
                <a:effectLst>
                  <a:outerShdw dist="38100" dir="2700000" algn="bl" rotWithShape="0">
                    <a:schemeClr val="accent5"/>
                  </a:outerShdw>
                </a:effectLst>
                <a:latin typeface="Silom" pitchFamily="2" charset="-34"/>
                <a:ea typeface="Silom" pitchFamily="2" charset="-34"/>
                <a:cs typeface="Silom" pitchFamily="2" charset="-34"/>
              </a:rPr>
              <a:t>Workshop</a:t>
            </a:r>
          </a:p>
          <a:p>
            <a:pPr algn="ctr"/>
            <a:r>
              <a:rPr lang="en-US" sz="7200" b="1" dirty="0">
                <a:ln w="13462">
                  <a:solidFill>
                    <a:schemeClr val="bg1"/>
                  </a:solidFill>
                  <a:prstDash val="solid"/>
                </a:ln>
                <a:solidFill>
                  <a:srgbClr val="FF0000"/>
                </a:solidFill>
                <a:effectLst>
                  <a:outerShdw dist="38100" dir="2700000" algn="bl" rotWithShape="0">
                    <a:schemeClr val="accent5"/>
                  </a:outerShdw>
                </a:effectLst>
                <a:latin typeface="Silom" pitchFamily="2" charset="-34"/>
                <a:ea typeface="Silom" pitchFamily="2" charset="-34"/>
                <a:cs typeface="Silom" pitchFamily="2" charset="-34"/>
              </a:rPr>
              <a:t>Financial Management</a:t>
            </a:r>
          </a:p>
        </p:txBody>
      </p:sp>
    </p:spTree>
    <p:extLst>
      <p:ext uri="{BB962C8B-B14F-4D97-AF65-F5344CB8AC3E}">
        <p14:creationId xmlns:p14="http://schemas.microsoft.com/office/powerpoint/2010/main" val="1063791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oney&quot; Icon - Download for free – Iconduck">
            <a:extLst>
              <a:ext uri="{FF2B5EF4-FFF2-40B4-BE49-F238E27FC236}">
                <a16:creationId xmlns:a16="http://schemas.microsoft.com/office/drawing/2014/main" id="{E295260F-57FF-7ACF-AD9E-3C8432B1E6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443" y="835134"/>
            <a:ext cx="3371850" cy="33718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3E620CA-258C-B3D9-9DFF-6982D281952E}"/>
              </a:ext>
            </a:extLst>
          </p:cNvPr>
          <p:cNvSpPr txBox="1"/>
          <p:nvPr/>
        </p:nvSpPr>
        <p:spPr>
          <a:xfrm>
            <a:off x="4358271" y="1440057"/>
            <a:ext cx="4500656" cy="1081002"/>
          </a:xfrm>
          <a:prstGeom prst="rect">
            <a:avLst/>
          </a:prstGeom>
          <a:noFill/>
        </p:spPr>
        <p:txBody>
          <a:bodyPr wrap="none" rtlCol="0">
            <a:spAutoFit/>
          </a:bodyPr>
          <a:lstStyle/>
          <a:p>
            <a:pPr>
              <a:lnSpc>
                <a:spcPct val="150000"/>
              </a:lnSpc>
            </a:pPr>
            <a:r>
              <a:rPr lang="en-US" sz="4800" b="1" dirty="0">
                <a:effectLst/>
                <a:latin typeface="Cambria" panose="02040503050406030204" pitchFamily="18" charset="0"/>
                <a:ea typeface="Calibri" panose="020F0502020204030204" pitchFamily="34" charset="0"/>
                <a:cs typeface="Times New Roman" panose="02020603050405020304" pitchFamily="18" charset="0"/>
              </a:rPr>
              <a:t>What is money</a:t>
            </a:r>
            <a:r>
              <a:rPr lang="en-VN" sz="4800" dirty="0">
                <a:effectLst/>
              </a:rPr>
              <a:t> </a:t>
            </a:r>
            <a:endParaRPr lang="en-VN" sz="4800" dirty="0"/>
          </a:p>
        </p:txBody>
      </p:sp>
      <p:sp>
        <p:nvSpPr>
          <p:cNvPr id="5" name="TextBox 4">
            <a:extLst>
              <a:ext uri="{FF2B5EF4-FFF2-40B4-BE49-F238E27FC236}">
                <a16:creationId xmlns:a16="http://schemas.microsoft.com/office/drawing/2014/main" id="{7815C596-654F-1766-08F5-18EFEC9D77FD}"/>
              </a:ext>
            </a:extLst>
          </p:cNvPr>
          <p:cNvSpPr txBox="1"/>
          <p:nvPr/>
        </p:nvSpPr>
        <p:spPr>
          <a:xfrm>
            <a:off x="4358271" y="2521060"/>
            <a:ext cx="7253286" cy="2597699"/>
          </a:xfrm>
          <a:prstGeom prst="rect">
            <a:avLst/>
          </a:prstGeom>
          <a:noFill/>
        </p:spPr>
        <p:txBody>
          <a:bodyPr wrap="square" rtlCol="0">
            <a:spAutoFit/>
          </a:bodyPr>
          <a:lstStyle/>
          <a:p>
            <a:pPr algn="just">
              <a:lnSpc>
                <a:spcPct val="150000"/>
              </a:lnSpc>
            </a:pPr>
            <a:r>
              <a:rPr lang="vi-VN" sz="2800" dirty="0">
                <a:effectLst/>
                <a:latin typeface="Cambria" panose="02040503050406030204" pitchFamily="18" charset="0"/>
                <a:ea typeface="Calibri" panose="020F0502020204030204" pitchFamily="34" charset="0"/>
                <a:cs typeface="Baghdad" pitchFamily="2" charset="-78"/>
              </a:rPr>
              <a:t>“Money là phương thức để chuyển đổi giá trị (từ sản phẩm hoặc năng lực) của người này sang một thứ khác</a:t>
            </a:r>
            <a:r>
              <a:rPr lang="en-VN" sz="2800" dirty="0">
                <a:effectLst/>
                <a:latin typeface="Cambria" panose="02040503050406030204" pitchFamily="18" charset="0"/>
                <a:ea typeface="Calibri" panose="020F0502020204030204" pitchFamily="34" charset="0"/>
                <a:cs typeface="Baghdad" pitchFamily="2" charset="-78"/>
              </a:rPr>
              <a:t>”</a:t>
            </a:r>
            <a:endParaRPr lang="en-VN" sz="2800" dirty="0">
              <a:effectLst/>
              <a:latin typeface="Cambria" panose="02040503050406030204" pitchFamily="18" charset="0"/>
              <a:cs typeface="Baghdad" pitchFamily="2" charset="-78"/>
            </a:endParaRPr>
          </a:p>
          <a:p>
            <a:pPr algn="r">
              <a:lnSpc>
                <a:spcPct val="150000"/>
              </a:lnSpc>
            </a:pPr>
            <a:r>
              <a:rPr lang="en-VN" sz="2800" dirty="0">
                <a:latin typeface="Cambria" panose="02040503050406030204" pitchFamily="18" charset="0"/>
                <a:cs typeface="Baghdad" pitchFamily="2" charset="-78"/>
              </a:rPr>
              <a:t>Crypto Concurrencies - Dr Julian Hosp</a:t>
            </a:r>
          </a:p>
        </p:txBody>
      </p:sp>
    </p:spTree>
    <p:extLst>
      <p:ext uri="{BB962C8B-B14F-4D97-AF65-F5344CB8AC3E}">
        <p14:creationId xmlns:p14="http://schemas.microsoft.com/office/powerpoint/2010/main" val="21726414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B8FE9727-4F37-167B-4CC7-A21EEEFA51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103" y="4250556"/>
            <a:ext cx="1896716" cy="189671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F74D962-4F47-0A5E-77A9-D98E72E4F9C7}"/>
              </a:ext>
            </a:extLst>
          </p:cNvPr>
          <p:cNvSpPr txBox="1"/>
          <p:nvPr/>
        </p:nvSpPr>
        <p:spPr>
          <a:xfrm>
            <a:off x="661482" y="1081002"/>
            <a:ext cx="10571460" cy="2597699"/>
          </a:xfrm>
          <a:prstGeom prst="rect">
            <a:avLst/>
          </a:prstGeom>
          <a:noFill/>
        </p:spPr>
        <p:txBody>
          <a:bodyPr wrap="square" rtlCol="0">
            <a:spAutoFit/>
          </a:bodyPr>
          <a:lstStyle/>
          <a:p>
            <a:pPr lvl="0">
              <a:lnSpc>
                <a:spcPct val="150000"/>
              </a:lnSpc>
            </a:pPr>
            <a:r>
              <a:rPr lang="vi-VN" sz="2800" dirty="0">
                <a:latin typeface="Cambria" panose="02040503050406030204" pitchFamily="18" charset="0"/>
              </a:rPr>
              <a:t>1. Hiện tại income của các bạn đến từ đâu? </a:t>
            </a:r>
          </a:p>
          <a:p>
            <a:pPr lvl="0">
              <a:lnSpc>
                <a:spcPct val="150000"/>
              </a:lnSpc>
            </a:pPr>
            <a:r>
              <a:rPr lang="vi-VN" sz="2800" dirty="0">
                <a:latin typeface="Cambria" panose="02040503050406030204" pitchFamily="18" charset="0"/>
              </a:rPr>
              <a:t>2. Quản lí tài chính nghĩa là gì? Tại sao bạn cần làm điều này?</a:t>
            </a:r>
          </a:p>
          <a:p>
            <a:pPr lvl="0">
              <a:lnSpc>
                <a:spcPct val="150000"/>
              </a:lnSpc>
            </a:pPr>
            <a:r>
              <a:rPr lang="vi-VN" sz="2800" dirty="0">
                <a:latin typeface="Cambria" panose="02040503050406030204" pitchFamily="18" charset="0"/>
              </a:rPr>
              <a:t>3. Hãy chia sẻ cách bạn sử dụng số tiền của bạn nếu: số tiền bạn có mỗi tháng là 3.000.000đ, 7.000.000đ và15.000.00đ.</a:t>
            </a:r>
          </a:p>
        </p:txBody>
      </p:sp>
      <p:sp>
        <p:nvSpPr>
          <p:cNvPr id="5" name="TextBox 4">
            <a:extLst>
              <a:ext uri="{FF2B5EF4-FFF2-40B4-BE49-F238E27FC236}">
                <a16:creationId xmlns:a16="http://schemas.microsoft.com/office/drawing/2014/main" id="{4A09D898-EF92-7CC8-DCCC-B0E082F73C6A}"/>
              </a:ext>
            </a:extLst>
          </p:cNvPr>
          <p:cNvSpPr txBox="1"/>
          <p:nvPr/>
        </p:nvSpPr>
        <p:spPr>
          <a:xfrm>
            <a:off x="2782110" y="3900065"/>
            <a:ext cx="9049787" cy="2597699"/>
          </a:xfrm>
          <a:prstGeom prst="rect">
            <a:avLst/>
          </a:prstGeom>
          <a:noFill/>
        </p:spPr>
        <p:txBody>
          <a:bodyPr wrap="square" rtlCol="0">
            <a:spAutoFit/>
          </a:bodyPr>
          <a:lstStyle/>
          <a:p>
            <a:pPr lvl="0">
              <a:lnSpc>
                <a:spcPct val="150000"/>
              </a:lnSpc>
            </a:pPr>
            <a:r>
              <a:rPr lang="vi-VN" sz="2800" b="1" dirty="0">
                <a:latin typeface="Cambria" panose="02040503050406030204" pitchFamily="18" charset="0"/>
              </a:rPr>
              <a:t>Dâng Hiến</a:t>
            </a:r>
            <a:r>
              <a:rPr lang="vi-VN" sz="2800" dirty="0">
                <a:latin typeface="Cambria" panose="02040503050406030204" pitchFamily="18" charset="0"/>
              </a:rPr>
              <a:t>:</a:t>
            </a:r>
          </a:p>
          <a:p>
            <a:pPr lvl="0">
              <a:lnSpc>
                <a:spcPct val="150000"/>
              </a:lnSpc>
            </a:pPr>
            <a:r>
              <a:rPr lang="vi-VN" sz="2800" dirty="0">
                <a:latin typeface="Cambria" panose="02040503050406030204" pitchFamily="18" charset="0"/>
              </a:rPr>
              <a:t>1. Bạn có thường dâng hiến hay không?</a:t>
            </a:r>
          </a:p>
          <a:p>
            <a:pPr lvl="0">
              <a:lnSpc>
                <a:spcPct val="150000"/>
              </a:lnSpc>
            </a:pPr>
            <a:r>
              <a:rPr lang="vi-VN" sz="2800" dirty="0">
                <a:latin typeface="Cambria" panose="02040503050406030204" pitchFamily="18" charset="0"/>
              </a:rPr>
              <a:t>2. Lý do bạn dâng hiến là gì?</a:t>
            </a:r>
          </a:p>
          <a:p>
            <a:pPr lvl="0">
              <a:lnSpc>
                <a:spcPct val="150000"/>
              </a:lnSpc>
            </a:pPr>
            <a:r>
              <a:rPr lang="vi-VN" sz="2800" dirty="0">
                <a:latin typeface="Cambria" panose="02040503050406030204" pitchFamily="18" charset="0"/>
              </a:rPr>
              <a:t>3. Đâu là những trở ngại trong khi bạn dâng hiến?</a:t>
            </a:r>
            <a:endParaRPr lang="en-VN" sz="2800" dirty="0">
              <a:latin typeface="Cambria" panose="02040503050406030204" pitchFamily="18" charset="0"/>
            </a:endParaRPr>
          </a:p>
        </p:txBody>
      </p:sp>
      <p:sp>
        <p:nvSpPr>
          <p:cNvPr id="7" name="TextBox 6">
            <a:extLst>
              <a:ext uri="{FF2B5EF4-FFF2-40B4-BE49-F238E27FC236}">
                <a16:creationId xmlns:a16="http://schemas.microsoft.com/office/drawing/2014/main" id="{7CC9FF59-67CE-42B3-E9F3-609C0CFAA8B7}"/>
              </a:ext>
            </a:extLst>
          </p:cNvPr>
          <p:cNvSpPr txBox="1"/>
          <p:nvPr/>
        </p:nvSpPr>
        <p:spPr>
          <a:xfrm>
            <a:off x="661482" y="0"/>
            <a:ext cx="3169168" cy="1081002"/>
          </a:xfrm>
          <a:prstGeom prst="rect">
            <a:avLst/>
          </a:prstGeom>
          <a:noFill/>
        </p:spPr>
        <p:txBody>
          <a:bodyPr wrap="square" rtlCol="0">
            <a:spAutoFit/>
          </a:bodyPr>
          <a:lstStyle/>
          <a:p>
            <a:pPr>
              <a:lnSpc>
                <a:spcPct val="150000"/>
              </a:lnSpc>
            </a:pPr>
            <a:r>
              <a:rPr lang="en-VN" sz="4800" b="1" dirty="0">
                <a:effectLst/>
                <a:latin typeface="Cambria" panose="02040503050406030204" pitchFamily="18" charset="0"/>
                <a:ea typeface="Calibri" panose="020F0502020204030204" pitchFamily="34" charset="0"/>
                <a:cs typeface="Times New Roman" panose="02020603050405020304" pitchFamily="18" charset="0"/>
              </a:rPr>
              <a:t>Thảo luận</a:t>
            </a:r>
            <a:endParaRPr lang="en-VN" sz="4800" dirty="0"/>
          </a:p>
        </p:txBody>
      </p:sp>
    </p:spTree>
    <p:extLst>
      <p:ext uri="{BB962C8B-B14F-4D97-AF65-F5344CB8AC3E}">
        <p14:creationId xmlns:p14="http://schemas.microsoft.com/office/powerpoint/2010/main" val="1627897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oney management - Free technology icons">
            <a:extLst>
              <a:ext uri="{FF2B5EF4-FFF2-40B4-BE49-F238E27FC236}">
                <a16:creationId xmlns:a16="http://schemas.microsoft.com/office/drawing/2014/main" id="{3EF1BFE0-318B-4F55-38F8-123CCD99A6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897" y="2546584"/>
            <a:ext cx="2675106" cy="267510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0BB2DF3-9416-5CFA-A9EF-13E1BA351439}"/>
              </a:ext>
            </a:extLst>
          </p:cNvPr>
          <p:cNvSpPr txBox="1"/>
          <p:nvPr/>
        </p:nvSpPr>
        <p:spPr>
          <a:xfrm>
            <a:off x="3482502" y="2048410"/>
            <a:ext cx="8404699" cy="3671454"/>
          </a:xfrm>
          <a:prstGeom prst="rect">
            <a:avLst/>
          </a:prstGeom>
          <a:noFill/>
        </p:spPr>
        <p:txBody>
          <a:bodyPr wrap="square" rtlCol="0">
            <a:spAutoFit/>
          </a:bodyPr>
          <a:lstStyle/>
          <a:p>
            <a:pPr algn="just">
              <a:lnSpc>
                <a:spcPct val="150000"/>
              </a:lnSpc>
            </a:pPr>
            <a:r>
              <a:rPr lang="vi-VN" sz="4000" dirty="0">
                <a:effectLst/>
                <a:latin typeface="Cambria" panose="02040503050406030204" pitchFamily="18" charset="0"/>
                <a:ea typeface="Calibri" panose="020F0502020204030204" pitchFamily="34" charset="0"/>
                <a:cs typeface="Times New Roman" panose="02020603050405020304" pitchFamily="18" charset="0"/>
              </a:rPr>
              <a:t>Lên kế hoạch và cân đối lượng tài chính chúng ta sử dụng trong tất cả mọi khía cạnh của cuộc sống chúng ta sao cho phù hợp</a:t>
            </a:r>
            <a:r>
              <a:rPr lang="en-VN" sz="4000" dirty="0">
                <a:latin typeface="Cambria" panose="02040503050406030204" pitchFamily="18" charset="0"/>
                <a:ea typeface="Calibri" panose="020F0502020204030204" pitchFamily="34" charset="0"/>
                <a:cs typeface="Times New Roman" panose="02020603050405020304" pitchFamily="18" charset="0"/>
              </a:rPr>
              <a:t>.</a:t>
            </a:r>
            <a:endParaRPr lang="en-VN" sz="4000" dirty="0">
              <a:latin typeface="Cambria" panose="02040503050406030204" pitchFamily="18" charset="0"/>
            </a:endParaRPr>
          </a:p>
        </p:txBody>
      </p:sp>
      <p:sp>
        <p:nvSpPr>
          <p:cNvPr id="6" name="TextBox 5">
            <a:extLst>
              <a:ext uri="{FF2B5EF4-FFF2-40B4-BE49-F238E27FC236}">
                <a16:creationId xmlns:a16="http://schemas.microsoft.com/office/drawing/2014/main" id="{BA7D0412-2DB4-29F0-9E6E-F0053AF879F1}"/>
              </a:ext>
            </a:extLst>
          </p:cNvPr>
          <p:cNvSpPr txBox="1"/>
          <p:nvPr/>
        </p:nvSpPr>
        <p:spPr>
          <a:xfrm>
            <a:off x="479897" y="642185"/>
            <a:ext cx="6099242" cy="1015663"/>
          </a:xfrm>
          <a:prstGeom prst="rect">
            <a:avLst/>
          </a:prstGeom>
          <a:noFill/>
        </p:spPr>
        <p:txBody>
          <a:bodyPr wrap="square">
            <a:spAutoFit/>
          </a:bodyPr>
          <a:lstStyle/>
          <a:p>
            <a:pPr algn="ctr"/>
            <a:r>
              <a:rPr lang="vi-VN" sz="6000" b="1" dirty="0">
                <a:latin typeface="Cambria" panose="02040503050406030204" pitchFamily="18" charset="0"/>
                <a:ea typeface="Calibri" panose="020F0502020204030204" pitchFamily="34" charset="0"/>
                <a:cs typeface="Times New Roman" panose="02020603050405020304" pitchFamily="18" charset="0"/>
              </a:rPr>
              <a:t>Quản lý tài chính</a:t>
            </a:r>
            <a:endParaRPr lang="en-VN" sz="6000" dirty="0"/>
          </a:p>
        </p:txBody>
      </p:sp>
    </p:spTree>
    <p:extLst>
      <p:ext uri="{BB962C8B-B14F-4D97-AF65-F5344CB8AC3E}">
        <p14:creationId xmlns:p14="http://schemas.microsoft.com/office/powerpoint/2010/main" val="303651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3074"/>
                                        </p:tgtEl>
                                        <p:attrNameLst>
                                          <p:attrName>style.visibility</p:attrName>
                                        </p:attrNameLst>
                                      </p:cBhvr>
                                      <p:to>
                                        <p:strVal val="visible"/>
                                      </p:to>
                                    </p:set>
                                    <p:animEffect transition="in" filter="blinds(horizontal)">
                                      <p:cBhvr>
                                        <p:cTn id="10"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94627-E0CA-4873-B6B0-DBAC772F1F9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133B368-67BB-EC98-5A61-21C885E3BD2D}"/>
              </a:ext>
            </a:extLst>
          </p:cNvPr>
          <p:cNvSpPr txBox="1"/>
          <p:nvPr/>
        </p:nvSpPr>
        <p:spPr>
          <a:xfrm>
            <a:off x="479897" y="1580027"/>
            <a:ext cx="11232206" cy="1478290"/>
          </a:xfrm>
          <a:prstGeom prst="rect">
            <a:avLst/>
          </a:prstGeom>
          <a:noFill/>
        </p:spPr>
        <p:txBody>
          <a:bodyPr wrap="square" rtlCol="0">
            <a:spAutoFit/>
          </a:bodyPr>
          <a:lstStyle/>
          <a:p>
            <a:pPr algn="just">
              <a:lnSpc>
                <a:spcPct val="150000"/>
              </a:lnSpc>
            </a:pPr>
            <a:r>
              <a:rPr lang="vi-VN" sz="3200" b="1" dirty="0">
                <a:latin typeface="Cambria" panose="02040503050406030204" pitchFamily="18" charset="0"/>
                <a:ea typeface="Calibri" panose="020F0502020204030204" pitchFamily="34" charset="0"/>
                <a:cs typeface="Times New Roman" panose="02020603050405020304" pitchFamily="18" charset="0"/>
              </a:rPr>
              <a:t>Thi thiên 24:1</a:t>
            </a:r>
            <a:r>
              <a:rPr lang="vi-VN" sz="3200" dirty="0">
                <a:latin typeface="Cambria" panose="02040503050406030204" pitchFamily="18" charset="0"/>
                <a:ea typeface="Calibri" panose="020F0502020204030204" pitchFamily="34" charset="0"/>
                <a:cs typeface="Times New Roman" panose="02020603050405020304" pitchFamily="18" charset="0"/>
              </a:rPr>
              <a:t>:</a:t>
            </a:r>
          </a:p>
          <a:p>
            <a:pPr algn="just">
              <a:lnSpc>
                <a:spcPct val="150000"/>
              </a:lnSpc>
            </a:pPr>
            <a:r>
              <a:rPr lang="vi-VN" sz="3200" dirty="0">
                <a:latin typeface="Cambria" panose="02040503050406030204" pitchFamily="18" charset="0"/>
                <a:ea typeface="Calibri" panose="020F0502020204030204" pitchFamily="34" charset="0"/>
                <a:cs typeface="Times New Roman" panose="02020603050405020304" pitchFamily="18" charset="0"/>
              </a:rPr>
              <a:t>“Đất thuộc về Đức Giê-hô-va, cùng mọi vật trên đất.” </a:t>
            </a:r>
            <a:endParaRPr lang="en-VN" sz="3200" dirty="0">
              <a:latin typeface="Cambria" panose="02040503050406030204" pitchFamily="18" charset="0"/>
            </a:endParaRPr>
          </a:p>
        </p:txBody>
      </p:sp>
      <p:sp>
        <p:nvSpPr>
          <p:cNvPr id="6" name="TextBox 5">
            <a:extLst>
              <a:ext uri="{FF2B5EF4-FFF2-40B4-BE49-F238E27FC236}">
                <a16:creationId xmlns:a16="http://schemas.microsoft.com/office/drawing/2014/main" id="{2F9D04A1-45F7-32B7-2295-ECF8C7E89DF2}"/>
              </a:ext>
            </a:extLst>
          </p:cNvPr>
          <p:cNvSpPr txBox="1"/>
          <p:nvPr/>
        </p:nvSpPr>
        <p:spPr>
          <a:xfrm>
            <a:off x="479897" y="272534"/>
            <a:ext cx="6679660" cy="1015663"/>
          </a:xfrm>
          <a:prstGeom prst="rect">
            <a:avLst/>
          </a:prstGeom>
          <a:noFill/>
        </p:spPr>
        <p:txBody>
          <a:bodyPr wrap="square">
            <a:spAutoFit/>
          </a:bodyPr>
          <a:lstStyle/>
          <a:p>
            <a:r>
              <a:rPr lang="vi-VN" sz="6000" b="1" dirty="0">
                <a:latin typeface="Cambria" panose="02040503050406030204" pitchFamily="18" charset="0"/>
                <a:ea typeface="Calibri" panose="020F0502020204030204" pitchFamily="34" charset="0"/>
                <a:cs typeface="Times New Roman" panose="02020603050405020304" pitchFamily="18" charset="0"/>
              </a:rPr>
              <a:t>Người quản gia</a:t>
            </a:r>
            <a:endParaRPr lang="en-VN" sz="6000" dirty="0"/>
          </a:p>
        </p:txBody>
      </p:sp>
      <p:sp>
        <p:nvSpPr>
          <p:cNvPr id="2" name="Rectangle 1">
            <a:extLst>
              <a:ext uri="{FF2B5EF4-FFF2-40B4-BE49-F238E27FC236}">
                <a16:creationId xmlns:a16="http://schemas.microsoft.com/office/drawing/2014/main" id="{ED2539AD-447D-B2FB-05E2-5451D00B16B2}"/>
              </a:ext>
            </a:extLst>
          </p:cNvPr>
          <p:cNvSpPr/>
          <p:nvPr/>
        </p:nvSpPr>
        <p:spPr>
          <a:xfrm>
            <a:off x="479897" y="3429000"/>
            <a:ext cx="11057107" cy="63819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VN" sz="2800" dirty="0">
                <a:latin typeface="Cambria" panose="02040503050406030204" pitchFamily="18" charset="0"/>
              </a:rPr>
              <a:t>Tài sản thuộc về Đức Chúa Trời -&gt; Ngài là chủ và Ngài có quyền trên nó</a:t>
            </a:r>
          </a:p>
        </p:txBody>
      </p:sp>
      <p:sp>
        <p:nvSpPr>
          <p:cNvPr id="3" name="Rectangle 2">
            <a:extLst>
              <a:ext uri="{FF2B5EF4-FFF2-40B4-BE49-F238E27FC236}">
                <a16:creationId xmlns:a16="http://schemas.microsoft.com/office/drawing/2014/main" id="{6A59EF62-E0F9-0AB3-66E1-11F9FFD9BC20}"/>
              </a:ext>
            </a:extLst>
          </p:cNvPr>
          <p:cNvSpPr/>
          <p:nvPr/>
        </p:nvSpPr>
        <p:spPr>
          <a:xfrm>
            <a:off x="460441" y="4437876"/>
            <a:ext cx="11057107" cy="63819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US" sz="2800" dirty="0">
                <a:latin typeface="Cambria" panose="02040503050406030204" pitchFamily="18" charset="0"/>
              </a:rPr>
              <a:t>V</a:t>
            </a:r>
            <a:r>
              <a:rPr lang="en-VN" sz="2800" dirty="0">
                <a:latin typeface="Cambria" panose="02040503050406030204" pitchFamily="18" charset="0"/>
              </a:rPr>
              <a:t>ì Đức Chúa Trời là chủ -&gt; chúng ta là quản gia của khối tài sản đó</a:t>
            </a:r>
          </a:p>
        </p:txBody>
      </p:sp>
      <p:sp>
        <p:nvSpPr>
          <p:cNvPr id="5" name="Rectangle 4">
            <a:extLst>
              <a:ext uri="{FF2B5EF4-FFF2-40B4-BE49-F238E27FC236}">
                <a16:creationId xmlns:a16="http://schemas.microsoft.com/office/drawing/2014/main" id="{BB6C2791-5FFD-570A-74FA-8865BE4F6057}"/>
              </a:ext>
            </a:extLst>
          </p:cNvPr>
          <p:cNvSpPr/>
          <p:nvPr/>
        </p:nvSpPr>
        <p:spPr>
          <a:xfrm>
            <a:off x="479896" y="5446752"/>
            <a:ext cx="11057107" cy="1008876"/>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r>
              <a:rPr lang="en-VN" sz="2800" dirty="0">
                <a:latin typeface="Cambria" panose="02040503050406030204" pitchFamily="18" charset="0"/>
              </a:rPr>
              <a:t>Vì chúng ta là quản gia -&gt; chúng ta cần phải lên kế hoạch chi tiêu theo ý Chúa</a:t>
            </a:r>
          </a:p>
        </p:txBody>
      </p:sp>
    </p:spTree>
    <p:extLst>
      <p:ext uri="{BB962C8B-B14F-4D97-AF65-F5344CB8AC3E}">
        <p14:creationId xmlns:p14="http://schemas.microsoft.com/office/powerpoint/2010/main" val="961915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p:tgtEl>
                                          <p:spTgt spid="5"/>
                                        </p:tgtEl>
                                        <p:attrNameLst>
                                          <p:attrName>ppt_y</p:attrName>
                                        </p:attrNameLst>
                                      </p:cBhvr>
                                      <p:tavLst>
                                        <p:tav tm="0">
                                          <p:val>
                                            <p:strVal val="#ppt_y+#ppt_h*1.125000"/>
                                          </p:val>
                                        </p:tav>
                                        <p:tav tm="100000">
                                          <p:val>
                                            <p:strVal val="#ppt_y"/>
                                          </p:val>
                                        </p:tav>
                                      </p:tavLst>
                                    </p:anim>
                                    <p:animEffect transition="in" filter="wipe(up)">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5E6D86E-EEBC-4C3B-BA60-C1A3B53FAF0F}"/>
              </a:ext>
            </a:extLst>
          </p:cNvPr>
          <p:cNvSpPr txBox="1"/>
          <p:nvPr/>
        </p:nvSpPr>
        <p:spPr>
          <a:xfrm>
            <a:off x="2240604" y="648485"/>
            <a:ext cx="7710792" cy="923330"/>
          </a:xfrm>
          <a:prstGeom prst="rect">
            <a:avLst/>
          </a:prstGeom>
          <a:noFill/>
        </p:spPr>
        <p:txBody>
          <a:bodyPr wrap="square">
            <a:spAutoFit/>
          </a:bodyPr>
          <a:lstStyle/>
          <a:p>
            <a:r>
              <a:rPr lang="vi-VN" sz="5400" b="1" dirty="0">
                <a:latin typeface="Cambria" panose="02040503050406030204" pitchFamily="18" charset="0"/>
                <a:cs typeface="Times New Roman" panose="02020603050405020304" pitchFamily="18" charset="0"/>
              </a:rPr>
              <a:t>Sáng thế ký 14:18-20</a:t>
            </a:r>
            <a:endParaRPr lang="en-VN" sz="5400" dirty="0"/>
          </a:p>
        </p:txBody>
      </p:sp>
      <p:pic>
        <p:nvPicPr>
          <p:cNvPr id="5122" name="Picture 2" descr="Bible - Free cultures icons">
            <a:extLst>
              <a:ext uri="{FF2B5EF4-FFF2-40B4-BE49-F238E27FC236}">
                <a16:creationId xmlns:a16="http://schemas.microsoft.com/office/drawing/2014/main" id="{56A6771B-8160-8FD2-7933-A73244E7D7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165" y="249252"/>
            <a:ext cx="1721796" cy="17217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AA7CF91-111D-DE4B-A311-9EE30BD2EB1D}"/>
              </a:ext>
            </a:extLst>
          </p:cNvPr>
          <p:cNvSpPr txBox="1"/>
          <p:nvPr/>
        </p:nvSpPr>
        <p:spPr>
          <a:xfrm>
            <a:off x="363165" y="2314446"/>
            <a:ext cx="11465670" cy="3890360"/>
          </a:xfrm>
          <a:prstGeom prst="rect">
            <a:avLst/>
          </a:prstGeom>
          <a:noFill/>
        </p:spPr>
        <p:txBody>
          <a:bodyPr wrap="square" rtlCol="0">
            <a:spAutoFit/>
          </a:bodyPr>
          <a:lstStyle/>
          <a:p>
            <a:pPr algn="just">
              <a:lnSpc>
                <a:spcPct val="150000"/>
              </a:lnSpc>
            </a:pPr>
            <a:r>
              <a:rPr lang="vi-VN" sz="2800" baseline="30000" noProof="1">
                <a:effectLst/>
                <a:latin typeface="Cambria" panose="02040503050406030204" pitchFamily="18" charset="0"/>
                <a:ea typeface="Calibri" panose="020F0502020204030204" pitchFamily="34" charset="0"/>
                <a:cs typeface="Times New Roman" panose="02020603050405020304" pitchFamily="18" charset="0"/>
              </a:rPr>
              <a:t>18</a:t>
            </a:r>
            <a:r>
              <a:rPr lang="vi-VN" sz="2800" noProof="1">
                <a:effectLst/>
                <a:latin typeface="Cambria" panose="02040503050406030204" pitchFamily="18" charset="0"/>
                <a:ea typeface="Calibri" panose="020F0502020204030204" pitchFamily="34" charset="0"/>
                <a:cs typeface="Times New Roman" panose="02020603050405020304" pitchFamily="18" charset="0"/>
              </a:rPr>
              <a:t>Mên-chi-xê-đéc, vua Sa-lem, sai đem bánh và rượu ra. Vả, vua nầy là thầy tế-lễ của Đức Chúa Trời Chí-Cao,  </a:t>
            </a:r>
            <a:r>
              <a:rPr lang="vi-VN" sz="2800" baseline="30000" noProof="1">
                <a:effectLst/>
                <a:latin typeface="Cambria" panose="02040503050406030204" pitchFamily="18" charset="0"/>
                <a:ea typeface="Calibri" panose="020F0502020204030204" pitchFamily="34" charset="0"/>
                <a:cs typeface="Times New Roman" panose="02020603050405020304" pitchFamily="18" charset="0"/>
              </a:rPr>
              <a:t>19</a:t>
            </a:r>
            <a:r>
              <a:rPr lang="vi-VN" sz="2800" noProof="1">
                <a:effectLst/>
                <a:latin typeface="Cambria" panose="02040503050406030204" pitchFamily="18" charset="0"/>
                <a:ea typeface="Calibri" panose="020F0502020204030204" pitchFamily="34" charset="0"/>
                <a:cs typeface="Times New Roman" panose="02020603050405020304" pitchFamily="18" charset="0"/>
              </a:rPr>
              <a:t>chúc phước cho Áp-ram và nói rằng: Nguyện Đức Chúa Trời Chí-Cao, là Đấng dựng nên trời và đất, ban phước cho Áp-ram! </a:t>
            </a:r>
            <a:r>
              <a:rPr lang="vi-VN" sz="2800" baseline="30000" noProof="1">
                <a:effectLst/>
                <a:latin typeface="Cambria" panose="02040503050406030204" pitchFamily="18" charset="0"/>
                <a:ea typeface="Calibri" panose="020F0502020204030204" pitchFamily="34" charset="0"/>
                <a:cs typeface="Times New Roman" panose="02020603050405020304" pitchFamily="18" charset="0"/>
              </a:rPr>
              <a:t>20</a:t>
            </a:r>
            <a:r>
              <a:rPr lang="vi-VN" sz="2800" noProof="1">
                <a:effectLst/>
                <a:latin typeface="Cambria" panose="02040503050406030204" pitchFamily="18" charset="0"/>
                <a:ea typeface="Calibri" panose="020F0502020204030204" pitchFamily="34" charset="0"/>
                <a:cs typeface="Times New Roman" panose="02020603050405020304" pitchFamily="18" charset="0"/>
              </a:rPr>
              <a:t>Đáng ngợi-khen thay Đức Chúa Trời Chí-Cao đã phó kẻ thù-nghịch vào tay ngươi! Đoạn, Áp-ram lấy một phần mười về cả của giặc mà dâng cho vua đó.</a:t>
            </a:r>
            <a:r>
              <a:rPr lang="vi-VN" sz="2800" noProof="1">
                <a:effectLst/>
                <a:latin typeface="Cambria" panose="02040503050406030204" pitchFamily="18" charset="0"/>
              </a:rPr>
              <a:t> </a:t>
            </a:r>
            <a:endParaRPr lang="vi-VN" sz="2800" noProof="1">
              <a:latin typeface="Cambria" panose="02040503050406030204" pitchFamily="18" charset="0"/>
            </a:endParaRPr>
          </a:p>
        </p:txBody>
      </p:sp>
    </p:spTree>
    <p:extLst>
      <p:ext uri="{BB962C8B-B14F-4D97-AF65-F5344CB8AC3E}">
        <p14:creationId xmlns:p14="http://schemas.microsoft.com/office/powerpoint/2010/main" val="3589937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Attack - Free gaming icons">
            <a:extLst>
              <a:ext uri="{FF2B5EF4-FFF2-40B4-BE49-F238E27FC236}">
                <a16:creationId xmlns:a16="http://schemas.microsoft.com/office/drawing/2014/main" id="{8AD982C9-EE9C-F560-C728-3C6AEE98A1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9101" y="375487"/>
            <a:ext cx="2073798" cy="207379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58374C3-CEA7-7368-D6ED-AE8C0833670B}"/>
              </a:ext>
            </a:extLst>
          </p:cNvPr>
          <p:cNvSpPr txBox="1"/>
          <p:nvPr/>
        </p:nvSpPr>
        <p:spPr>
          <a:xfrm>
            <a:off x="367432" y="2449285"/>
            <a:ext cx="4691669" cy="2875595"/>
          </a:xfrm>
          <a:prstGeom prst="rect">
            <a:avLst/>
          </a:prstGeom>
          <a:noFill/>
        </p:spPr>
        <p:txBody>
          <a:bodyPr wrap="none" rtlCol="0">
            <a:spAutoFit/>
          </a:bodyPr>
          <a:lstStyle/>
          <a:p>
            <a:pPr lvl="0" algn="ctr">
              <a:lnSpc>
                <a:spcPct val="115000"/>
              </a:lnSpc>
            </a:pPr>
            <a:r>
              <a:rPr lang="vi-VN" sz="3200" b="1" kern="100" dirty="0">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Liên minh 1</a:t>
            </a:r>
            <a:r>
              <a:rPr lang="vi-VN" sz="3200" kern="100" dirty="0">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 </a:t>
            </a:r>
            <a:endParaRPr lang="en-VN" sz="3200" kern="100" dirty="0">
              <a:solidFill>
                <a:srgbClr val="FF0000"/>
              </a:solidFill>
              <a:latin typeface="Cambria" panose="02040503050406030204" pitchFamily="18" charset="0"/>
              <a:ea typeface="Calibri" panose="020F0502020204030204" pitchFamily="34" charset="0"/>
              <a:cs typeface="Times New Roman" panose="02020603050405020304" pitchFamily="18" charset="0"/>
            </a:endParaRPr>
          </a:p>
          <a:p>
            <a:pPr lvl="0">
              <a:lnSpc>
                <a:spcPct val="115000"/>
              </a:lnSpc>
            </a:pPr>
            <a:r>
              <a:rPr lang="vi-VN" sz="3200" kern="100" dirty="0">
                <a:effectLst/>
                <a:latin typeface="Cambria" panose="02040503050406030204" pitchFamily="18" charset="0"/>
                <a:ea typeface="Calibri" panose="020F0502020204030204" pitchFamily="34" charset="0"/>
                <a:cs typeface="Times New Roman" panose="02020603050405020304" pitchFamily="18" charset="0"/>
              </a:rPr>
              <a:t>Am-ra-phên: vua Si-nê-a</a:t>
            </a:r>
            <a:endParaRPr lang="en-VN" sz="3200" kern="100" dirty="0">
              <a:latin typeface="Cambria" panose="02040503050406030204" pitchFamily="18" charset="0"/>
              <a:ea typeface="Calibri" panose="020F0502020204030204" pitchFamily="34" charset="0"/>
              <a:cs typeface="Times New Roman" panose="02020603050405020304" pitchFamily="18" charset="0"/>
            </a:endParaRPr>
          </a:p>
          <a:p>
            <a:pPr lvl="0">
              <a:lnSpc>
                <a:spcPct val="115000"/>
              </a:lnSpc>
            </a:pPr>
            <a:r>
              <a:rPr lang="vi-VN" sz="3200" kern="100" dirty="0">
                <a:effectLst/>
                <a:latin typeface="Cambria" panose="02040503050406030204" pitchFamily="18" charset="0"/>
                <a:ea typeface="Calibri" panose="020F0502020204030204" pitchFamily="34" charset="0"/>
                <a:cs typeface="Times New Roman" panose="02020603050405020304" pitchFamily="18" charset="0"/>
              </a:rPr>
              <a:t>A-ri-óc: vua Ê-la-sa</a:t>
            </a:r>
            <a:endParaRPr lang="en-VN" sz="3200" kern="100" dirty="0">
              <a:latin typeface="Cambria" panose="02040503050406030204" pitchFamily="18" charset="0"/>
              <a:ea typeface="Calibri" panose="020F0502020204030204" pitchFamily="34" charset="0"/>
              <a:cs typeface="Times New Roman" panose="02020603050405020304" pitchFamily="18" charset="0"/>
            </a:endParaRPr>
          </a:p>
          <a:p>
            <a:pPr lvl="0">
              <a:lnSpc>
                <a:spcPct val="115000"/>
              </a:lnSpc>
            </a:pPr>
            <a:r>
              <a:rPr lang="vi-VN" sz="3200" kern="100" dirty="0">
                <a:effectLst/>
                <a:latin typeface="Cambria" panose="02040503050406030204" pitchFamily="18" charset="0"/>
                <a:ea typeface="Calibri" panose="020F0502020204030204" pitchFamily="34" charset="0"/>
                <a:cs typeface="Times New Roman" panose="02020603050405020304" pitchFamily="18" charset="0"/>
              </a:rPr>
              <a:t>Kết-rô-Lao-me: vua Ê-lam</a:t>
            </a:r>
            <a:endParaRPr lang="en-VN" sz="3200" kern="100" dirty="0">
              <a:latin typeface="Cambria" panose="02040503050406030204" pitchFamily="18" charset="0"/>
              <a:ea typeface="Calibri" panose="020F0502020204030204" pitchFamily="34" charset="0"/>
              <a:cs typeface="Times New Roman" panose="02020603050405020304" pitchFamily="18" charset="0"/>
            </a:endParaRPr>
          </a:p>
          <a:p>
            <a:pPr lvl="0">
              <a:lnSpc>
                <a:spcPct val="115000"/>
              </a:lnSpc>
            </a:pPr>
            <a:r>
              <a:rPr lang="vi-VN" sz="3200" kern="100" dirty="0">
                <a:effectLst/>
                <a:latin typeface="Cambria" panose="02040503050406030204" pitchFamily="18" charset="0"/>
                <a:ea typeface="Calibri" panose="020F0502020204030204" pitchFamily="34" charset="0"/>
                <a:cs typeface="Times New Roman" panose="02020603050405020304" pitchFamily="18" charset="0"/>
              </a:rPr>
              <a:t>Ti-đanh: vua Gô-im</a:t>
            </a:r>
            <a:endParaRPr lang="en-VN" sz="3200" kern="1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790EC42F-820A-BE66-05B5-A60DD62928D5}"/>
              </a:ext>
            </a:extLst>
          </p:cNvPr>
          <p:cNvSpPr txBox="1"/>
          <p:nvPr/>
        </p:nvSpPr>
        <p:spPr>
          <a:xfrm>
            <a:off x="7132898" y="2449285"/>
            <a:ext cx="4691669" cy="3453702"/>
          </a:xfrm>
          <a:prstGeom prst="rect">
            <a:avLst/>
          </a:prstGeom>
          <a:noFill/>
        </p:spPr>
        <p:txBody>
          <a:bodyPr wrap="square" rtlCol="0">
            <a:spAutoFit/>
          </a:bodyPr>
          <a:lstStyle/>
          <a:p>
            <a:pPr lvl="0" algn="ctr">
              <a:lnSpc>
                <a:spcPct val="115000"/>
              </a:lnSpc>
            </a:pPr>
            <a:r>
              <a:rPr lang="vi-VN" sz="3200" b="1" kern="100" dirty="0">
                <a:effectLst/>
                <a:latin typeface="Cambria" panose="02040503050406030204" pitchFamily="18" charset="0"/>
                <a:ea typeface="Calibri" panose="020F0502020204030204" pitchFamily="34" charset="0"/>
                <a:cs typeface="Times New Roman" panose="02020603050405020304" pitchFamily="18" charset="0"/>
              </a:rPr>
              <a:t>Liên minh 2</a:t>
            </a:r>
            <a:endParaRPr lang="en-VN" sz="3200" b="1" kern="100"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15000"/>
              </a:lnSpc>
            </a:pPr>
            <a:r>
              <a:rPr lang="vi-VN" sz="3200" kern="100" dirty="0">
                <a:effectLst/>
                <a:latin typeface="Cambria" panose="02040503050406030204" pitchFamily="18" charset="0"/>
                <a:ea typeface="Calibri" panose="020F0502020204030204" pitchFamily="34" charset="0"/>
                <a:cs typeface="Times New Roman" panose="02020603050405020304" pitchFamily="18" charset="0"/>
              </a:rPr>
              <a:t>Bê-ra: vua Sô-đôm</a:t>
            </a:r>
            <a:endParaRPr lang="en-VN" sz="3200" kern="100"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15000"/>
              </a:lnSpc>
            </a:pPr>
            <a:r>
              <a:rPr lang="vi-VN" sz="3200" kern="100" dirty="0">
                <a:effectLst/>
                <a:latin typeface="Cambria" panose="02040503050406030204" pitchFamily="18" charset="0"/>
                <a:ea typeface="Calibri" panose="020F0502020204030204" pitchFamily="34" charset="0"/>
                <a:cs typeface="Times New Roman" panose="02020603050405020304" pitchFamily="18" charset="0"/>
              </a:rPr>
              <a:t>Bi-rê-sa: vua Gô-mô-rơ</a:t>
            </a:r>
            <a:endParaRPr lang="en-VN" sz="3200" kern="100"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15000"/>
              </a:lnSpc>
            </a:pPr>
            <a:r>
              <a:rPr lang="vi-VN" sz="3200" kern="100" dirty="0">
                <a:effectLst/>
                <a:latin typeface="Cambria" panose="02040503050406030204" pitchFamily="18" charset="0"/>
                <a:ea typeface="Calibri" panose="020F0502020204030204" pitchFamily="34" charset="0"/>
                <a:cs typeface="Times New Roman" panose="02020603050405020304" pitchFamily="18" charset="0"/>
              </a:rPr>
              <a:t>Si-nê-áp: vua Át-ma</a:t>
            </a:r>
            <a:endParaRPr lang="en-VN" sz="3200" kern="100"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15000"/>
              </a:lnSpc>
            </a:pPr>
            <a:r>
              <a:rPr lang="vi-VN" sz="3200" kern="100" dirty="0">
                <a:effectLst/>
                <a:latin typeface="Cambria" panose="02040503050406030204" pitchFamily="18" charset="0"/>
                <a:ea typeface="Calibri" panose="020F0502020204030204" pitchFamily="34" charset="0"/>
                <a:cs typeface="Times New Roman" panose="02020603050405020304" pitchFamily="18" charset="0"/>
              </a:rPr>
              <a:t>Sê-mê-bê: vua Xê-bô-im</a:t>
            </a:r>
            <a:r>
              <a:rPr lang="en-VN" sz="3200" kern="100" dirty="0">
                <a:latin typeface="Calibri" panose="020F0502020204030204" pitchFamily="34" charset="0"/>
                <a:ea typeface="Calibri" panose="020F0502020204030204" pitchFamily="34" charset="0"/>
                <a:cs typeface="Times New Roman" panose="02020603050405020304" pitchFamily="18" charset="0"/>
              </a:rPr>
              <a:t> </a:t>
            </a:r>
          </a:p>
          <a:p>
            <a:pPr lvl="0" algn="just">
              <a:lnSpc>
                <a:spcPct val="115000"/>
              </a:lnSpc>
            </a:pPr>
            <a:r>
              <a:rPr lang="vi-VN" sz="3200" dirty="0">
                <a:effectLst/>
                <a:latin typeface="Cambria" panose="02040503050406030204" pitchFamily="18" charset="0"/>
                <a:ea typeface="Calibri" panose="020F0502020204030204" pitchFamily="34" charset="0"/>
                <a:cs typeface="Times New Roman" panose="02020603050405020304" pitchFamily="18" charset="0"/>
              </a:rPr>
              <a:t>Bê-la: vua xứ Xoa</a:t>
            </a:r>
            <a:endParaRPr lang="en-VN" sz="32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18177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81F26-1134-B5FB-E570-50061142B62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E17E059-45DB-F01D-EDCC-696E7FC7881B}"/>
              </a:ext>
            </a:extLst>
          </p:cNvPr>
          <p:cNvSpPr txBox="1"/>
          <p:nvPr/>
        </p:nvSpPr>
        <p:spPr>
          <a:xfrm>
            <a:off x="583719" y="2498156"/>
            <a:ext cx="11024556" cy="1176669"/>
          </a:xfrm>
          <a:prstGeom prst="rect">
            <a:avLst/>
          </a:prstGeom>
          <a:noFill/>
        </p:spPr>
        <p:txBody>
          <a:bodyPr wrap="none" rtlCol="0">
            <a:spAutoFit/>
          </a:bodyPr>
          <a:lstStyle/>
          <a:p>
            <a:pPr lvl="0" algn="ctr">
              <a:lnSpc>
                <a:spcPct val="115000"/>
              </a:lnSpc>
            </a:pPr>
            <a:r>
              <a:rPr lang="en-US" sz="3200" b="1" kern="1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Liên Minh 1</a:t>
            </a:r>
          </a:p>
          <a:p>
            <a:pPr lvl="0" algn="ctr">
              <a:lnSpc>
                <a:spcPct val="115000"/>
              </a:lnSpc>
            </a:pPr>
            <a:r>
              <a:rPr lang="en-US" sz="3200" b="1" kern="1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Bắt Lót và lấy của cải từ thành Sô-đôm làm chiến lợi phẩm</a:t>
            </a:r>
            <a:endParaRPr lang="en-US" sz="3200" kern="100" noProof="1">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8194" name="Picture 2" descr="Captured Icons - Free SVG &amp; PNG Captured Images - Noun Project">
            <a:extLst>
              <a:ext uri="{FF2B5EF4-FFF2-40B4-BE49-F238E27FC236}">
                <a16:creationId xmlns:a16="http://schemas.microsoft.com/office/drawing/2014/main" id="{014703C3-FB9E-470D-2093-39E66C5ADA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0" y="263120"/>
            <a:ext cx="2540000" cy="2540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639B33C-C26D-D2D4-9016-170561E3F95F}"/>
              </a:ext>
            </a:extLst>
          </p:cNvPr>
          <p:cNvSpPr txBox="1"/>
          <p:nvPr/>
        </p:nvSpPr>
        <p:spPr>
          <a:xfrm>
            <a:off x="668069" y="5607729"/>
            <a:ext cx="10855857" cy="610360"/>
          </a:xfrm>
          <a:prstGeom prst="rect">
            <a:avLst/>
          </a:prstGeom>
          <a:noFill/>
        </p:spPr>
        <p:txBody>
          <a:bodyPr wrap="none" rtlCol="0">
            <a:spAutoFit/>
          </a:bodyPr>
          <a:lstStyle/>
          <a:p>
            <a:pPr lvl="0" algn="ctr">
              <a:lnSpc>
                <a:spcPct val="115000"/>
              </a:lnSpc>
            </a:pPr>
            <a:r>
              <a:rPr lang="en-US" sz="3200" b="1" kern="100" noProof="1">
                <a:effectLst/>
                <a:latin typeface="Cambria" panose="02040503050406030204" pitchFamily="18" charset="0"/>
                <a:ea typeface="Calibri" panose="020F0502020204030204" pitchFamily="34" charset="0"/>
                <a:cs typeface="Times New Roman" panose="02020603050405020304" pitchFamily="18" charset="0"/>
              </a:rPr>
              <a:t>Áp-ram giải cứu Lót và cướp lấy tài sản bị lấy của Sô-đôm</a:t>
            </a:r>
            <a:endParaRPr lang="en-US" sz="3200" kern="100" noProof="1">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3" name="Picture 2" descr="Attack - Free gaming icons">
            <a:extLst>
              <a:ext uri="{FF2B5EF4-FFF2-40B4-BE49-F238E27FC236}">
                <a16:creationId xmlns:a16="http://schemas.microsoft.com/office/drawing/2014/main" id="{B110D7FC-AF52-2968-9C22-72A1277052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4725" y="3980005"/>
            <a:ext cx="1322544" cy="1322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3773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checkerboard(across)">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EDF0B-ABFC-2B94-3CBB-69E87559CD5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0026D5-A75A-A6D9-CFF8-9639279C28A6}"/>
              </a:ext>
            </a:extLst>
          </p:cNvPr>
          <p:cNvSpPr txBox="1"/>
          <p:nvPr/>
        </p:nvSpPr>
        <p:spPr>
          <a:xfrm>
            <a:off x="2240604" y="648485"/>
            <a:ext cx="7710792" cy="923330"/>
          </a:xfrm>
          <a:prstGeom prst="rect">
            <a:avLst/>
          </a:prstGeom>
          <a:noFill/>
        </p:spPr>
        <p:txBody>
          <a:bodyPr wrap="square">
            <a:spAutoFit/>
          </a:bodyPr>
          <a:lstStyle/>
          <a:p>
            <a:r>
              <a:rPr lang="vi-VN" sz="5400" b="1" dirty="0">
                <a:latin typeface="Cambria" panose="02040503050406030204" pitchFamily="18" charset="0"/>
                <a:cs typeface="Times New Roman" panose="02020603050405020304" pitchFamily="18" charset="0"/>
              </a:rPr>
              <a:t>Sáng thế ký 14:18-20</a:t>
            </a:r>
            <a:endParaRPr lang="en-VN" sz="5400" dirty="0"/>
          </a:p>
        </p:txBody>
      </p:sp>
      <p:pic>
        <p:nvPicPr>
          <p:cNvPr id="5122" name="Picture 2" descr="Bible - Free cultures icons">
            <a:extLst>
              <a:ext uri="{FF2B5EF4-FFF2-40B4-BE49-F238E27FC236}">
                <a16:creationId xmlns:a16="http://schemas.microsoft.com/office/drawing/2014/main" id="{C315979F-B5BA-355A-B1AE-315C140D06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165" y="249252"/>
            <a:ext cx="1721796" cy="17217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CC5E2C3-5A4D-B8DC-DD70-726068D73BBE}"/>
              </a:ext>
            </a:extLst>
          </p:cNvPr>
          <p:cNvSpPr txBox="1"/>
          <p:nvPr/>
        </p:nvSpPr>
        <p:spPr>
          <a:xfrm>
            <a:off x="363165" y="2465962"/>
            <a:ext cx="11465670" cy="3539430"/>
          </a:xfrm>
          <a:prstGeom prst="rect">
            <a:avLst/>
          </a:prstGeom>
          <a:noFill/>
        </p:spPr>
        <p:txBody>
          <a:bodyPr wrap="square" rtlCol="0">
            <a:spAutoFit/>
          </a:bodyPr>
          <a:lstStyle/>
          <a:p>
            <a:pPr algn="just"/>
            <a:r>
              <a:rPr lang="vi-VN" sz="3200" baseline="30000" noProof="1">
                <a:effectLst/>
                <a:latin typeface="Cambria" panose="02040503050406030204" pitchFamily="18" charset="0"/>
                <a:ea typeface="Calibri" panose="020F0502020204030204" pitchFamily="34" charset="0"/>
                <a:cs typeface="Times New Roman" panose="02020603050405020304" pitchFamily="18" charset="0"/>
              </a:rPr>
              <a:t>18</a:t>
            </a:r>
            <a:r>
              <a:rPr lang="vi-VN" sz="3200" noProof="1">
                <a:effectLst/>
                <a:latin typeface="Cambria" panose="02040503050406030204" pitchFamily="18" charset="0"/>
                <a:ea typeface="Calibri" panose="020F0502020204030204" pitchFamily="34" charset="0"/>
                <a:cs typeface="Times New Roman" panose="02020603050405020304" pitchFamily="18" charset="0"/>
              </a:rPr>
              <a:t>Mên-chi-xê-đéc, vua Sa-lem, </a:t>
            </a:r>
            <a:r>
              <a:rPr lang="vi-VN" sz="32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sai đem bánh và rượu ra</a:t>
            </a:r>
            <a:r>
              <a:rPr lang="vi-VN" sz="3200" noProof="1">
                <a:effectLst/>
                <a:latin typeface="Cambria" panose="02040503050406030204" pitchFamily="18" charset="0"/>
                <a:ea typeface="Calibri" panose="020F0502020204030204" pitchFamily="34" charset="0"/>
                <a:cs typeface="Times New Roman" panose="02020603050405020304" pitchFamily="18" charset="0"/>
              </a:rPr>
              <a:t>. Vả, </a:t>
            </a:r>
            <a:r>
              <a:rPr lang="vi-VN" sz="3200" noProof="1">
                <a:solidFill>
                  <a:srgbClr val="0070C0"/>
                </a:solidFill>
                <a:effectLst/>
                <a:latin typeface="Cambria" panose="02040503050406030204" pitchFamily="18" charset="0"/>
                <a:ea typeface="Calibri" panose="020F0502020204030204" pitchFamily="34" charset="0"/>
                <a:cs typeface="Times New Roman" panose="02020603050405020304" pitchFamily="18" charset="0"/>
              </a:rPr>
              <a:t>vua nầy là thầy tế-lễ của Đức Chúa Trời Chí-Cao</a:t>
            </a:r>
            <a:r>
              <a:rPr lang="vi-VN" sz="3200" noProof="1">
                <a:effectLst/>
                <a:latin typeface="Cambria" panose="02040503050406030204" pitchFamily="18" charset="0"/>
                <a:ea typeface="Calibri" panose="020F0502020204030204" pitchFamily="34" charset="0"/>
                <a:cs typeface="Times New Roman" panose="02020603050405020304" pitchFamily="18" charset="0"/>
              </a:rPr>
              <a:t>,  </a:t>
            </a:r>
            <a:r>
              <a:rPr lang="vi-VN" sz="3200" baseline="30000" noProof="1">
                <a:effectLst/>
                <a:latin typeface="Cambria" panose="02040503050406030204" pitchFamily="18" charset="0"/>
                <a:ea typeface="Calibri" panose="020F0502020204030204" pitchFamily="34" charset="0"/>
                <a:cs typeface="Times New Roman" panose="02020603050405020304" pitchFamily="18" charset="0"/>
              </a:rPr>
              <a:t>19</a:t>
            </a:r>
            <a:r>
              <a:rPr lang="vi-VN" sz="32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chúc phước</a:t>
            </a:r>
            <a:r>
              <a:rPr lang="vi-VN" sz="3200" noProof="1">
                <a:effectLst/>
                <a:latin typeface="Cambria" panose="02040503050406030204" pitchFamily="18" charset="0"/>
                <a:ea typeface="Calibri" panose="020F0502020204030204" pitchFamily="34" charset="0"/>
                <a:cs typeface="Times New Roman" panose="02020603050405020304" pitchFamily="18" charset="0"/>
              </a:rPr>
              <a:t> cho Áp-ram và nói rằng: Nguyện Đức Chúa Trời Chí-Cao, là </a:t>
            </a:r>
            <a:r>
              <a:rPr lang="vi-VN" sz="32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Đấng dựng nên trời và đất</a:t>
            </a:r>
            <a:r>
              <a:rPr lang="vi-VN" sz="3200" noProof="1">
                <a:effectLst/>
                <a:latin typeface="Cambria" panose="02040503050406030204" pitchFamily="18" charset="0"/>
                <a:ea typeface="Calibri" panose="020F0502020204030204" pitchFamily="34" charset="0"/>
                <a:cs typeface="Times New Roman" panose="02020603050405020304" pitchFamily="18" charset="0"/>
              </a:rPr>
              <a:t>, </a:t>
            </a:r>
            <a:r>
              <a:rPr lang="vi-VN" sz="3200" noProof="1">
                <a:solidFill>
                  <a:srgbClr val="000000"/>
                </a:solidFill>
                <a:effectLst/>
                <a:latin typeface="Cambria" panose="02040503050406030204" pitchFamily="18" charset="0"/>
                <a:ea typeface="Calibri" panose="020F0502020204030204" pitchFamily="34" charset="0"/>
                <a:cs typeface="Times New Roman" panose="02020603050405020304" pitchFamily="18" charset="0"/>
              </a:rPr>
              <a:t>ban phước cho Áp-ram</a:t>
            </a:r>
            <a:r>
              <a:rPr lang="vi-VN" sz="3200" noProof="1">
                <a:effectLst/>
                <a:latin typeface="Cambria" panose="02040503050406030204" pitchFamily="18" charset="0"/>
                <a:ea typeface="Calibri" panose="020F0502020204030204" pitchFamily="34" charset="0"/>
                <a:cs typeface="Times New Roman" panose="02020603050405020304" pitchFamily="18" charset="0"/>
              </a:rPr>
              <a:t>! </a:t>
            </a:r>
            <a:r>
              <a:rPr lang="vi-VN" sz="3200" baseline="30000" noProof="1">
                <a:effectLst/>
                <a:latin typeface="Cambria" panose="02040503050406030204" pitchFamily="18" charset="0"/>
                <a:ea typeface="Calibri" panose="020F0502020204030204" pitchFamily="34" charset="0"/>
                <a:cs typeface="Times New Roman" panose="02020603050405020304" pitchFamily="18" charset="0"/>
              </a:rPr>
              <a:t>20</a:t>
            </a:r>
            <a:r>
              <a:rPr lang="vi-VN" sz="3200" noProof="1">
                <a:effectLst/>
                <a:latin typeface="Cambria" panose="02040503050406030204" pitchFamily="18" charset="0"/>
                <a:ea typeface="Calibri" panose="020F0502020204030204" pitchFamily="34" charset="0"/>
                <a:cs typeface="Times New Roman" panose="02020603050405020304" pitchFamily="18" charset="0"/>
              </a:rPr>
              <a:t>Đáng ngợi-khen thay Đức Chúa Trời Chí-Cao đã </a:t>
            </a:r>
            <a:r>
              <a:rPr lang="vi-VN" sz="32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phó kẻ thù-nghịch vào tay ngươi</a:t>
            </a:r>
            <a:r>
              <a:rPr lang="vi-VN" sz="3200" noProof="1">
                <a:effectLst/>
                <a:latin typeface="Cambria" panose="02040503050406030204" pitchFamily="18" charset="0"/>
                <a:ea typeface="Calibri" panose="020F0502020204030204" pitchFamily="34" charset="0"/>
                <a:cs typeface="Times New Roman" panose="02020603050405020304" pitchFamily="18" charset="0"/>
              </a:rPr>
              <a:t>! Đoạn, </a:t>
            </a:r>
            <a:r>
              <a:rPr lang="vi-VN" sz="3200" noProof="1">
                <a:solidFill>
                  <a:srgbClr val="00B050"/>
                </a:solidFill>
                <a:effectLst/>
                <a:latin typeface="Cambria" panose="02040503050406030204" pitchFamily="18" charset="0"/>
                <a:ea typeface="Calibri" panose="020F0502020204030204" pitchFamily="34" charset="0"/>
                <a:cs typeface="Times New Roman" panose="02020603050405020304" pitchFamily="18" charset="0"/>
              </a:rPr>
              <a:t>Áp-ram lấy một phần mười về cả của giặc mà dâng cho vua đó</a:t>
            </a:r>
            <a:r>
              <a:rPr lang="vi-VN" sz="3200" noProof="1">
                <a:effectLst/>
                <a:latin typeface="Cambria" panose="02040503050406030204" pitchFamily="18" charset="0"/>
                <a:ea typeface="Calibri" panose="020F0502020204030204" pitchFamily="34" charset="0"/>
                <a:cs typeface="Times New Roman" panose="02020603050405020304" pitchFamily="18" charset="0"/>
              </a:rPr>
              <a:t>.</a:t>
            </a:r>
            <a:r>
              <a:rPr lang="vi-VN" sz="3200" noProof="1">
                <a:effectLst/>
                <a:latin typeface="Cambria" panose="02040503050406030204" pitchFamily="18" charset="0"/>
              </a:rPr>
              <a:t> </a:t>
            </a:r>
            <a:endParaRPr lang="vi-VN" sz="3200" noProof="1">
              <a:latin typeface="Cambria" panose="02040503050406030204" pitchFamily="18" charset="0"/>
            </a:endParaRPr>
          </a:p>
        </p:txBody>
      </p:sp>
    </p:spTree>
    <p:extLst>
      <p:ext uri="{BB962C8B-B14F-4D97-AF65-F5344CB8AC3E}">
        <p14:creationId xmlns:p14="http://schemas.microsoft.com/office/powerpoint/2010/main" val="3061891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6D596-5683-F9F0-6558-E231CB9B56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F910E05-0BC1-098A-C835-02086E460D78}"/>
              </a:ext>
            </a:extLst>
          </p:cNvPr>
          <p:cNvSpPr txBox="1"/>
          <p:nvPr/>
        </p:nvSpPr>
        <p:spPr>
          <a:xfrm>
            <a:off x="2240604" y="648485"/>
            <a:ext cx="7710792" cy="923330"/>
          </a:xfrm>
          <a:prstGeom prst="rect">
            <a:avLst/>
          </a:prstGeom>
          <a:noFill/>
        </p:spPr>
        <p:txBody>
          <a:bodyPr wrap="square">
            <a:spAutoFit/>
          </a:bodyPr>
          <a:lstStyle/>
          <a:p>
            <a:r>
              <a:rPr lang="vi-VN" sz="5400" b="1" dirty="0">
                <a:latin typeface="Cambria" panose="02040503050406030204" pitchFamily="18" charset="0"/>
                <a:cs typeface="Times New Roman" panose="02020603050405020304" pitchFamily="18" charset="0"/>
              </a:rPr>
              <a:t>Sáng thế ký 14:19</a:t>
            </a:r>
            <a:endParaRPr lang="en-VN" sz="5400" dirty="0"/>
          </a:p>
        </p:txBody>
      </p:sp>
      <p:pic>
        <p:nvPicPr>
          <p:cNvPr id="5122" name="Picture 2" descr="Bible - Free cultures icons">
            <a:extLst>
              <a:ext uri="{FF2B5EF4-FFF2-40B4-BE49-F238E27FC236}">
                <a16:creationId xmlns:a16="http://schemas.microsoft.com/office/drawing/2014/main" id="{2B172AE5-6243-CC9F-33C8-A37B3B6C09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165" y="249252"/>
            <a:ext cx="1721796" cy="17217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CEF0C4C-C513-B5FF-2767-F3D9BC603966}"/>
              </a:ext>
            </a:extLst>
          </p:cNvPr>
          <p:cNvSpPr txBox="1"/>
          <p:nvPr/>
        </p:nvSpPr>
        <p:spPr>
          <a:xfrm>
            <a:off x="363165" y="2279695"/>
            <a:ext cx="11465670" cy="584775"/>
          </a:xfrm>
          <a:prstGeom prst="rect">
            <a:avLst/>
          </a:prstGeom>
          <a:noFill/>
        </p:spPr>
        <p:txBody>
          <a:bodyPr wrap="square" rtlCol="0">
            <a:spAutoFit/>
          </a:bodyPr>
          <a:lstStyle/>
          <a:p>
            <a:pPr algn="just"/>
            <a:r>
              <a:rPr lang="vi-VN" sz="3200" noProof="1">
                <a:effectLst/>
                <a:latin typeface="Cambria" panose="02040503050406030204" pitchFamily="18" charset="0"/>
                <a:ea typeface="Calibri" panose="020F0502020204030204" pitchFamily="34" charset="0"/>
                <a:cs typeface="Times New Roman" panose="02020603050405020304" pitchFamily="18" charset="0"/>
              </a:rPr>
              <a:t>“... Nguyện Đức Chúa Trời Chí-Cao, là </a:t>
            </a:r>
            <a:r>
              <a:rPr lang="vi-VN" sz="3200" noProof="1">
                <a:solidFill>
                  <a:srgbClr val="4472C4"/>
                </a:solidFill>
                <a:effectLst/>
                <a:latin typeface="Cambria" panose="02040503050406030204" pitchFamily="18" charset="0"/>
                <a:ea typeface="Calibri" panose="020F0502020204030204" pitchFamily="34" charset="0"/>
                <a:cs typeface="Times New Roman" panose="02020603050405020304" pitchFamily="18" charset="0"/>
              </a:rPr>
              <a:t>Đấng dựng nên trời và đất</a:t>
            </a:r>
            <a:r>
              <a:rPr lang="vi-VN" sz="3200" noProof="1">
                <a:effectLst/>
                <a:latin typeface="Cambria" panose="02040503050406030204" pitchFamily="18" charset="0"/>
                <a:ea typeface="Calibri" panose="020F0502020204030204" pitchFamily="34" charset="0"/>
                <a:cs typeface="Times New Roman" panose="02020603050405020304" pitchFamily="18" charset="0"/>
              </a:rPr>
              <a:t>”</a:t>
            </a:r>
            <a:endParaRPr lang="vi-VN" sz="3200" noProof="1">
              <a:latin typeface="Cambria" panose="02040503050406030204" pitchFamily="18" charset="0"/>
            </a:endParaRPr>
          </a:p>
        </p:txBody>
      </p:sp>
      <p:sp>
        <p:nvSpPr>
          <p:cNvPr id="2" name="TextBox 1">
            <a:extLst>
              <a:ext uri="{FF2B5EF4-FFF2-40B4-BE49-F238E27FC236}">
                <a16:creationId xmlns:a16="http://schemas.microsoft.com/office/drawing/2014/main" id="{DEB5BB7E-6891-4171-3A65-CD23DE9A8451}"/>
              </a:ext>
            </a:extLst>
          </p:cNvPr>
          <p:cNvSpPr txBox="1"/>
          <p:nvPr/>
        </p:nvSpPr>
        <p:spPr>
          <a:xfrm>
            <a:off x="363166" y="3111567"/>
            <a:ext cx="11465669" cy="1305037"/>
          </a:xfrm>
          <a:prstGeom prst="rect">
            <a:avLst/>
          </a:prstGeom>
          <a:noFill/>
        </p:spPr>
        <p:txBody>
          <a:bodyPr wrap="square" rtlCol="0">
            <a:spAutoFit/>
          </a:bodyPr>
          <a:lstStyle/>
          <a:p>
            <a:pPr>
              <a:lnSpc>
                <a:spcPct val="150000"/>
              </a:lnSpc>
            </a:pPr>
            <a:r>
              <a:rPr lang="en-VN" sz="2800" noProof="1">
                <a:effectLst/>
                <a:latin typeface="Cambria" panose="02040503050406030204" pitchFamily="18" charset="0"/>
                <a:ea typeface="Calibri" panose="020F0502020204030204" pitchFamily="34" charset="0"/>
                <a:cs typeface="Times New Roman" panose="02020603050405020304" pitchFamily="18" charset="0"/>
              </a:rPr>
              <a:t>1. Quyền tể trị của Đức Chúa Trời trên mọi vật - hay nói cách khác mọi thứ trên đời này đều thuộc về Đức Chúa Trời – kể cả tài chính của chúng ta</a:t>
            </a:r>
          </a:p>
        </p:txBody>
      </p:sp>
      <p:sp>
        <p:nvSpPr>
          <p:cNvPr id="3" name="TextBox 2">
            <a:extLst>
              <a:ext uri="{FF2B5EF4-FFF2-40B4-BE49-F238E27FC236}">
                <a16:creationId xmlns:a16="http://schemas.microsoft.com/office/drawing/2014/main" id="{FABAC1F9-5D73-2162-CF5C-A4034697393B}"/>
              </a:ext>
            </a:extLst>
          </p:cNvPr>
          <p:cNvSpPr txBox="1"/>
          <p:nvPr/>
        </p:nvSpPr>
        <p:spPr>
          <a:xfrm>
            <a:off x="363166" y="4663701"/>
            <a:ext cx="11465669" cy="1951368"/>
          </a:xfrm>
          <a:prstGeom prst="rect">
            <a:avLst/>
          </a:prstGeom>
          <a:noFill/>
        </p:spPr>
        <p:txBody>
          <a:bodyPr wrap="square" rtlCol="0">
            <a:spAutoFit/>
          </a:bodyPr>
          <a:lstStyle/>
          <a:p>
            <a:pPr algn="just">
              <a:lnSpc>
                <a:spcPct val="150000"/>
              </a:lnSpc>
            </a:pPr>
            <a:r>
              <a:rPr lang="en-VN" sz="2800" noProof="1">
                <a:effectLst/>
                <a:latin typeface="Cambria" panose="02040503050406030204" pitchFamily="18" charset="0"/>
                <a:ea typeface="Calibri" panose="020F0502020204030204" pitchFamily="34" charset="0"/>
                <a:cs typeface="Times New Roman" panose="02020603050405020304" pitchFamily="18" charset="0"/>
              </a:rPr>
              <a:t>2. </a:t>
            </a:r>
            <a:r>
              <a:rPr lang="en-US" sz="2800" noProof="1">
                <a:effectLst/>
                <a:latin typeface="Cambria" panose="02040503050406030204" pitchFamily="18" charset="0"/>
                <a:ea typeface="Calibri" panose="020F0502020204030204" pitchFamily="34" charset="0"/>
                <a:cs typeface="Times New Roman" panose="02020603050405020304" pitchFamily="18" charset="0"/>
              </a:rPr>
              <a:t>Đức Chúa Trời có quyền quyết định sử dụng tài sản của Ngài theo cách Ngài muốn: Ngài có quyền ban cho ai cái gì, chức danh gì, dùng làm gì đều là theo ý muốn Ngài</a:t>
            </a:r>
            <a:endParaRPr lang="en-VN" sz="2800" noProof="1">
              <a:effectLst/>
              <a:latin typeface="Cambria" panose="020405030504060302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18977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p:tgtEl>
                                          <p:spTgt spid="3"/>
                                        </p:tgtEl>
                                        <p:attrNameLst>
                                          <p:attrName>ppt_y</p:attrName>
                                        </p:attrNameLst>
                                      </p:cBhvr>
                                      <p:tavLst>
                                        <p:tav tm="0">
                                          <p:val>
                                            <p:strVal val="#ppt_y+#ppt_h*1.125000"/>
                                          </p:val>
                                        </p:tav>
                                        <p:tav tm="100000">
                                          <p:val>
                                            <p:strVal val="#ppt_y"/>
                                          </p:val>
                                        </p:tav>
                                      </p:tavLst>
                                    </p:anim>
                                    <p:animEffect transition="in" filter="wipe(up)">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E2345-69E4-7CA8-2CBB-434B448E3AD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3EE8A49-93EE-DD96-76A5-44A20C65BA24}"/>
              </a:ext>
            </a:extLst>
          </p:cNvPr>
          <p:cNvSpPr txBox="1"/>
          <p:nvPr/>
        </p:nvSpPr>
        <p:spPr>
          <a:xfrm>
            <a:off x="2240604" y="648485"/>
            <a:ext cx="7710792" cy="923330"/>
          </a:xfrm>
          <a:prstGeom prst="rect">
            <a:avLst/>
          </a:prstGeom>
          <a:noFill/>
        </p:spPr>
        <p:txBody>
          <a:bodyPr wrap="square">
            <a:spAutoFit/>
          </a:bodyPr>
          <a:lstStyle/>
          <a:p>
            <a:r>
              <a:rPr lang="vi-VN" sz="5400" b="1" dirty="0">
                <a:latin typeface="Cambria" panose="02040503050406030204" pitchFamily="18" charset="0"/>
                <a:cs typeface="Times New Roman" panose="02020603050405020304" pitchFamily="18" charset="0"/>
              </a:rPr>
              <a:t>Sáng thế ký 14:20</a:t>
            </a:r>
            <a:endParaRPr lang="en-VN" sz="5400" dirty="0"/>
          </a:p>
        </p:txBody>
      </p:sp>
      <p:pic>
        <p:nvPicPr>
          <p:cNvPr id="5122" name="Picture 2" descr="Bible - Free cultures icons">
            <a:extLst>
              <a:ext uri="{FF2B5EF4-FFF2-40B4-BE49-F238E27FC236}">
                <a16:creationId xmlns:a16="http://schemas.microsoft.com/office/drawing/2014/main" id="{35148996-D321-E8E7-6CA8-60EF4780E8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165" y="249252"/>
            <a:ext cx="1721796" cy="17217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D3F7FA8-2019-5483-81ED-C102D4ADB524}"/>
              </a:ext>
            </a:extLst>
          </p:cNvPr>
          <p:cNvSpPr txBox="1"/>
          <p:nvPr/>
        </p:nvSpPr>
        <p:spPr>
          <a:xfrm>
            <a:off x="363165" y="2279695"/>
            <a:ext cx="11465670" cy="584775"/>
          </a:xfrm>
          <a:prstGeom prst="rect">
            <a:avLst/>
          </a:prstGeom>
          <a:noFill/>
        </p:spPr>
        <p:txBody>
          <a:bodyPr wrap="square" rtlCol="0">
            <a:spAutoFit/>
          </a:bodyPr>
          <a:lstStyle/>
          <a:p>
            <a:pPr algn="just"/>
            <a:r>
              <a:rPr lang="vi-VN" sz="3200" noProof="1">
                <a:effectLst/>
                <a:latin typeface="Cambria" panose="02040503050406030204" pitchFamily="18" charset="0"/>
                <a:ea typeface="Calibri" panose="020F0502020204030204" pitchFamily="34" charset="0"/>
                <a:cs typeface="Times New Roman" panose="02020603050405020304" pitchFamily="18" charset="0"/>
              </a:rPr>
              <a:t>“… Đức Chúa Trời Chí-Cao đã </a:t>
            </a:r>
            <a:r>
              <a:rPr lang="vi-VN" sz="3200" noProof="1">
                <a:solidFill>
                  <a:srgbClr val="0070C0"/>
                </a:solidFill>
                <a:effectLst/>
                <a:latin typeface="Cambria" panose="02040503050406030204" pitchFamily="18" charset="0"/>
                <a:ea typeface="Calibri" panose="020F0502020204030204" pitchFamily="34" charset="0"/>
                <a:cs typeface="Times New Roman" panose="02020603050405020304" pitchFamily="18" charset="0"/>
              </a:rPr>
              <a:t>phó kẻ thù-nghịch vào tay ngươi</a:t>
            </a:r>
            <a:r>
              <a:rPr lang="vi-VN" sz="3200" noProof="1">
                <a:effectLst/>
                <a:latin typeface="Cambria" panose="02040503050406030204" pitchFamily="18" charset="0"/>
                <a:ea typeface="Calibri" panose="020F0502020204030204" pitchFamily="34" charset="0"/>
                <a:cs typeface="Times New Roman" panose="02020603050405020304" pitchFamily="18" charset="0"/>
              </a:rPr>
              <a:t>!”</a:t>
            </a:r>
            <a:endParaRPr lang="vi-VN" sz="3200" noProof="1">
              <a:latin typeface="Cambria" panose="02040503050406030204" pitchFamily="18" charset="0"/>
            </a:endParaRPr>
          </a:p>
        </p:txBody>
      </p:sp>
      <p:sp>
        <p:nvSpPr>
          <p:cNvPr id="2" name="TextBox 1">
            <a:extLst>
              <a:ext uri="{FF2B5EF4-FFF2-40B4-BE49-F238E27FC236}">
                <a16:creationId xmlns:a16="http://schemas.microsoft.com/office/drawing/2014/main" id="{5C02EB17-92D4-9534-0258-68B6E9464E3F}"/>
              </a:ext>
            </a:extLst>
          </p:cNvPr>
          <p:cNvSpPr txBox="1"/>
          <p:nvPr/>
        </p:nvSpPr>
        <p:spPr>
          <a:xfrm>
            <a:off x="363163" y="4245772"/>
            <a:ext cx="11465669" cy="658706"/>
          </a:xfrm>
          <a:prstGeom prst="rect">
            <a:avLst/>
          </a:prstGeom>
          <a:noFill/>
        </p:spPr>
        <p:txBody>
          <a:bodyPr wrap="square" rtlCol="0">
            <a:spAutoFit/>
          </a:bodyPr>
          <a:lstStyle/>
          <a:p>
            <a:pPr>
              <a:lnSpc>
                <a:spcPct val="150000"/>
              </a:lnSpc>
            </a:pPr>
            <a:r>
              <a:rPr lang="en-VN" sz="2800" noProof="1">
                <a:effectLst/>
                <a:latin typeface="Cambria" panose="02040503050406030204" pitchFamily="18" charset="0"/>
                <a:ea typeface="Calibri" panose="020F0502020204030204" pitchFamily="34" charset="0"/>
                <a:cs typeface="Times New Roman" panose="02020603050405020304" pitchFamily="18" charset="0"/>
              </a:rPr>
              <a:t>1. Đức Chúa Trời ban cho Áp-ram sự thắng trận</a:t>
            </a:r>
          </a:p>
        </p:txBody>
      </p:sp>
      <p:sp>
        <p:nvSpPr>
          <p:cNvPr id="3" name="TextBox 2">
            <a:extLst>
              <a:ext uri="{FF2B5EF4-FFF2-40B4-BE49-F238E27FC236}">
                <a16:creationId xmlns:a16="http://schemas.microsoft.com/office/drawing/2014/main" id="{FFFACEFB-9E07-4FB5-D348-F87E3C556F1E}"/>
              </a:ext>
            </a:extLst>
          </p:cNvPr>
          <p:cNvSpPr txBox="1"/>
          <p:nvPr/>
        </p:nvSpPr>
        <p:spPr>
          <a:xfrm>
            <a:off x="363163" y="4904478"/>
            <a:ext cx="11465669" cy="658706"/>
          </a:xfrm>
          <a:prstGeom prst="rect">
            <a:avLst/>
          </a:prstGeom>
          <a:noFill/>
        </p:spPr>
        <p:txBody>
          <a:bodyPr wrap="square" rtlCol="0">
            <a:spAutoFit/>
          </a:bodyPr>
          <a:lstStyle/>
          <a:p>
            <a:pPr algn="just">
              <a:lnSpc>
                <a:spcPct val="150000"/>
              </a:lnSpc>
            </a:pPr>
            <a:r>
              <a:rPr lang="en-VN" sz="2800" noProof="1">
                <a:effectLst/>
                <a:latin typeface="Cambria" panose="02040503050406030204" pitchFamily="18" charset="0"/>
                <a:ea typeface="Calibri" panose="020F0502020204030204" pitchFamily="34" charset="0"/>
                <a:cs typeface="Times New Roman" panose="02020603050405020304" pitchFamily="18" charset="0"/>
              </a:rPr>
              <a:t>2. Đức Chúa Trời ban cho Áp-ram những tài sản của Sô-đôm</a:t>
            </a:r>
          </a:p>
        </p:txBody>
      </p:sp>
      <p:sp>
        <p:nvSpPr>
          <p:cNvPr id="6" name="TextBox 5">
            <a:extLst>
              <a:ext uri="{FF2B5EF4-FFF2-40B4-BE49-F238E27FC236}">
                <a16:creationId xmlns:a16="http://schemas.microsoft.com/office/drawing/2014/main" id="{3E335B50-B600-97DD-28B7-F42526550326}"/>
              </a:ext>
            </a:extLst>
          </p:cNvPr>
          <p:cNvSpPr txBox="1"/>
          <p:nvPr/>
        </p:nvSpPr>
        <p:spPr>
          <a:xfrm>
            <a:off x="363163" y="3530447"/>
            <a:ext cx="11465669" cy="461665"/>
          </a:xfrm>
          <a:prstGeom prst="rect">
            <a:avLst/>
          </a:prstGeom>
          <a:noFill/>
        </p:spPr>
        <p:txBody>
          <a:bodyPr wrap="square" rtlCol="0">
            <a:spAutoFit/>
          </a:bodyPr>
          <a:lstStyle/>
          <a:p>
            <a:r>
              <a:rPr lang="vi-VN" sz="2400" b="0" i="0" u="none" strike="noStrike" dirty="0">
                <a:solidFill>
                  <a:srgbClr val="121212"/>
                </a:solidFill>
                <a:effectLst/>
                <a:latin typeface="Cambria" panose="02040503050406030204" pitchFamily="18" charset="0"/>
              </a:rPr>
              <a:t>“Người </a:t>
            </a:r>
            <a:r>
              <a:rPr lang="vi-VN" sz="2400" b="0" i="0" u="none" strike="noStrike" dirty="0">
                <a:solidFill>
                  <a:srgbClr val="FF0000"/>
                </a:solidFill>
                <a:effectLst/>
                <a:latin typeface="Cambria" panose="02040503050406030204" pitchFamily="18" charset="0"/>
              </a:rPr>
              <a:t>thâu về đủ hết các tài-vật mà quân giặc đã cướp lấy</a:t>
            </a:r>
            <a:r>
              <a:rPr lang="vi-VN" sz="2400" b="0" i="0" u="none" strike="noStrike" dirty="0">
                <a:solidFill>
                  <a:srgbClr val="121212"/>
                </a:solidFill>
                <a:effectLst/>
                <a:latin typeface="Cambria" panose="02040503050406030204" pitchFamily="18" charset="0"/>
              </a:rPr>
              <a:t>; ….” – Sáng 14:16</a:t>
            </a:r>
            <a:endParaRPr lang="en-VN" sz="2400" dirty="0">
              <a:latin typeface="Cambria" panose="02040503050406030204" pitchFamily="18" charset="0"/>
            </a:endParaRPr>
          </a:p>
        </p:txBody>
      </p:sp>
      <p:sp>
        <p:nvSpPr>
          <p:cNvPr id="7" name="TextBox 6">
            <a:extLst>
              <a:ext uri="{FF2B5EF4-FFF2-40B4-BE49-F238E27FC236}">
                <a16:creationId xmlns:a16="http://schemas.microsoft.com/office/drawing/2014/main" id="{C84140C4-B787-91B0-8CAA-61B87615AF7A}"/>
              </a:ext>
            </a:extLst>
          </p:cNvPr>
          <p:cNvSpPr txBox="1"/>
          <p:nvPr/>
        </p:nvSpPr>
        <p:spPr>
          <a:xfrm>
            <a:off x="363163" y="2969236"/>
            <a:ext cx="11465669" cy="461665"/>
          </a:xfrm>
          <a:prstGeom prst="rect">
            <a:avLst/>
          </a:prstGeom>
          <a:noFill/>
        </p:spPr>
        <p:txBody>
          <a:bodyPr wrap="square" rtlCol="0">
            <a:spAutoFit/>
          </a:bodyPr>
          <a:lstStyle/>
          <a:p>
            <a:r>
              <a:rPr lang="vi-VN" sz="2400" b="0" i="0" u="none" strike="noStrike" dirty="0">
                <a:solidFill>
                  <a:srgbClr val="121212"/>
                </a:solidFill>
                <a:effectLst/>
                <a:latin typeface="Cambria" panose="02040503050406030204" pitchFamily="18" charset="0"/>
              </a:rPr>
              <a:t>“… </a:t>
            </a:r>
            <a:r>
              <a:rPr lang="vi-VN" sz="2400" b="0" i="0" u="none" strike="noStrike" dirty="0">
                <a:solidFill>
                  <a:srgbClr val="FF0000"/>
                </a:solidFill>
                <a:effectLst/>
                <a:latin typeface="Cambria" panose="02040503050406030204" pitchFamily="18" charset="0"/>
              </a:rPr>
              <a:t>Áp-ram đánh bại Kết-rô-Lao-me và các vua đồng-minh</a:t>
            </a:r>
            <a:r>
              <a:rPr lang="vi-VN" sz="2400" b="0" i="0" u="none" strike="noStrike" dirty="0">
                <a:solidFill>
                  <a:srgbClr val="121212"/>
                </a:solidFill>
                <a:effectLst/>
                <a:latin typeface="Cambria" panose="02040503050406030204" pitchFamily="18" charset="0"/>
              </a:rPr>
              <a:t>, …” – Sáng 14:17</a:t>
            </a:r>
            <a:endParaRPr lang="en-VN" sz="2400" dirty="0">
              <a:latin typeface="Cambria" panose="02040503050406030204" pitchFamily="18" charset="0"/>
            </a:endParaRPr>
          </a:p>
        </p:txBody>
      </p:sp>
    </p:spTree>
    <p:extLst>
      <p:ext uri="{BB962C8B-B14F-4D97-AF65-F5344CB8AC3E}">
        <p14:creationId xmlns:p14="http://schemas.microsoft.com/office/powerpoint/2010/main" val="3212929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p:tgtEl>
                                          <p:spTgt spid="6"/>
                                        </p:tgtEl>
                                        <p:attrNameLst>
                                          <p:attrName>ppt_y</p:attrName>
                                        </p:attrNameLst>
                                      </p:cBhvr>
                                      <p:tavLst>
                                        <p:tav tm="0">
                                          <p:val>
                                            <p:strVal val="#ppt_y+#ppt_h*1.125000"/>
                                          </p:val>
                                        </p:tav>
                                        <p:tav tm="100000">
                                          <p:val>
                                            <p:strVal val="#ppt_y"/>
                                          </p:val>
                                        </p:tav>
                                      </p:tavLst>
                                    </p:anim>
                                    <p:animEffect transition="in" filter="wipe(up)">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p:tgtEl>
                                          <p:spTgt spid="2"/>
                                        </p:tgtEl>
                                        <p:attrNameLst>
                                          <p:attrName>ppt_y</p:attrName>
                                        </p:attrNameLst>
                                      </p:cBhvr>
                                      <p:tavLst>
                                        <p:tav tm="0">
                                          <p:val>
                                            <p:strVal val="#ppt_y+#ppt_h*1.125000"/>
                                          </p:val>
                                        </p:tav>
                                        <p:tav tm="100000">
                                          <p:val>
                                            <p:strVal val="#ppt_y"/>
                                          </p:val>
                                        </p:tav>
                                      </p:tavLst>
                                    </p:anim>
                                    <p:animEffect transition="in" filter="wipe(up)">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p:tgtEl>
                                          <p:spTgt spid="3"/>
                                        </p:tgtEl>
                                        <p:attrNameLst>
                                          <p:attrName>ppt_y</p:attrName>
                                        </p:attrNameLst>
                                      </p:cBhvr>
                                      <p:tavLst>
                                        <p:tav tm="0">
                                          <p:val>
                                            <p:strVal val="#ppt_y+#ppt_h*1.125000"/>
                                          </p:val>
                                        </p:tav>
                                        <p:tav tm="100000">
                                          <p:val>
                                            <p:strVal val="#ppt_y"/>
                                          </p:val>
                                        </p:tav>
                                      </p:tavLst>
                                    </p:anim>
                                    <p:animEffect transition="in" filter="wipe(up)">
                                      <p:cBhvr>
                                        <p:cTn id="2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BC5D0-626D-E76C-CCE7-F8210D1CC4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2C40049-1772-C710-D5C0-F04A184303FE}"/>
              </a:ext>
            </a:extLst>
          </p:cNvPr>
          <p:cNvSpPr txBox="1"/>
          <p:nvPr/>
        </p:nvSpPr>
        <p:spPr>
          <a:xfrm>
            <a:off x="363161" y="370125"/>
            <a:ext cx="7360598" cy="2020681"/>
          </a:xfrm>
          <a:prstGeom prst="rect">
            <a:avLst/>
          </a:prstGeom>
          <a:noFill/>
        </p:spPr>
        <p:txBody>
          <a:bodyPr wrap="square">
            <a:spAutoFit/>
          </a:bodyPr>
          <a:lstStyle/>
          <a:p>
            <a:pPr>
              <a:lnSpc>
                <a:spcPct val="150000"/>
              </a:lnSpc>
            </a:pPr>
            <a:r>
              <a:rPr lang="en-VN" sz="3000" b="1" noProof="1">
                <a:latin typeface="Cambria" panose="02040503050406030204" pitchFamily="18" charset="0"/>
                <a:cs typeface="Times New Roman" panose="02020603050405020304" pitchFamily="18" charset="0"/>
              </a:rPr>
              <a:t>Nguyên tắc của cải (nhìn nhận):</a:t>
            </a:r>
          </a:p>
          <a:p>
            <a:pPr algn="ctr">
              <a:lnSpc>
                <a:spcPct val="150000"/>
              </a:lnSpc>
            </a:pPr>
            <a:r>
              <a:rPr lang="en-VN" sz="6000" b="1" noProof="1">
                <a:solidFill>
                  <a:srgbClr val="00B050"/>
                </a:solidFill>
                <a:latin typeface="Cambria" panose="02040503050406030204" pitchFamily="18" charset="0"/>
                <a:cs typeface="Times New Roman" panose="02020603050405020304" pitchFamily="18" charset="0"/>
              </a:rPr>
              <a:t>Quyền sở hữu </a:t>
            </a:r>
            <a:endParaRPr lang="en-VN" sz="6000" noProof="1">
              <a:solidFill>
                <a:srgbClr val="00B050"/>
              </a:solidFill>
            </a:endParaRPr>
          </a:p>
        </p:txBody>
      </p:sp>
      <p:sp>
        <p:nvSpPr>
          <p:cNvPr id="3" name="TextBox 2">
            <a:extLst>
              <a:ext uri="{FF2B5EF4-FFF2-40B4-BE49-F238E27FC236}">
                <a16:creationId xmlns:a16="http://schemas.microsoft.com/office/drawing/2014/main" id="{15EE5A06-E262-3240-0E90-CA84CFEBB63E}"/>
              </a:ext>
            </a:extLst>
          </p:cNvPr>
          <p:cNvSpPr txBox="1"/>
          <p:nvPr/>
        </p:nvSpPr>
        <p:spPr>
          <a:xfrm>
            <a:off x="363161" y="4330223"/>
            <a:ext cx="10868055" cy="1305037"/>
          </a:xfrm>
          <a:prstGeom prst="rect">
            <a:avLst/>
          </a:prstGeom>
          <a:noFill/>
        </p:spPr>
        <p:txBody>
          <a:bodyPr wrap="square" rtlCol="0">
            <a:spAutoFit/>
          </a:bodyPr>
          <a:lstStyle/>
          <a:p>
            <a:pPr algn="just">
              <a:lnSpc>
                <a:spcPct val="150000"/>
              </a:lnSpc>
            </a:pPr>
            <a:r>
              <a:rPr lang="en-VN" sz="2800" noProof="1">
                <a:effectLst/>
                <a:latin typeface="Cambria" panose="02040503050406030204" pitchFamily="18" charset="0"/>
                <a:ea typeface="Calibri" panose="020F0502020204030204" pitchFamily="34" charset="0"/>
                <a:cs typeface="Times New Roman" panose="02020603050405020304" pitchFamily="18" charset="0"/>
              </a:rPr>
              <a:t>2. </a:t>
            </a:r>
            <a:r>
              <a:rPr lang="en-VN" sz="2800" noProof="1">
                <a:latin typeface="Cambria" panose="02040503050406030204" pitchFamily="18" charset="0"/>
                <a:ea typeface="Calibri" panose="020F0502020204030204" pitchFamily="34" charset="0"/>
                <a:cs typeface="Times New Roman" panose="02020603050405020304" pitchFamily="18" charset="0"/>
              </a:rPr>
              <a:t>Nguồn tài sản / tài chính mà chúng ta có được chính là từ sự ban cho của Đức Chúa Trời</a:t>
            </a:r>
            <a:endParaRPr lang="en-VN" sz="2800" noProof="1">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11266" name="Picture 2" descr="Principle - Free security icons">
            <a:extLst>
              <a:ext uri="{FF2B5EF4-FFF2-40B4-BE49-F238E27FC236}">
                <a16:creationId xmlns:a16="http://schemas.microsoft.com/office/drawing/2014/main" id="{FF14C5A4-54FC-BAD6-2053-3949B1342C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9192" y="181994"/>
            <a:ext cx="2779642" cy="277964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35EE5728-6F96-284A-ECCE-BCF94723ABB1}"/>
              </a:ext>
            </a:extLst>
          </p:cNvPr>
          <p:cNvSpPr txBox="1"/>
          <p:nvPr/>
        </p:nvSpPr>
        <p:spPr>
          <a:xfrm>
            <a:off x="363163" y="2624253"/>
            <a:ext cx="8184490" cy="1305037"/>
          </a:xfrm>
          <a:prstGeom prst="rect">
            <a:avLst/>
          </a:prstGeom>
          <a:noFill/>
        </p:spPr>
        <p:txBody>
          <a:bodyPr wrap="square" rtlCol="0">
            <a:spAutoFit/>
          </a:bodyPr>
          <a:lstStyle/>
          <a:p>
            <a:pPr algn="just">
              <a:lnSpc>
                <a:spcPct val="150000"/>
              </a:lnSpc>
            </a:pPr>
            <a:r>
              <a:rPr lang="en-VN" sz="2800" noProof="1">
                <a:effectLst/>
                <a:latin typeface="Cambria" panose="02040503050406030204" pitchFamily="18" charset="0"/>
                <a:ea typeface="Calibri" panose="020F0502020204030204" pitchFamily="34" charset="0"/>
                <a:cs typeface="Times New Roman" panose="02020603050405020304" pitchFamily="18" charset="0"/>
              </a:rPr>
              <a:t>1. </a:t>
            </a:r>
            <a:r>
              <a:rPr lang="en-VN" sz="2800" noProof="1">
                <a:latin typeface="Cambria" panose="02040503050406030204" pitchFamily="18" charset="0"/>
                <a:ea typeface="Calibri" panose="020F0502020204030204" pitchFamily="34" charset="0"/>
                <a:cs typeface="Times New Roman" panose="02020603050405020304" pitchFamily="18" charset="0"/>
              </a:rPr>
              <a:t>Đức Chúa Trời là chủ và là Đấng sở hữu mọi tài sản chúng ta có</a:t>
            </a:r>
            <a:endParaRPr lang="en-VN" sz="2800" noProof="1">
              <a:effectLst/>
              <a:latin typeface="Cambria" panose="020405030504060302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76819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p:tgtEl>
                                          <p:spTgt spid="18"/>
                                        </p:tgtEl>
                                        <p:attrNameLst>
                                          <p:attrName>ppt_y</p:attrName>
                                        </p:attrNameLst>
                                      </p:cBhvr>
                                      <p:tavLst>
                                        <p:tav tm="0">
                                          <p:val>
                                            <p:strVal val="#ppt_y+#ppt_h*1.125000"/>
                                          </p:val>
                                        </p:tav>
                                        <p:tav tm="100000">
                                          <p:val>
                                            <p:strVal val="#ppt_y"/>
                                          </p:val>
                                        </p:tav>
                                      </p:tavLst>
                                    </p:anim>
                                    <p:animEffect transition="in" filter="wipe(up)">
                                      <p:cBhvr>
                                        <p:cTn id="8" dur="500"/>
                                        <p:tgtEl>
                                          <p:spTgt spid="18"/>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p:tgtEl>
                                          <p:spTgt spid="3"/>
                                        </p:tgtEl>
                                        <p:attrNameLst>
                                          <p:attrName>ppt_y</p:attrName>
                                        </p:attrNameLst>
                                      </p:cBhvr>
                                      <p:tavLst>
                                        <p:tav tm="0">
                                          <p:val>
                                            <p:strVal val="#ppt_y+#ppt_h*1.125000"/>
                                          </p:val>
                                        </p:tav>
                                        <p:tav tm="100000">
                                          <p:val>
                                            <p:strVal val="#ppt_y"/>
                                          </p:val>
                                        </p:tav>
                                      </p:tavLst>
                                    </p:anim>
                                    <p:animEffect transition="in" filter="wipe(up)">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91EEE-F5A0-983D-0DEE-07348ED80DC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2630558-0B29-2C05-F8DE-F06216C2F1EF}"/>
              </a:ext>
            </a:extLst>
          </p:cNvPr>
          <p:cNvSpPr txBox="1"/>
          <p:nvPr/>
        </p:nvSpPr>
        <p:spPr>
          <a:xfrm>
            <a:off x="2240604" y="648485"/>
            <a:ext cx="7710792" cy="923330"/>
          </a:xfrm>
          <a:prstGeom prst="rect">
            <a:avLst/>
          </a:prstGeom>
          <a:noFill/>
        </p:spPr>
        <p:txBody>
          <a:bodyPr wrap="square">
            <a:spAutoFit/>
          </a:bodyPr>
          <a:lstStyle/>
          <a:p>
            <a:r>
              <a:rPr lang="vi-VN" sz="5400" b="1" dirty="0">
                <a:latin typeface="Cambria" panose="02040503050406030204" pitchFamily="18" charset="0"/>
                <a:cs typeface="Times New Roman" panose="02020603050405020304" pitchFamily="18" charset="0"/>
              </a:rPr>
              <a:t>Sáng thế ký 14:15</a:t>
            </a:r>
            <a:endParaRPr lang="en-VN" sz="5400" dirty="0"/>
          </a:p>
        </p:txBody>
      </p:sp>
      <p:pic>
        <p:nvPicPr>
          <p:cNvPr id="5122" name="Picture 2" descr="Bible - Free cultures icons">
            <a:extLst>
              <a:ext uri="{FF2B5EF4-FFF2-40B4-BE49-F238E27FC236}">
                <a16:creationId xmlns:a16="http://schemas.microsoft.com/office/drawing/2014/main" id="{7B637445-F0C7-858E-0443-7237357FB5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165" y="249252"/>
            <a:ext cx="1721796" cy="17217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9024D08-EAB3-6775-FEB2-FFCCD2F8BE3C}"/>
              </a:ext>
            </a:extLst>
          </p:cNvPr>
          <p:cNvSpPr txBox="1"/>
          <p:nvPr/>
        </p:nvSpPr>
        <p:spPr>
          <a:xfrm>
            <a:off x="363165" y="2130074"/>
            <a:ext cx="11465670" cy="1569660"/>
          </a:xfrm>
          <a:prstGeom prst="rect">
            <a:avLst/>
          </a:prstGeom>
          <a:noFill/>
        </p:spPr>
        <p:txBody>
          <a:bodyPr wrap="square" rtlCol="0">
            <a:spAutoFit/>
          </a:bodyPr>
          <a:lstStyle/>
          <a:p>
            <a:pPr algn="just"/>
            <a:r>
              <a:rPr lang="vi-VN" sz="3200" baseline="30000" noProof="1">
                <a:latin typeface="Cambria" panose="02040503050406030204" pitchFamily="18" charset="0"/>
                <a:ea typeface="Calibri" panose="020F0502020204030204" pitchFamily="34" charset="0"/>
                <a:cs typeface="Times New Roman" panose="02020603050405020304" pitchFamily="18" charset="0"/>
              </a:rPr>
              <a:t>“</a:t>
            </a:r>
            <a:r>
              <a:rPr lang="vi-VN" sz="3200" noProof="1">
                <a:effectLst/>
                <a:latin typeface="Cambria" panose="02040503050406030204" pitchFamily="18" charset="0"/>
                <a:ea typeface="Calibri" panose="020F0502020204030204" pitchFamily="34" charset="0"/>
                <a:cs typeface="Times New Roman" panose="02020603050405020304" pitchFamily="18" charset="0"/>
              </a:rPr>
              <a:t>Đoạn Áp-ram </a:t>
            </a:r>
            <a:r>
              <a:rPr lang="vi-VN" sz="32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chia bọn đầy-tớ mình ra</a:t>
            </a:r>
            <a:r>
              <a:rPr lang="vi-VN" sz="3200" noProof="1">
                <a:effectLst/>
                <a:latin typeface="Cambria" panose="02040503050406030204" pitchFamily="18" charset="0"/>
                <a:ea typeface="Calibri" panose="020F0502020204030204" pitchFamily="34" charset="0"/>
                <a:cs typeface="Times New Roman" panose="02020603050405020304" pitchFamily="18" charset="0"/>
              </a:rPr>
              <a:t>, </a:t>
            </a:r>
          </a:p>
          <a:p>
            <a:pPr algn="just"/>
            <a:r>
              <a:rPr lang="vi-VN" sz="3200" noProof="1">
                <a:effectLst/>
                <a:latin typeface="Cambria" panose="02040503050406030204" pitchFamily="18" charset="0"/>
                <a:ea typeface="Calibri" panose="020F0502020204030204" pitchFamily="34" charset="0"/>
                <a:cs typeface="Times New Roman" panose="02020603050405020304" pitchFamily="18" charset="0"/>
              </a:rPr>
              <a:t>thừa ban đêm </a:t>
            </a:r>
            <a:r>
              <a:rPr lang="vi-VN" sz="32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xông hãm quân nghịch</a:t>
            </a:r>
            <a:r>
              <a:rPr lang="vi-VN" sz="3200" noProof="1">
                <a:effectLst/>
                <a:latin typeface="Cambria" panose="02040503050406030204" pitchFamily="18" charset="0"/>
                <a:ea typeface="Calibri" panose="020F0502020204030204" pitchFamily="34" charset="0"/>
                <a:cs typeface="Times New Roman" panose="02020603050405020304" pitchFamily="18" charset="0"/>
              </a:rPr>
              <a:t>, </a:t>
            </a:r>
            <a:r>
              <a:rPr lang="vi-VN" sz="32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đánh đuổi </a:t>
            </a:r>
            <a:r>
              <a:rPr lang="vi-VN" sz="3200" noProof="1">
                <a:effectLst/>
                <a:latin typeface="Cambria" panose="02040503050406030204" pitchFamily="18" charset="0"/>
                <a:ea typeface="Calibri" panose="020F0502020204030204" pitchFamily="34" charset="0"/>
                <a:cs typeface="Times New Roman" panose="02020603050405020304" pitchFamily="18" charset="0"/>
              </a:rPr>
              <a:t>theo đến đất Hô-ba ở về phía tả Đa-mách” – Sáng 14:15</a:t>
            </a:r>
            <a:endParaRPr lang="vi-VN" sz="3200" noProof="1">
              <a:latin typeface="Cambria" panose="02040503050406030204" pitchFamily="18" charset="0"/>
            </a:endParaRPr>
          </a:p>
        </p:txBody>
      </p:sp>
      <p:sp>
        <p:nvSpPr>
          <p:cNvPr id="8" name="TextBox 7">
            <a:extLst>
              <a:ext uri="{FF2B5EF4-FFF2-40B4-BE49-F238E27FC236}">
                <a16:creationId xmlns:a16="http://schemas.microsoft.com/office/drawing/2014/main" id="{D22164D9-CC14-89B1-84F5-1A1334889012}"/>
              </a:ext>
            </a:extLst>
          </p:cNvPr>
          <p:cNvSpPr txBox="1"/>
          <p:nvPr/>
        </p:nvSpPr>
        <p:spPr>
          <a:xfrm>
            <a:off x="363165" y="3858760"/>
            <a:ext cx="11465670" cy="954107"/>
          </a:xfrm>
          <a:prstGeom prst="rect">
            <a:avLst/>
          </a:prstGeom>
          <a:noFill/>
        </p:spPr>
        <p:txBody>
          <a:bodyPr wrap="square" rtlCol="0">
            <a:spAutoFit/>
          </a:bodyPr>
          <a:lstStyle/>
          <a:p>
            <a:r>
              <a:rPr lang="vi-VN" sz="2800" b="1" kern="100" dirty="0">
                <a:effectLst/>
                <a:latin typeface="Cambria" panose="02040503050406030204" pitchFamily="18" charset="0"/>
                <a:ea typeface="Calibri" panose="020F0502020204030204" pitchFamily="34" charset="0"/>
                <a:cs typeface="Times New Roman" panose="02020603050405020304" pitchFamily="18" charset="0"/>
              </a:rPr>
              <a:t>Sáng thế ký 3:17</a:t>
            </a:r>
            <a:r>
              <a:rPr lang="vi-VN" sz="2800" kern="100" dirty="0">
                <a:effectLst/>
                <a:latin typeface="Cambria" panose="02040503050406030204" pitchFamily="18" charset="0"/>
                <a:ea typeface="Calibri" panose="020F0502020204030204" pitchFamily="34" charset="0"/>
                <a:cs typeface="Times New Roman" panose="02020603050405020304" pitchFamily="18" charset="0"/>
              </a:rPr>
              <a:t>: “… đất sẽ bị rủa sả vì ngươi; trọn đời ngươi phải </a:t>
            </a:r>
            <a:r>
              <a:rPr lang="vi-VN" sz="2800" kern="100" dirty="0">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chịu khó nhọc </a:t>
            </a:r>
            <a:r>
              <a:rPr lang="vi-VN" sz="2800" kern="100" dirty="0">
                <a:effectLst/>
                <a:latin typeface="Cambria" panose="02040503050406030204" pitchFamily="18" charset="0"/>
                <a:ea typeface="Calibri" panose="020F0502020204030204" pitchFamily="34" charset="0"/>
                <a:cs typeface="Times New Roman" panose="02020603050405020304" pitchFamily="18" charset="0"/>
              </a:rPr>
              <a:t>mới có vật đất sanh ra mà ăn”</a:t>
            </a:r>
            <a:endParaRPr lang="en-VN"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EF229BC3-C933-86A7-7ADA-F943AD7A52E7}"/>
              </a:ext>
            </a:extLst>
          </p:cNvPr>
          <p:cNvSpPr txBox="1"/>
          <p:nvPr/>
        </p:nvSpPr>
        <p:spPr>
          <a:xfrm>
            <a:off x="363165" y="4971893"/>
            <a:ext cx="11465670" cy="1384995"/>
          </a:xfrm>
          <a:prstGeom prst="rect">
            <a:avLst/>
          </a:prstGeom>
          <a:noFill/>
        </p:spPr>
        <p:txBody>
          <a:bodyPr wrap="square" rtlCol="0">
            <a:spAutoFit/>
          </a:bodyPr>
          <a:lstStyle/>
          <a:p>
            <a:r>
              <a:rPr lang="vi-VN" sz="2800" kern="100" dirty="0">
                <a:latin typeface="Cambria" panose="02040503050406030204" pitchFamily="18" charset="0"/>
                <a:ea typeface="Calibri" panose="020F0502020204030204" pitchFamily="34" charset="0"/>
                <a:cs typeface="Times New Roman" panose="02020603050405020304" pitchFamily="18" charset="0"/>
              </a:rPr>
              <a:t>Đây </a:t>
            </a:r>
            <a:r>
              <a:rPr lang="vi-VN" sz="2800" b="1" kern="100" dirty="0">
                <a:latin typeface="Cambria" panose="02040503050406030204" pitchFamily="18" charset="0"/>
                <a:ea typeface="Calibri" panose="020F0502020204030204" pitchFamily="34" charset="0"/>
                <a:cs typeface="Times New Roman" panose="02020603050405020304" pitchFamily="18" charset="0"/>
              </a:rPr>
              <a:t>không phải là điều kiện để Đức Chúa Trời ban phước trên tài chính hay tài sản của chúng ta</a:t>
            </a:r>
            <a:r>
              <a:rPr lang="vi-VN" sz="2800" kern="100" dirty="0">
                <a:latin typeface="Cambria" panose="02040503050406030204" pitchFamily="18" charset="0"/>
                <a:ea typeface="Calibri" panose="020F0502020204030204" pitchFamily="34" charset="0"/>
                <a:cs typeface="Times New Roman" panose="02020603050405020304" pitchFamily="18" charset="0"/>
              </a:rPr>
              <a:t>! </a:t>
            </a:r>
          </a:p>
          <a:p>
            <a:r>
              <a:rPr lang="vi-VN" sz="2800" kern="100" dirty="0">
                <a:latin typeface="Cambria" panose="02040503050406030204" pitchFamily="18" charset="0"/>
                <a:ea typeface="Calibri" panose="020F0502020204030204" pitchFamily="34" charset="0"/>
                <a:cs typeface="Times New Roman" panose="02020603050405020304" pitchFamily="18" charset="0"/>
              </a:rPr>
              <a:t>Nhưng đó là sự rủa sả dành cho con người khi con người sa ngã.</a:t>
            </a:r>
          </a:p>
        </p:txBody>
      </p:sp>
    </p:spTree>
    <p:extLst>
      <p:ext uri="{BB962C8B-B14F-4D97-AF65-F5344CB8AC3E}">
        <p14:creationId xmlns:p14="http://schemas.microsoft.com/office/powerpoint/2010/main" val="1316173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D8FD9-0349-44BF-CD80-843917BE24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F81D723-1EE5-9318-BB8C-524AC0A69532}"/>
              </a:ext>
            </a:extLst>
          </p:cNvPr>
          <p:cNvSpPr txBox="1"/>
          <p:nvPr/>
        </p:nvSpPr>
        <p:spPr>
          <a:xfrm>
            <a:off x="363161" y="370125"/>
            <a:ext cx="7360598" cy="2020681"/>
          </a:xfrm>
          <a:prstGeom prst="rect">
            <a:avLst/>
          </a:prstGeom>
          <a:noFill/>
        </p:spPr>
        <p:txBody>
          <a:bodyPr wrap="square">
            <a:spAutoFit/>
          </a:bodyPr>
          <a:lstStyle/>
          <a:p>
            <a:pPr>
              <a:lnSpc>
                <a:spcPct val="150000"/>
              </a:lnSpc>
            </a:pPr>
            <a:r>
              <a:rPr lang="en-VN" sz="3000" b="1" noProof="1">
                <a:latin typeface="Cambria" panose="02040503050406030204" pitchFamily="18" charset="0"/>
                <a:cs typeface="Times New Roman" panose="02020603050405020304" pitchFamily="18" charset="0"/>
              </a:rPr>
              <a:t>Nguyên tắc của cải (nhìn nhận):</a:t>
            </a:r>
          </a:p>
          <a:p>
            <a:pPr algn="ctr">
              <a:lnSpc>
                <a:spcPct val="150000"/>
              </a:lnSpc>
            </a:pPr>
            <a:r>
              <a:rPr lang="en-VN" sz="6000" b="1" noProof="1">
                <a:solidFill>
                  <a:srgbClr val="00B050"/>
                </a:solidFill>
                <a:latin typeface="Cambria" panose="02040503050406030204" pitchFamily="18" charset="0"/>
                <a:cs typeface="Times New Roman" panose="02020603050405020304" pitchFamily="18" charset="0"/>
              </a:rPr>
              <a:t>Sự rủa sả</a:t>
            </a:r>
            <a:endParaRPr lang="en-VN" sz="6000" noProof="1">
              <a:solidFill>
                <a:srgbClr val="00B050"/>
              </a:solidFill>
            </a:endParaRPr>
          </a:p>
        </p:txBody>
      </p:sp>
      <p:pic>
        <p:nvPicPr>
          <p:cNvPr id="11266" name="Picture 2" descr="Principle - Free security icons">
            <a:extLst>
              <a:ext uri="{FF2B5EF4-FFF2-40B4-BE49-F238E27FC236}">
                <a16:creationId xmlns:a16="http://schemas.microsoft.com/office/drawing/2014/main" id="{F5F9AEFE-1ECE-518A-BA92-4098B7C9DC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9192" y="181994"/>
            <a:ext cx="2779642" cy="277964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Hard work - Free business and finance icons">
            <a:extLst>
              <a:ext uri="{FF2B5EF4-FFF2-40B4-BE49-F238E27FC236}">
                <a16:creationId xmlns:a16="http://schemas.microsoft.com/office/drawing/2014/main" id="{BDCEA501-AE43-D17D-CE6C-0970D0906F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161" y="3156377"/>
            <a:ext cx="2785014" cy="27850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BBD78C3-FBCF-BD0B-8606-8EA39DEDAE80}"/>
              </a:ext>
            </a:extLst>
          </p:cNvPr>
          <p:cNvSpPr txBox="1"/>
          <p:nvPr/>
        </p:nvSpPr>
        <p:spPr>
          <a:xfrm>
            <a:off x="3515908" y="3579388"/>
            <a:ext cx="8415702" cy="1938992"/>
          </a:xfrm>
          <a:prstGeom prst="rect">
            <a:avLst/>
          </a:prstGeom>
          <a:noFill/>
        </p:spPr>
        <p:txBody>
          <a:bodyPr wrap="square" rtlCol="0">
            <a:spAutoFit/>
          </a:bodyPr>
          <a:lstStyle/>
          <a:p>
            <a:r>
              <a:rPr lang="vi-VN" sz="4000" dirty="0">
                <a:effectLst/>
                <a:latin typeface="Cambria" panose="02040503050406030204" pitchFamily="18" charset="0"/>
                <a:ea typeface="Calibri" panose="020F0502020204030204" pitchFamily="34" charset="0"/>
                <a:cs typeface="Times New Roman" panose="02020603050405020304" pitchFamily="18" charset="0"/>
              </a:rPr>
              <a:t>Ở giữa sự ban cho của Đức Chúa Trời luôn có người làm lụm cực nhọc mới có mà ăn</a:t>
            </a:r>
            <a:r>
              <a:rPr lang="en-VN" sz="4000" dirty="0">
                <a:latin typeface="Cambria" panose="02040503050406030204" pitchFamily="18" charset="0"/>
                <a:ea typeface="Calibri" panose="020F0502020204030204" pitchFamily="34" charset="0"/>
                <a:cs typeface="Times New Roman" panose="02020603050405020304" pitchFamily="18" charset="0"/>
              </a:rPr>
              <a:t>.</a:t>
            </a:r>
            <a:endParaRPr lang="en-VN" sz="4000" dirty="0">
              <a:latin typeface="Cambria" panose="02040503050406030204" pitchFamily="18" charset="0"/>
            </a:endParaRPr>
          </a:p>
        </p:txBody>
      </p:sp>
    </p:spTree>
    <p:extLst>
      <p:ext uri="{BB962C8B-B14F-4D97-AF65-F5344CB8AC3E}">
        <p14:creationId xmlns:p14="http://schemas.microsoft.com/office/powerpoint/2010/main" val="3024680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CD885-AD5E-C82D-941F-789A81910B23}"/>
            </a:ext>
          </a:extLst>
        </p:cNvPr>
        <p:cNvGrpSpPr/>
        <p:nvPr/>
      </p:nvGrpSpPr>
      <p:grpSpPr>
        <a:xfrm>
          <a:off x="0" y="0"/>
          <a:ext cx="0" cy="0"/>
          <a:chOff x="0" y="0"/>
          <a:chExt cx="0" cy="0"/>
        </a:xfrm>
      </p:grpSpPr>
      <p:pic>
        <p:nvPicPr>
          <p:cNvPr id="2" name="Picture 2" descr="Principle - Free security icons">
            <a:extLst>
              <a:ext uri="{FF2B5EF4-FFF2-40B4-BE49-F238E27FC236}">
                <a16:creationId xmlns:a16="http://schemas.microsoft.com/office/drawing/2014/main" id="{D53D5D04-4615-4CF9-C7B1-F5A659F5B4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661" y="2725262"/>
            <a:ext cx="2242458" cy="224245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06F35EA-539E-B26C-CB01-26C8C69FB992}"/>
              </a:ext>
            </a:extLst>
          </p:cNvPr>
          <p:cNvSpPr txBox="1"/>
          <p:nvPr/>
        </p:nvSpPr>
        <p:spPr>
          <a:xfrm>
            <a:off x="2240604" y="648485"/>
            <a:ext cx="7710792" cy="923330"/>
          </a:xfrm>
          <a:prstGeom prst="rect">
            <a:avLst/>
          </a:prstGeom>
          <a:noFill/>
        </p:spPr>
        <p:txBody>
          <a:bodyPr wrap="square">
            <a:spAutoFit/>
          </a:bodyPr>
          <a:lstStyle/>
          <a:p>
            <a:r>
              <a:rPr lang="vi-VN" sz="5400" b="1" dirty="0">
                <a:latin typeface="Cambria" panose="02040503050406030204" pitchFamily="18" charset="0"/>
                <a:cs typeface="Times New Roman" panose="02020603050405020304" pitchFamily="18" charset="0"/>
              </a:rPr>
              <a:t>Nguyên tắc về của cải</a:t>
            </a:r>
            <a:endParaRPr lang="en-VN" sz="5400" dirty="0"/>
          </a:p>
        </p:txBody>
      </p:sp>
      <p:sp>
        <p:nvSpPr>
          <p:cNvPr id="6" name="TextBox 5">
            <a:extLst>
              <a:ext uri="{FF2B5EF4-FFF2-40B4-BE49-F238E27FC236}">
                <a16:creationId xmlns:a16="http://schemas.microsoft.com/office/drawing/2014/main" id="{7F847555-3E78-76B9-6611-73C153F82E40}"/>
              </a:ext>
            </a:extLst>
          </p:cNvPr>
          <p:cNvSpPr txBox="1"/>
          <p:nvPr/>
        </p:nvSpPr>
        <p:spPr>
          <a:xfrm>
            <a:off x="3004069" y="4967720"/>
            <a:ext cx="8904901" cy="1478290"/>
          </a:xfrm>
          <a:prstGeom prst="rect">
            <a:avLst/>
          </a:prstGeom>
          <a:noFill/>
        </p:spPr>
        <p:txBody>
          <a:bodyPr wrap="square" rtlCol="0">
            <a:spAutoFit/>
          </a:bodyPr>
          <a:lstStyle/>
          <a:p>
            <a:pPr algn="just">
              <a:lnSpc>
                <a:spcPct val="150000"/>
              </a:lnSpc>
            </a:pPr>
            <a:r>
              <a:rPr lang="en-VN" sz="3200" b="1" dirty="0">
                <a:latin typeface="Cambria" panose="02040503050406030204" pitchFamily="18" charset="0"/>
              </a:rPr>
              <a:t>Sự rủa sả</a:t>
            </a:r>
            <a:r>
              <a:rPr lang="en-VN" sz="3200" dirty="0">
                <a:latin typeface="Cambria" panose="02040503050406030204" pitchFamily="18" charset="0"/>
              </a:rPr>
              <a:t>: </a:t>
            </a:r>
            <a:r>
              <a:rPr lang="vi-VN" sz="3200" dirty="0">
                <a:effectLst/>
                <a:latin typeface="Cambria" panose="02040503050406030204" pitchFamily="18" charset="0"/>
                <a:ea typeface="Calibri" panose="020F0502020204030204" pitchFamily="34" charset="0"/>
                <a:cs typeface="Times New Roman" panose="02020603050405020304" pitchFamily="18" charset="0"/>
              </a:rPr>
              <a:t>Ở giữa sự ban cho của Đức Chúa Trời luôn có người làm lụm cực nhọc mới có mà ăn</a:t>
            </a:r>
            <a:r>
              <a:rPr lang="en-VN" sz="3200" dirty="0">
                <a:latin typeface="Cambria" panose="02040503050406030204" pitchFamily="18" charset="0"/>
                <a:ea typeface="Calibri" panose="020F0502020204030204" pitchFamily="34" charset="0"/>
                <a:cs typeface="Times New Roman" panose="02020603050405020304" pitchFamily="18" charset="0"/>
              </a:rPr>
              <a:t>.</a:t>
            </a:r>
            <a:endParaRPr lang="en-VN" sz="3200" dirty="0">
              <a:latin typeface="Cambria" panose="02040503050406030204" pitchFamily="18" charset="0"/>
            </a:endParaRPr>
          </a:p>
        </p:txBody>
      </p:sp>
      <p:sp>
        <p:nvSpPr>
          <p:cNvPr id="7" name="TextBox 6">
            <a:extLst>
              <a:ext uri="{FF2B5EF4-FFF2-40B4-BE49-F238E27FC236}">
                <a16:creationId xmlns:a16="http://schemas.microsoft.com/office/drawing/2014/main" id="{66AF6641-5575-67B9-3571-6707D36B731C}"/>
              </a:ext>
            </a:extLst>
          </p:cNvPr>
          <p:cNvSpPr txBox="1"/>
          <p:nvPr/>
        </p:nvSpPr>
        <p:spPr>
          <a:xfrm>
            <a:off x="3004069" y="1791959"/>
            <a:ext cx="8904901" cy="2955617"/>
          </a:xfrm>
          <a:prstGeom prst="rect">
            <a:avLst/>
          </a:prstGeom>
          <a:noFill/>
        </p:spPr>
        <p:txBody>
          <a:bodyPr wrap="square" rtlCol="0">
            <a:spAutoFit/>
          </a:bodyPr>
          <a:lstStyle/>
          <a:p>
            <a:pPr>
              <a:lnSpc>
                <a:spcPct val="150000"/>
              </a:lnSpc>
            </a:pPr>
            <a:r>
              <a:rPr lang="en-VN" sz="3200" b="1" noProof="1">
                <a:latin typeface="Cambria" panose="02040503050406030204" pitchFamily="18" charset="0"/>
              </a:rPr>
              <a:t>Quyền sở hữu </a:t>
            </a:r>
            <a:r>
              <a:rPr lang="en-VN" sz="3200" noProof="1">
                <a:latin typeface="Cambria" panose="02040503050406030204" pitchFamily="18" charset="0"/>
              </a:rPr>
              <a:t>:</a:t>
            </a:r>
          </a:p>
          <a:p>
            <a:pPr>
              <a:lnSpc>
                <a:spcPct val="150000"/>
              </a:lnSpc>
            </a:pPr>
            <a:r>
              <a:rPr lang="en-VN" sz="3200" noProof="1">
                <a:latin typeface="Cambria" panose="02040503050406030204" pitchFamily="18" charset="0"/>
              </a:rPr>
              <a:t>- Đức Chúa Trời là chủ của tài sản</a:t>
            </a:r>
          </a:p>
          <a:p>
            <a:pPr>
              <a:lnSpc>
                <a:spcPct val="150000"/>
              </a:lnSpc>
            </a:pPr>
            <a:r>
              <a:rPr lang="en-VN" sz="3200" noProof="1">
                <a:latin typeface="Cambria" panose="02040503050406030204" pitchFamily="18" charset="0"/>
              </a:rPr>
              <a:t>- Đức Chúa Trời là Đấng ban cho chúng ta nguồn tài chính </a:t>
            </a:r>
          </a:p>
        </p:txBody>
      </p:sp>
    </p:spTree>
    <p:extLst>
      <p:ext uri="{BB962C8B-B14F-4D97-AF65-F5344CB8AC3E}">
        <p14:creationId xmlns:p14="http://schemas.microsoft.com/office/powerpoint/2010/main" val="4275014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39590-649C-A8F5-4CDE-C4F44AD76E57}"/>
            </a:ext>
          </a:extLst>
        </p:cNvPr>
        <p:cNvGrpSpPr/>
        <p:nvPr/>
      </p:nvGrpSpPr>
      <p:grpSpPr>
        <a:xfrm>
          <a:off x="0" y="0"/>
          <a:ext cx="0" cy="0"/>
          <a:chOff x="0" y="0"/>
          <a:chExt cx="0" cy="0"/>
        </a:xfrm>
      </p:grpSpPr>
      <p:pic>
        <p:nvPicPr>
          <p:cNvPr id="12292" name="Picture 4" descr="Question Mark icons for free download | Freepik">
            <a:extLst>
              <a:ext uri="{FF2B5EF4-FFF2-40B4-BE49-F238E27FC236}">
                <a16:creationId xmlns:a16="http://schemas.microsoft.com/office/drawing/2014/main" id="{A6D69F7A-F5A3-9E41-59FD-92929A0178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657" y="151600"/>
            <a:ext cx="2730204" cy="273020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78C6A72-944E-E2B0-6A59-F4509FC821AE}"/>
              </a:ext>
            </a:extLst>
          </p:cNvPr>
          <p:cNvSpPr txBox="1"/>
          <p:nvPr/>
        </p:nvSpPr>
        <p:spPr>
          <a:xfrm>
            <a:off x="3770651" y="800186"/>
            <a:ext cx="7642572" cy="1583319"/>
          </a:xfrm>
          <a:prstGeom prst="rect">
            <a:avLst/>
          </a:prstGeom>
          <a:noFill/>
        </p:spPr>
        <p:txBody>
          <a:bodyPr wrap="square" rtlCol="0">
            <a:spAutoFit/>
          </a:bodyPr>
          <a:lstStyle/>
          <a:p>
            <a:pPr lvl="0" algn="just">
              <a:lnSpc>
                <a:spcPct val="115000"/>
              </a:lnSpc>
            </a:pPr>
            <a:r>
              <a:rPr lang="en-US" sz="4400" b="1" kern="100" noProof="1">
                <a:latin typeface="Cambria" panose="02040503050406030204" pitchFamily="18" charset="0"/>
                <a:ea typeface="Calibri" panose="020F0502020204030204" pitchFamily="34" charset="0"/>
                <a:cs typeface="Times New Roman" panose="02020603050405020304" pitchFamily="18" charset="0"/>
              </a:rPr>
              <a:t>Lí do cần quản lí nguồn tài chính mình có được?</a:t>
            </a:r>
            <a:endParaRPr lang="en-US" sz="4400" b="1" kern="100" noProof="1">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7C29A9CB-EC8E-C2A3-D712-62C78D226B3E}"/>
              </a:ext>
            </a:extLst>
          </p:cNvPr>
          <p:cNvSpPr txBox="1"/>
          <p:nvPr/>
        </p:nvSpPr>
        <p:spPr>
          <a:xfrm>
            <a:off x="565657" y="2881804"/>
            <a:ext cx="11060686" cy="1742978"/>
          </a:xfrm>
          <a:prstGeom prst="rect">
            <a:avLst/>
          </a:prstGeom>
          <a:noFill/>
        </p:spPr>
        <p:txBody>
          <a:bodyPr wrap="square" rtlCol="0">
            <a:spAutoFit/>
          </a:bodyPr>
          <a:lstStyle/>
          <a:p>
            <a:pPr lvl="0" algn="just">
              <a:lnSpc>
                <a:spcPct val="115000"/>
              </a:lnSpc>
            </a:pPr>
            <a:r>
              <a:rPr lang="en-US" sz="3200" b="1" kern="100" noProof="1">
                <a:latin typeface="Cambria" panose="02040503050406030204" pitchFamily="18" charset="0"/>
                <a:ea typeface="Calibri" panose="020F0502020204030204" pitchFamily="34" charset="0"/>
                <a:cs typeface="Times New Roman" panose="02020603050405020304" pitchFamily="18" charset="0"/>
              </a:rPr>
              <a:t>Quyền sở hữu</a:t>
            </a:r>
            <a:r>
              <a:rPr lang="en-US" sz="3200" kern="100" noProof="1">
                <a:latin typeface="Cambria" panose="02040503050406030204" pitchFamily="18" charset="0"/>
                <a:ea typeface="Calibri" panose="020F0502020204030204" pitchFamily="34" charset="0"/>
                <a:cs typeface="Times New Roman" panose="02020603050405020304" pitchFamily="18" charset="0"/>
              </a:rPr>
              <a:t>: Đức Chúa Trời là chủ</a:t>
            </a:r>
          </a:p>
          <a:p>
            <a:pPr lvl="1" algn="just">
              <a:lnSpc>
                <a:spcPct val="115000"/>
              </a:lnSpc>
            </a:pPr>
            <a:r>
              <a:rPr lang="en-US" sz="3200" kern="100" noProof="1">
                <a:latin typeface="Cambria" panose="02040503050406030204" pitchFamily="18" charset="0"/>
                <a:ea typeface="Calibri" panose="020F0502020204030204" pitchFamily="34" charset="0"/>
                <a:cs typeface="Times New Roman" panose="02020603050405020304" pitchFamily="18" charset="0"/>
              </a:rPr>
              <a:t>Chúng ta cần xác định và sử dụng những gì Chúa ban cho theo ý muốn của Ngài</a:t>
            </a:r>
          </a:p>
        </p:txBody>
      </p:sp>
      <p:sp>
        <p:nvSpPr>
          <p:cNvPr id="4" name="TextBox 3">
            <a:extLst>
              <a:ext uri="{FF2B5EF4-FFF2-40B4-BE49-F238E27FC236}">
                <a16:creationId xmlns:a16="http://schemas.microsoft.com/office/drawing/2014/main" id="{C274BE91-3F74-4F10-7CF0-7F77B8EECCE0}"/>
              </a:ext>
            </a:extLst>
          </p:cNvPr>
          <p:cNvSpPr txBox="1"/>
          <p:nvPr/>
        </p:nvSpPr>
        <p:spPr>
          <a:xfrm>
            <a:off x="565657" y="4774605"/>
            <a:ext cx="11060686" cy="1742978"/>
          </a:xfrm>
          <a:prstGeom prst="rect">
            <a:avLst/>
          </a:prstGeom>
          <a:noFill/>
        </p:spPr>
        <p:txBody>
          <a:bodyPr wrap="square" rtlCol="0">
            <a:spAutoFit/>
          </a:bodyPr>
          <a:lstStyle/>
          <a:p>
            <a:pPr lvl="0" algn="just">
              <a:lnSpc>
                <a:spcPct val="115000"/>
              </a:lnSpc>
            </a:pPr>
            <a:r>
              <a:rPr lang="en-US" sz="3200" b="1" kern="100" noProof="1">
                <a:latin typeface="Cambria" panose="02040503050406030204" pitchFamily="18" charset="0"/>
                <a:ea typeface="Calibri" panose="020F0502020204030204" pitchFamily="34" charset="0"/>
                <a:cs typeface="Times New Roman" panose="02020603050405020304" pitchFamily="18" charset="0"/>
              </a:rPr>
              <a:t>Sự rủa sả</a:t>
            </a:r>
            <a:r>
              <a:rPr lang="en-US" sz="3200" kern="100" noProof="1">
                <a:latin typeface="Cambria" panose="02040503050406030204" pitchFamily="18" charset="0"/>
                <a:ea typeface="Calibri" panose="020F0502020204030204" pitchFamily="34" charset="0"/>
                <a:cs typeface="Times New Roman" panose="02020603050405020304" pitchFamily="18" charset="0"/>
              </a:rPr>
              <a:t>: Có người phải làm lụm cực nhọc </a:t>
            </a:r>
          </a:p>
          <a:p>
            <a:pPr lvl="1" algn="just">
              <a:lnSpc>
                <a:spcPct val="115000"/>
              </a:lnSpc>
            </a:pPr>
            <a:r>
              <a:rPr lang="en-US" sz="3200" kern="100" noProof="1">
                <a:latin typeface="Cambria" panose="02040503050406030204" pitchFamily="18" charset="0"/>
                <a:ea typeface="Calibri" panose="020F0502020204030204" pitchFamily="34" charset="0"/>
                <a:cs typeface="Times New Roman" panose="02020603050405020304" pitchFamily="18" charset="0"/>
              </a:rPr>
              <a:t>Những gì chúng ta có được đều có giá trị của sự khó nhọc nên không nên dùng một cách hoang phí</a:t>
            </a:r>
          </a:p>
        </p:txBody>
      </p:sp>
    </p:spTree>
    <p:extLst>
      <p:ext uri="{BB962C8B-B14F-4D97-AF65-F5344CB8AC3E}">
        <p14:creationId xmlns:p14="http://schemas.microsoft.com/office/powerpoint/2010/main" val="333598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5796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439DB-26C4-31C1-125D-0F5E946C3B0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D22E933-F474-9901-7921-4A499E99FB4C}"/>
              </a:ext>
            </a:extLst>
          </p:cNvPr>
          <p:cNvSpPr txBox="1"/>
          <p:nvPr/>
        </p:nvSpPr>
        <p:spPr>
          <a:xfrm>
            <a:off x="2240604" y="648485"/>
            <a:ext cx="7710792" cy="923330"/>
          </a:xfrm>
          <a:prstGeom prst="rect">
            <a:avLst/>
          </a:prstGeom>
          <a:noFill/>
        </p:spPr>
        <p:txBody>
          <a:bodyPr wrap="square">
            <a:spAutoFit/>
          </a:bodyPr>
          <a:lstStyle/>
          <a:p>
            <a:r>
              <a:rPr lang="vi-VN" sz="5400" b="1" dirty="0">
                <a:latin typeface="Cambria" panose="02040503050406030204" pitchFamily="18" charset="0"/>
                <a:cs typeface="Times New Roman" panose="02020603050405020304" pitchFamily="18" charset="0"/>
              </a:rPr>
              <a:t>Sáng thế ký 14:20</a:t>
            </a:r>
            <a:endParaRPr lang="en-VN" sz="5400" dirty="0"/>
          </a:p>
        </p:txBody>
      </p:sp>
      <p:pic>
        <p:nvPicPr>
          <p:cNvPr id="5122" name="Picture 2" descr="Bible - Free cultures icons">
            <a:extLst>
              <a:ext uri="{FF2B5EF4-FFF2-40B4-BE49-F238E27FC236}">
                <a16:creationId xmlns:a16="http://schemas.microsoft.com/office/drawing/2014/main" id="{30CC6B4E-DC8F-E4BD-E02F-6E57A106BF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165" y="249252"/>
            <a:ext cx="1721796" cy="172179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0983F4E-953E-BC62-F2FE-4EB846FFE3E1}"/>
              </a:ext>
            </a:extLst>
          </p:cNvPr>
          <p:cNvSpPr txBox="1"/>
          <p:nvPr/>
        </p:nvSpPr>
        <p:spPr>
          <a:xfrm>
            <a:off x="363165" y="2152165"/>
            <a:ext cx="11465670" cy="1077218"/>
          </a:xfrm>
          <a:prstGeom prst="rect">
            <a:avLst/>
          </a:prstGeom>
          <a:noFill/>
        </p:spPr>
        <p:txBody>
          <a:bodyPr wrap="square" rtlCol="0">
            <a:spAutoFit/>
          </a:bodyPr>
          <a:lstStyle/>
          <a:p>
            <a:pPr algn="just"/>
            <a:r>
              <a:rPr lang="vi-VN" sz="3200" noProof="1">
                <a:latin typeface="Cambria" panose="02040503050406030204" pitchFamily="18" charset="0"/>
                <a:ea typeface="Calibri" panose="020F0502020204030204" pitchFamily="34" charset="0"/>
                <a:cs typeface="Times New Roman" panose="02020603050405020304" pitchFamily="18" charset="0"/>
              </a:rPr>
              <a:t>… </a:t>
            </a:r>
            <a:r>
              <a:rPr lang="vi-VN" sz="3200" noProof="1">
                <a:effectLst/>
                <a:latin typeface="Cambria" panose="02040503050406030204" pitchFamily="18" charset="0"/>
                <a:ea typeface="Calibri" panose="020F0502020204030204" pitchFamily="34" charset="0"/>
                <a:cs typeface="Times New Roman" panose="02020603050405020304" pitchFamily="18" charset="0"/>
              </a:rPr>
              <a:t>Đoạn, </a:t>
            </a:r>
            <a:r>
              <a:rPr lang="vi-VN" sz="3200" noProof="1">
                <a:solidFill>
                  <a:srgbClr val="00B050"/>
                </a:solidFill>
                <a:effectLst/>
                <a:latin typeface="Cambria" panose="02040503050406030204" pitchFamily="18" charset="0"/>
                <a:ea typeface="Calibri" panose="020F0502020204030204" pitchFamily="34" charset="0"/>
                <a:cs typeface="Times New Roman" panose="02020603050405020304" pitchFamily="18" charset="0"/>
              </a:rPr>
              <a:t>Áp-ram lấy một phần mười về cả của giặc mà dâng cho vua (Mên-chi-xê-đéc) đó</a:t>
            </a:r>
            <a:r>
              <a:rPr lang="vi-VN" sz="3200" noProof="1">
                <a:effectLst/>
                <a:latin typeface="Cambria" panose="02040503050406030204" pitchFamily="18" charset="0"/>
                <a:ea typeface="Calibri" panose="020F0502020204030204" pitchFamily="34" charset="0"/>
                <a:cs typeface="Times New Roman" panose="02020603050405020304" pitchFamily="18" charset="0"/>
              </a:rPr>
              <a:t>.</a:t>
            </a:r>
            <a:r>
              <a:rPr lang="vi-VN" sz="3200" noProof="1">
                <a:effectLst/>
                <a:latin typeface="Cambria" panose="02040503050406030204" pitchFamily="18" charset="0"/>
              </a:rPr>
              <a:t> </a:t>
            </a:r>
            <a:endParaRPr lang="vi-VN" sz="3200" noProof="1">
              <a:latin typeface="Cambria" panose="02040503050406030204" pitchFamily="18" charset="0"/>
            </a:endParaRPr>
          </a:p>
        </p:txBody>
      </p:sp>
      <p:sp>
        <p:nvSpPr>
          <p:cNvPr id="6" name="TextBox 5">
            <a:extLst>
              <a:ext uri="{FF2B5EF4-FFF2-40B4-BE49-F238E27FC236}">
                <a16:creationId xmlns:a16="http://schemas.microsoft.com/office/drawing/2014/main" id="{5E05A5FA-9A77-0D68-EEEE-8D9962C25EE5}"/>
              </a:ext>
            </a:extLst>
          </p:cNvPr>
          <p:cNvSpPr txBox="1"/>
          <p:nvPr/>
        </p:nvSpPr>
        <p:spPr>
          <a:xfrm>
            <a:off x="363165" y="3294942"/>
            <a:ext cx="11465670" cy="3244093"/>
          </a:xfrm>
          <a:prstGeom prst="rect">
            <a:avLst/>
          </a:prstGeom>
          <a:noFill/>
        </p:spPr>
        <p:txBody>
          <a:bodyPr wrap="square">
            <a:spAutoFit/>
          </a:bodyPr>
          <a:lstStyle/>
          <a:p>
            <a:pPr algn="just">
              <a:lnSpc>
                <a:spcPct val="150000"/>
              </a:lnSpc>
              <a:spcAft>
                <a:spcPts val="800"/>
              </a:spcAft>
              <a:buNone/>
            </a:pPr>
            <a:r>
              <a:rPr lang="vi-VN" sz="2700" kern="100" dirty="0">
                <a:effectLst/>
                <a:latin typeface="Cambria" panose="02040503050406030204" pitchFamily="18" charset="0"/>
                <a:ea typeface="Calibri" panose="020F0502020204030204" pitchFamily="34" charset="0"/>
                <a:cs typeface="Times New Roman" panose="02020603050405020304" pitchFamily="18" charset="0"/>
              </a:rPr>
              <a:t>Qua lời chúc phước thì Áp-ram cũng biết hai điều rõ ràng như ông đã biết: </a:t>
            </a:r>
            <a:endParaRPr lang="en-VN" sz="27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itchFamily="2" charset="2"/>
              <a:buChar char=""/>
            </a:pPr>
            <a:r>
              <a:rPr lang="vi-VN" sz="2700" kern="100" dirty="0">
                <a:effectLst/>
                <a:latin typeface="Cambria" panose="02040503050406030204" pitchFamily="18" charset="0"/>
                <a:ea typeface="Calibri" panose="020F0502020204030204" pitchFamily="34" charset="0"/>
                <a:cs typeface="Times New Roman" panose="02020603050405020304" pitchFamily="18" charset="0"/>
              </a:rPr>
              <a:t>Áp-ram nhận biết chính Đức Chúa Trời có quyền trên mọi sự, mọi vật trên trời và dưới đất</a:t>
            </a:r>
            <a:endParaRPr lang="en-VN" sz="27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Font typeface="Symbol" pitchFamily="2" charset="2"/>
              <a:buChar char=""/>
            </a:pPr>
            <a:r>
              <a:rPr lang="vi-VN" sz="2700" kern="100" dirty="0">
                <a:effectLst/>
                <a:latin typeface="Cambria" panose="02040503050406030204" pitchFamily="18" charset="0"/>
                <a:ea typeface="Calibri" panose="020F0502020204030204" pitchFamily="34" charset="0"/>
                <a:cs typeface="Times New Roman" panose="02020603050405020304" pitchFamily="18" charset="0"/>
              </a:rPr>
              <a:t>Áp-ram nhận biết những gì ông có được là sự ban cho và là sự chu cấp của Đức Chúa Trời.</a:t>
            </a:r>
            <a:endParaRPr lang="en-VN" sz="27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a:extLst>
              <a:ext uri="{FF2B5EF4-FFF2-40B4-BE49-F238E27FC236}">
                <a16:creationId xmlns:a16="http://schemas.microsoft.com/office/drawing/2014/main" id="{06D82BA1-FA41-430A-4248-BE1FBCD9E060}"/>
              </a:ext>
            </a:extLst>
          </p:cNvPr>
          <p:cNvSpPr/>
          <p:nvPr/>
        </p:nvSpPr>
        <p:spPr>
          <a:xfrm>
            <a:off x="12592050" y="4068400"/>
            <a:ext cx="9485402" cy="1754326"/>
          </a:xfrm>
          <a:prstGeom prst="rect">
            <a:avLst/>
          </a:prstGeom>
          <a:noFill/>
        </p:spPr>
        <p:txBody>
          <a:bodyPr wrap="square" lIns="91440" tIns="45720" rIns="91440" bIns="45720">
            <a:spAutoFit/>
          </a:bodyPr>
          <a:lstStyle/>
          <a:p>
            <a:pPr algn="ctr"/>
            <a:r>
              <a:rPr lang="en-US" sz="5400" b="1" noProof="1">
                <a:ln w="13462">
                  <a:solidFill>
                    <a:schemeClr val="bg1"/>
                  </a:solidFill>
                  <a:prstDash val="solid"/>
                </a:ln>
                <a:solidFill>
                  <a:schemeClr val="tx1">
                    <a:lumMod val="85000"/>
                    <a:lumOff val="15000"/>
                  </a:schemeClr>
                </a:solidFill>
                <a:effectLst>
                  <a:outerShdw dist="38100" dir="2700000" algn="bl" rotWithShape="0">
                    <a:schemeClr val="accent5"/>
                  </a:outerShdw>
                </a:effectLst>
              </a:rPr>
              <a:t>Áp-ram </a:t>
            </a:r>
            <a:r>
              <a:rPr lang="en-US" sz="5400" b="1" cap="none" spc="0" noProof="1">
                <a:ln w="13462">
                  <a:solidFill>
                    <a:schemeClr val="bg1"/>
                  </a:solidFill>
                  <a:prstDash val="solid"/>
                </a:ln>
                <a:solidFill>
                  <a:schemeClr val="tx1">
                    <a:lumMod val="85000"/>
                    <a:lumOff val="15000"/>
                  </a:schemeClr>
                </a:solidFill>
                <a:effectLst>
                  <a:outerShdw dist="38100" dir="2700000" algn="bl" rotWithShape="0">
                    <a:schemeClr val="accent5"/>
                  </a:outerShdw>
                </a:effectLst>
              </a:rPr>
              <a:t>tạ ơn Đức Chúa Trời </a:t>
            </a:r>
          </a:p>
          <a:p>
            <a:pPr algn="ctr"/>
            <a:r>
              <a:rPr lang="en-US" sz="5400" b="1" noProof="1">
                <a:ln w="13462">
                  <a:solidFill>
                    <a:schemeClr val="bg1"/>
                  </a:solidFill>
                  <a:prstDash val="solid"/>
                </a:ln>
                <a:solidFill>
                  <a:schemeClr val="tx1">
                    <a:lumMod val="85000"/>
                    <a:lumOff val="15000"/>
                  </a:schemeClr>
                </a:solidFill>
                <a:effectLst>
                  <a:outerShdw dist="38100" dir="2700000" algn="bl" rotWithShape="0">
                    <a:schemeClr val="accent5"/>
                  </a:outerShdw>
                </a:effectLst>
              </a:rPr>
              <a:t>bằng sự dâng hiến</a:t>
            </a:r>
            <a:r>
              <a:rPr lang="en-US" sz="5400" b="1" cap="none" spc="0" noProof="1">
                <a:ln w="13462">
                  <a:solidFill>
                    <a:schemeClr val="bg1"/>
                  </a:solidFill>
                  <a:prstDash val="solid"/>
                </a:ln>
                <a:solidFill>
                  <a:schemeClr val="tx1">
                    <a:lumMod val="85000"/>
                    <a:lumOff val="15000"/>
                  </a:schemeClr>
                </a:solidFill>
                <a:effectLst>
                  <a:outerShdw dist="38100" dir="2700000" algn="bl" rotWithShape="0">
                    <a:schemeClr val="accent5"/>
                  </a:outerShdw>
                </a:effectLst>
              </a:rPr>
              <a:t> </a:t>
            </a:r>
          </a:p>
        </p:txBody>
      </p:sp>
    </p:spTree>
    <p:extLst>
      <p:ext uri="{BB962C8B-B14F-4D97-AF65-F5344CB8AC3E}">
        <p14:creationId xmlns:p14="http://schemas.microsoft.com/office/powerpoint/2010/main" val="3267314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1"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grpId="0" nodeType="clickEffect">
                                  <p:stCondLst>
                                    <p:cond delay="0"/>
                                  </p:stCondLst>
                                  <p:childTnLst>
                                    <p:animMotion origin="layout" path="M -0.10234 -4.81481E-6 L -0.94192 0.00047 " pathEditMode="relative" rAng="0" ptsTypes="AA">
                                      <p:cBhvr>
                                        <p:cTn id="16" dur="2000" fill="hold"/>
                                        <p:tgtEl>
                                          <p:spTgt spid="7"/>
                                        </p:tgtEl>
                                        <p:attrNameLst>
                                          <p:attrName>ppt_x</p:attrName>
                                          <p:attrName>ppt_y</p:attrName>
                                        </p:attrNameLst>
                                      </p:cBhvr>
                                      <p:rCtr x="-41979" y="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29CDD-0913-053D-A6D8-8D0E300F2B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97F0E6B-183A-95B8-8BF8-2C301A93A594}"/>
              </a:ext>
            </a:extLst>
          </p:cNvPr>
          <p:cNvSpPr txBox="1"/>
          <p:nvPr/>
        </p:nvSpPr>
        <p:spPr>
          <a:xfrm>
            <a:off x="2116764" y="1173305"/>
            <a:ext cx="9519424" cy="577979"/>
          </a:xfrm>
          <a:prstGeom prst="rect">
            <a:avLst/>
          </a:prstGeom>
          <a:noFill/>
        </p:spPr>
        <p:txBody>
          <a:bodyPr wrap="square" rtlCol="0">
            <a:spAutoFit/>
          </a:bodyPr>
          <a:lstStyle/>
          <a:p>
            <a:pPr lvl="0" algn="just">
              <a:lnSpc>
                <a:spcPct val="115000"/>
              </a:lnSpc>
            </a:pPr>
            <a:r>
              <a:rPr lang="vi-VN" sz="3000" dirty="0">
                <a:effectLst/>
                <a:latin typeface="Cambria" panose="02040503050406030204" pitchFamily="18" charset="0"/>
                <a:ea typeface="Calibri" panose="020F0502020204030204" pitchFamily="34" charset="0"/>
                <a:cs typeface="Times New Roman" panose="02020603050405020304" pitchFamily="18" charset="0"/>
              </a:rPr>
              <a:t>Tình yêu và sự quan tâm của Ngài dành cho chúng ta</a:t>
            </a:r>
            <a:endParaRPr lang="en-US" sz="3000" kern="100" noProof="1">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3EE69C69-ADDE-0608-4871-69A3D6074CFC}"/>
              </a:ext>
            </a:extLst>
          </p:cNvPr>
          <p:cNvSpPr txBox="1"/>
          <p:nvPr/>
        </p:nvSpPr>
        <p:spPr>
          <a:xfrm>
            <a:off x="181580" y="301867"/>
            <a:ext cx="11828840" cy="769441"/>
          </a:xfrm>
          <a:prstGeom prst="rect">
            <a:avLst/>
          </a:prstGeom>
          <a:noFill/>
        </p:spPr>
        <p:txBody>
          <a:bodyPr wrap="square">
            <a:spAutoFit/>
          </a:bodyPr>
          <a:lstStyle/>
          <a:p>
            <a:r>
              <a:rPr lang="en-VN" sz="4400" b="1" noProof="1">
                <a:latin typeface="Cambria" panose="02040503050406030204" pitchFamily="18" charset="0"/>
                <a:cs typeface="Times New Roman" panose="02020603050405020304" pitchFamily="18" charset="0"/>
              </a:rPr>
              <a:t>Sự chu cấp của Đức Chúa Trời nói lên điều gì?</a:t>
            </a:r>
            <a:endParaRPr lang="en-VN" sz="4400" noProof="1"/>
          </a:p>
        </p:txBody>
      </p:sp>
      <p:sp>
        <p:nvSpPr>
          <p:cNvPr id="11" name="TextBox 10">
            <a:extLst>
              <a:ext uri="{FF2B5EF4-FFF2-40B4-BE49-F238E27FC236}">
                <a16:creationId xmlns:a16="http://schemas.microsoft.com/office/drawing/2014/main" id="{0D263E1C-DA22-0025-2C3C-6A37D1EFF9A3}"/>
              </a:ext>
            </a:extLst>
          </p:cNvPr>
          <p:cNvSpPr txBox="1"/>
          <p:nvPr/>
        </p:nvSpPr>
        <p:spPr>
          <a:xfrm>
            <a:off x="2407386" y="1751284"/>
            <a:ext cx="8938180" cy="1131785"/>
          </a:xfrm>
          <a:prstGeom prst="rect">
            <a:avLst/>
          </a:prstGeom>
          <a:noFill/>
        </p:spPr>
        <p:txBody>
          <a:bodyPr wrap="square">
            <a:spAutoFit/>
          </a:bodyPr>
          <a:lstStyle/>
          <a:p>
            <a:pPr algn="just">
              <a:lnSpc>
                <a:spcPct val="150000"/>
              </a:lnSpc>
            </a:pPr>
            <a:r>
              <a:rPr lang="en-US" sz="2400" noProof="1">
                <a:latin typeface="Cambria" panose="02040503050406030204" pitchFamily="18" charset="0"/>
              </a:rPr>
              <a:t>Thi Thiên 23:1: "Đức Giê-hô-va là Đấng chăn giữ tôi; tôi sẽ chẳng thiếu thốn gì."</a:t>
            </a:r>
          </a:p>
        </p:txBody>
      </p:sp>
      <p:sp>
        <p:nvSpPr>
          <p:cNvPr id="12" name="TextBox 11">
            <a:extLst>
              <a:ext uri="{FF2B5EF4-FFF2-40B4-BE49-F238E27FC236}">
                <a16:creationId xmlns:a16="http://schemas.microsoft.com/office/drawing/2014/main" id="{C6F168BA-42D7-0858-93C1-C8FDA12F0C4E}"/>
              </a:ext>
            </a:extLst>
          </p:cNvPr>
          <p:cNvSpPr txBox="1"/>
          <p:nvPr/>
        </p:nvSpPr>
        <p:spPr>
          <a:xfrm>
            <a:off x="2407386" y="2878553"/>
            <a:ext cx="9228802" cy="577787"/>
          </a:xfrm>
          <a:prstGeom prst="rect">
            <a:avLst/>
          </a:prstGeom>
          <a:noFill/>
        </p:spPr>
        <p:txBody>
          <a:bodyPr wrap="square">
            <a:spAutoFit/>
          </a:bodyPr>
          <a:lstStyle/>
          <a:p>
            <a:pPr algn="just">
              <a:lnSpc>
                <a:spcPct val="150000"/>
              </a:lnSpc>
            </a:pPr>
            <a:r>
              <a:rPr lang="en-US" sz="2400" noProof="1">
                <a:latin typeface="Cambria" panose="02040503050406030204" pitchFamily="18" charset="0"/>
              </a:rPr>
              <a:t>Ma-thi-ơ 6:25-34: Sự chu cấp về nhu cầu cần thiết cho mỗi đời sống</a:t>
            </a:r>
          </a:p>
        </p:txBody>
      </p:sp>
      <p:pic>
        <p:nvPicPr>
          <p:cNvPr id="2" name="Picture 1" descr="Caring - Free valentines day icons">
            <a:extLst>
              <a:ext uri="{FF2B5EF4-FFF2-40B4-BE49-F238E27FC236}">
                <a16:creationId xmlns:a16="http://schemas.microsoft.com/office/drawing/2014/main" id="{3B87B370-C5B1-2740-3751-9FF7842A92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160" y="1582201"/>
            <a:ext cx="1753604" cy="1753604"/>
          </a:xfrm>
          <a:prstGeom prst="rect">
            <a:avLst/>
          </a:prstGeom>
          <a:noFill/>
          <a:extLst>
            <a:ext uri="{909E8E84-426E-40DD-AFC4-6F175D3DCCD1}">
              <a14:hiddenFill xmlns:a14="http://schemas.microsoft.com/office/drawing/2010/main">
                <a:solidFill>
                  <a:srgbClr val="FFFFFF"/>
                </a:solidFill>
              </a14:hiddenFill>
            </a:ext>
          </a:extLst>
        </p:spPr>
      </p:pic>
      <p:pic>
        <p:nvPicPr>
          <p:cNvPr id="39938" name="Picture 2" descr="Bloody Cross Spirituality Sacrifice Symbol Vector, Spirituality, Sacrifice,  Symbol PNG and Vector with Transparent Background for Free Download">
            <a:extLst>
              <a:ext uri="{FF2B5EF4-FFF2-40B4-BE49-F238E27FC236}">
                <a16:creationId xmlns:a16="http://schemas.microsoft.com/office/drawing/2014/main" id="{FA5BFC0F-E5E2-AC35-D03B-40106D6F40A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362" t="2903" b="6232"/>
          <a:stretch/>
        </p:blipFill>
        <p:spPr bwMode="auto">
          <a:xfrm>
            <a:off x="2886436" y="4339830"/>
            <a:ext cx="1773562" cy="1721040"/>
          </a:xfrm>
          <a:prstGeom prst="rect">
            <a:avLst/>
          </a:prstGeom>
          <a:noFill/>
          <a:extLst>
            <a:ext uri="{909E8E84-426E-40DD-AFC4-6F175D3DCCD1}">
              <a14:hiddenFill xmlns:a14="http://schemas.microsoft.com/office/drawing/2010/main">
                <a:solidFill>
                  <a:srgbClr val="FFFFFF"/>
                </a:solidFill>
              </a14:hiddenFill>
            </a:ext>
          </a:extLst>
        </p:spPr>
      </p:pic>
      <p:pic>
        <p:nvPicPr>
          <p:cNvPr id="39940" name="Picture 4" descr="Heart symbol - Wikipedia">
            <a:extLst>
              <a:ext uri="{FF2B5EF4-FFF2-40B4-BE49-F238E27FC236}">
                <a16:creationId xmlns:a16="http://schemas.microsoft.com/office/drawing/2014/main" id="{021D609F-9548-E5F4-CC65-42CD913AA2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95268" y="4811485"/>
            <a:ext cx="928624" cy="92862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33D97E7-CE6A-1D58-ED56-060189A427D6}"/>
              </a:ext>
            </a:extLst>
          </p:cNvPr>
          <p:cNvSpPr txBox="1"/>
          <p:nvPr/>
        </p:nvSpPr>
        <p:spPr>
          <a:xfrm>
            <a:off x="175355" y="3875415"/>
            <a:ext cx="2182815" cy="2800767"/>
          </a:xfrm>
          <a:prstGeom prst="rect">
            <a:avLst/>
          </a:prstGeom>
          <a:noFill/>
          <a:ln w="28575">
            <a:solidFill>
              <a:srgbClr val="7030A0"/>
            </a:solidFill>
          </a:ln>
        </p:spPr>
        <p:txBody>
          <a:bodyPr wrap="square">
            <a:spAutoFit/>
          </a:bodyPr>
          <a:lstStyle/>
          <a:p>
            <a:pPr algn="ctr"/>
            <a:r>
              <a:rPr lang="en-VN" sz="4400" noProof="1">
                <a:latin typeface="Cambria" panose="02040503050406030204" pitchFamily="18" charset="0"/>
                <a:cs typeface="Times New Roman" panose="02020603050405020304" pitchFamily="18" charset="0"/>
              </a:rPr>
              <a:t>Sự </a:t>
            </a:r>
          </a:p>
          <a:p>
            <a:pPr algn="ctr"/>
            <a:r>
              <a:rPr lang="en-VN" sz="4400" noProof="1">
                <a:latin typeface="Cambria" panose="02040503050406030204" pitchFamily="18" charset="0"/>
                <a:cs typeface="Times New Roman" panose="02020603050405020304" pitchFamily="18" charset="0"/>
              </a:rPr>
              <a:t>chu cấp hoàn hảo?</a:t>
            </a:r>
            <a:endParaRPr lang="en-VN" sz="4400" noProof="1"/>
          </a:p>
        </p:txBody>
      </p:sp>
      <p:pic>
        <p:nvPicPr>
          <p:cNvPr id="19" name="Graphic 18">
            <a:extLst>
              <a:ext uri="{FF2B5EF4-FFF2-40B4-BE49-F238E27FC236}">
                <a16:creationId xmlns:a16="http://schemas.microsoft.com/office/drawing/2014/main" id="{DDEC7094-D240-4151-08F5-364C6BE689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02249" y="4613681"/>
            <a:ext cx="1324232" cy="1324232"/>
          </a:xfrm>
          <a:prstGeom prst="rect">
            <a:avLst/>
          </a:prstGeom>
        </p:spPr>
      </p:pic>
      <p:pic>
        <p:nvPicPr>
          <p:cNvPr id="39942" name="Picture 6" descr="Human - Free people icons">
            <a:extLst>
              <a:ext uri="{FF2B5EF4-FFF2-40B4-BE49-F238E27FC236}">
                <a16:creationId xmlns:a16="http://schemas.microsoft.com/office/drawing/2014/main" id="{529FE1C6-4201-7A4F-3AC8-A899AFA1C8F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92679" y="4698326"/>
            <a:ext cx="1004048" cy="1004048"/>
          </a:xfrm>
          <a:prstGeom prst="rect">
            <a:avLst/>
          </a:prstGeom>
          <a:noFill/>
          <a:extLst>
            <a:ext uri="{909E8E84-426E-40DD-AFC4-6F175D3DCCD1}">
              <a14:hiddenFill xmlns:a14="http://schemas.microsoft.com/office/drawing/2010/main">
                <a:solidFill>
                  <a:srgbClr val="FFFFFF"/>
                </a:solidFill>
              </a14:hiddenFill>
            </a:ext>
          </a:extLst>
        </p:spPr>
      </p:pic>
      <p:sp>
        <p:nvSpPr>
          <p:cNvPr id="20" name="Equal 19">
            <a:extLst>
              <a:ext uri="{FF2B5EF4-FFF2-40B4-BE49-F238E27FC236}">
                <a16:creationId xmlns:a16="http://schemas.microsoft.com/office/drawing/2014/main" id="{EF03B34E-FE34-5EDD-4961-3591928610B7}"/>
              </a:ext>
            </a:extLst>
          </p:cNvPr>
          <p:cNvSpPr/>
          <p:nvPr/>
        </p:nvSpPr>
        <p:spPr>
          <a:xfrm>
            <a:off x="5013045" y="4990876"/>
            <a:ext cx="1020417" cy="569843"/>
          </a:xfrm>
          <a:prstGeom prst="mathEqua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dirty="0">
              <a:solidFill>
                <a:schemeClr val="tx1"/>
              </a:solidFill>
            </a:endParaRPr>
          </a:p>
        </p:txBody>
      </p:sp>
    </p:spTree>
    <p:extLst>
      <p:ext uri="{BB962C8B-B14F-4D97-AF65-F5344CB8AC3E}">
        <p14:creationId xmlns:p14="http://schemas.microsoft.com/office/powerpoint/2010/main" val="4059508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1"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p:tgtEl>
                                          <p:spTgt spid="11"/>
                                        </p:tgtEl>
                                        <p:attrNameLst>
                                          <p:attrName>ppt_y</p:attrName>
                                        </p:attrNameLst>
                                      </p:cBhvr>
                                      <p:tavLst>
                                        <p:tav tm="0">
                                          <p:val>
                                            <p:strVal val="#ppt_y+#ppt_h*1.125000"/>
                                          </p:val>
                                        </p:tav>
                                        <p:tav tm="100000">
                                          <p:val>
                                            <p:strVal val="#ppt_y"/>
                                          </p:val>
                                        </p:tav>
                                      </p:tavLst>
                                    </p:anim>
                                    <p:animEffect transition="in" filter="wipe(up)">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p:tgtEl>
                                          <p:spTgt spid="12"/>
                                        </p:tgtEl>
                                        <p:attrNameLst>
                                          <p:attrName>ppt_y</p:attrName>
                                        </p:attrNameLst>
                                      </p:cBhvr>
                                      <p:tavLst>
                                        <p:tav tm="0">
                                          <p:val>
                                            <p:strVal val="#ppt_y+#ppt_h*1.125000"/>
                                          </p:val>
                                        </p:tav>
                                        <p:tav tm="100000">
                                          <p:val>
                                            <p:strVal val="#ppt_y"/>
                                          </p:val>
                                        </p:tav>
                                      </p:tavLst>
                                    </p:anim>
                                    <p:animEffect transition="in" filter="wipe(up)">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dissolve">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39938"/>
                                        </p:tgtEl>
                                        <p:attrNameLst>
                                          <p:attrName>style.visibility</p:attrName>
                                        </p:attrNameLst>
                                      </p:cBhvr>
                                      <p:to>
                                        <p:strVal val="visible"/>
                                      </p:to>
                                    </p:set>
                                    <p:animEffect transition="in" filter="dissolve">
                                      <p:cBhvr>
                                        <p:cTn id="34" dur="500"/>
                                        <p:tgtEl>
                                          <p:spTgt spid="39938"/>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blinds(horizontal)">
                                      <p:cBhvr>
                                        <p:cTn id="39" dur="500"/>
                                        <p:tgtEl>
                                          <p:spTgt spid="20"/>
                                        </p:tgtEl>
                                      </p:cBhvr>
                                    </p:animEffect>
                                  </p:childTnLst>
                                </p:cTn>
                              </p:par>
                              <p:par>
                                <p:cTn id="40" presetID="3" presetClass="entr" presetSubtype="10" fill="hold"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blinds(horizontal)">
                                      <p:cBhvr>
                                        <p:cTn id="42" dur="500"/>
                                        <p:tgtEl>
                                          <p:spTgt spid="19"/>
                                        </p:tgtEl>
                                      </p:cBhvr>
                                    </p:animEffect>
                                  </p:childTnLst>
                                </p:cTn>
                              </p:par>
                              <p:par>
                                <p:cTn id="43" presetID="3" presetClass="entr" presetSubtype="10" fill="hold" nodeType="withEffect">
                                  <p:stCondLst>
                                    <p:cond delay="0"/>
                                  </p:stCondLst>
                                  <p:childTnLst>
                                    <p:set>
                                      <p:cBhvr>
                                        <p:cTn id="44" dur="1" fill="hold">
                                          <p:stCondLst>
                                            <p:cond delay="0"/>
                                          </p:stCondLst>
                                        </p:cTn>
                                        <p:tgtEl>
                                          <p:spTgt spid="39940"/>
                                        </p:tgtEl>
                                        <p:attrNameLst>
                                          <p:attrName>style.visibility</p:attrName>
                                        </p:attrNameLst>
                                      </p:cBhvr>
                                      <p:to>
                                        <p:strVal val="visible"/>
                                      </p:to>
                                    </p:set>
                                    <p:animEffect transition="in" filter="blinds(horizontal)">
                                      <p:cBhvr>
                                        <p:cTn id="45" dur="500"/>
                                        <p:tgtEl>
                                          <p:spTgt spid="39940"/>
                                        </p:tgtEl>
                                      </p:cBhvr>
                                    </p:animEffect>
                                  </p:childTnLst>
                                </p:cTn>
                              </p:par>
                              <p:par>
                                <p:cTn id="46" presetID="3" presetClass="entr" presetSubtype="10" fill="hold" nodeType="withEffect">
                                  <p:stCondLst>
                                    <p:cond delay="0"/>
                                  </p:stCondLst>
                                  <p:childTnLst>
                                    <p:set>
                                      <p:cBhvr>
                                        <p:cTn id="47" dur="1" fill="hold">
                                          <p:stCondLst>
                                            <p:cond delay="0"/>
                                          </p:stCondLst>
                                        </p:cTn>
                                        <p:tgtEl>
                                          <p:spTgt spid="39942"/>
                                        </p:tgtEl>
                                        <p:attrNameLst>
                                          <p:attrName>style.visibility</p:attrName>
                                        </p:attrNameLst>
                                      </p:cBhvr>
                                      <p:to>
                                        <p:strVal val="visible"/>
                                      </p:to>
                                    </p:set>
                                    <p:animEffect transition="in" filter="blinds(horizontal)">
                                      <p:cBhvr>
                                        <p:cTn id="48" dur="500"/>
                                        <p:tgtEl>
                                          <p:spTgt spid="39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p:bldP spid="11" grpId="0"/>
      <p:bldP spid="12" grpId="0"/>
      <p:bldP spid="6" grpId="0"/>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A5E15-E3A5-A07D-3E41-17AE1CA6E44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2350FAF-9263-1496-2BBE-F823CBDC707B}"/>
              </a:ext>
            </a:extLst>
          </p:cNvPr>
          <p:cNvSpPr txBox="1"/>
          <p:nvPr/>
        </p:nvSpPr>
        <p:spPr>
          <a:xfrm>
            <a:off x="181580" y="301867"/>
            <a:ext cx="11828840" cy="769441"/>
          </a:xfrm>
          <a:prstGeom prst="rect">
            <a:avLst/>
          </a:prstGeom>
          <a:noFill/>
        </p:spPr>
        <p:txBody>
          <a:bodyPr wrap="square">
            <a:spAutoFit/>
          </a:bodyPr>
          <a:lstStyle/>
          <a:p>
            <a:r>
              <a:rPr lang="en-VN" sz="4400" b="1" noProof="1">
                <a:latin typeface="Cambria" panose="02040503050406030204" pitchFamily="18" charset="0"/>
                <a:cs typeface="Times New Roman" panose="02020603050405020304" pitchFamily="18" charset="0"/>
              </a:rPr>
              <a:t>Sự chu cấp của Đức Chúa Trời nói lên điều gì?</a:t>
            </a:r>
            <a:endParaRPr lang="en-VN" sz="4400" noProof="1"/>
          </a:p>
        </p:txBody>
      </p:sp>
      <p:grpSp>
        <p:nvGrpSpPr>
          <p:cNvPr id="8" name="Group 7">
            <a:extLst>
              <a:ext uri="{FF2B5EF4-FFF2-40B4-BE49-F238E27FC236}">
                <a16:creationId xmlns:a16="http://schemas.microsoft.com/office/drawing/2014/main" id="{B94BB0CF-EE11-94FA-E265-8C33014AF1C1}"/>
              </a:ext>
            </a:extLst>
          </p:cNvPr>
          <p:cNvGrpSpPr/>
          <p:nvPr/>
        </p:nvGrpSpPr>
        <p:grpSpPr>
          <a:xfrm>
            <a:off x="2190854" y="1071308"/>
            <a:ext cx="7810291" cy="1721040"/>
            <a:chOff x="2886436" y="4339830"/>
            <a:chExt cx="7810291" cy="1721040"/>
          </a:xfrm>
        </p:grpSpPr>
        <p:pic>
          <p:nvPicPr>
            <p:cNvPr id="39938" name="Picture 2" descr="Bloody Cross Spirituality Sacrifice Symbol Vector, Spirituality, Sacrifice,  Symbol PNG and Vector with Transparent Background for Free Download">
              <a:extLst>
                <a:ext uri="{FF2B5EF4-FFF2-40B4-BE49-F238E27FC236}">
                  <a16:creationId xmlns:a16="http://schemas.microsoft.com/office/drawing/2014/main" id="{7D7A875D-D7F1-1F35-2E9D-A252A8DB84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362" t="2903" b="6232"/>
            <a:stretch/>
          </p:blipFill>
          <p:spPr bwMode="auto">
            <a:xfrm>
              <a:off x="2886436" y="4339830"/>
              <a:ext cx="1773562" cy="1721040"/>
            </a:xfrm>
            <a:prstGeom prst="rect">
              <a:avLst/>
            </a:prstGeom>
            <a:noFill/>
            <a:extLst>
              <a:ext uri="{909E8E84-426E-40DD-AFC4-6F175D3DCCD1}">
                <a14:hiddenFill xmlns:a14="http://schemas.microsoft.com/office/drawing/2010/main">
                  <a:solidFill>
                    <a:srgbClr val="FFFFFF"/>
                  </a:solidFill>
                </a14:hiddenFill>
              </a:ext>
            </a:extLst>
          </p:spPr>
        </p:pic>
        <p:pic>
          <p:nvPicPr>
            <p:cNvPr id="39940" name="Picture 4" descr="Heart symbol - Wikipedia">
              <a:extLst>
                <a:ext uri="{FF2B5EF4-FFF2-40B4-BE49-F238E27FC236}">
                  <a16:creationId xmlns:a16="http://schemas.microsoft.com/office/drawing/2014/main" id="{25712A06-063E-0C99-7C85-7325FE0EDF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5268" y="4811485"/>
              <a:ext cx="928624" cy="928624"/>
            </a:xfrm>
            <a:prstGeom prst="rect">
              <a:avLst/>
            </a:prstGeom>
            <a:noFill/>
            <a:extLst>
              <a:ext uri="{909E8E84-426E-40DD-AFC4-6F175D3DCCD1}">
                <a14:hiddenFill xmlns:a14="http://schemas.microsoft.com/office/drawing/2010/main">
                  <a:solidFill>
                    <a:srgbClr val="FFFFFF"/>
                  </a:solidFill>
                </a14:hiddenFill>
              </a:ext>
            </a:extLst>
          </p:spPr>
        </p:pic>
        <p:pic>
          <p:nvPicPr>
            <p:cNvPr id="19" name="Graphic 18">
              <a:extLst>
                <a:ext uri="{FF2B5EF4-FFF2-40B4-BE49-F238E27FC236}">
                  <a16:creationId xmlns:a16="http://schemas.microsoft.com/office/drawing/2014/main" id="{4CF5621D-8139-0AD7-1817-4068611C0EC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02249" y="4613681"/>
              <a:ext cx="1324232" cy="1324232"/>
            </a:xfrm>
            <a:prstGeom prst="rect">
              <a:avLst/>
            </a:prstGeom>
          </p:spPr>
        </p:pic>
        <p:pic>
          <p:nvPicPr>
            <p:cNvPr id="39942" name="Picture 6" descr="Human - Free people icons">
              <a:extLst>
                <a:ext uri="{FF2B5EF4-FFF2-40B4-BE49-F238E27FC236}">
                  <a16:creationId xmlns:a16="http://schemas.microsoft.com/office/drawing/2014/main" id="{98D7C9CF-824F-54BB-DA37-9BF092B714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92679" y="4698326"/>
              <a:ext cx="1004048" cy="1004048"/>
            </a:xfrm>
            <a:prstGeom prst="rect">
              <a:avLst/>
            </a:prstGeom>
            <a:noFill/>
            <a:extLst>
              <a:ext uri="{909E8E84-426E-40DD-AFC4-6F175D3DCCD1}">
                <a14:hiddenFill xmlns:a14="http://schemas.microsoft.com/office/drawing/2010/main">
                  <a:solidFill>
                    <a:srgbClr val="FFFFFF"/>
                  </a:solidFill>
                </a14:hiddenFill>
              </a:ext>
            </a:extLst>
          </p:spPr>
        </p:pic>
        <p:sp>
          <p:nvSpPr>
            <p:cNvPr id="20" name="Equal 19">
              <a:extLst>
                <a:ext uri="{FF2B5EF4-FFF2-40B4-BE49-F238E27FC236}">
                  <a16:creationId xmlns:a16="http://schemas.microsoft.com/office/drawing/2014/main" id="{B64B2A09-22CF-85B5-709D-3D4678B6D65B}"/>
                </a:ext>
              </a:extLst>
            </p:cNvPr>
            <p:cNvSpPr/>
            <p:nvPr/>
          </p:nvSpPr>
          <p:spPr>
            <a:xfrm>
              <a:off x="5013045" y="4990876"/>
              <a:ext cx="1020417" cy="569843"/>
            </a:xfrm>
            <a:prstGeom prst="mathEqual">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dirty="0">
                <a:solidFill>
                  <a:schemeClr val="tx1"/>
                </a:solidFill>
              </a:endParaRPr>
            </a:p>
          </p:txBody>
        </p:sp>
      </p:grpSp>
      <p:sp>
        <p:nvSpPr>
          <p:cNvPr id="7" name="TextBox 6">
            <a:extLst>
              <a:ext uri="{FF2B5EF4-FFF2-40B4-BE49-F238E27FC236}">
                <a16:creationId xmlns:a16="http://schemas.microsoft.com/office/drawing/2014/main" id="{5C4CBDA9-6CA0-7EDB-A097-EB6F1722AF55}"/>
              </a:ext>
            </a:extLst>
          </p:cNvPr>
          <p:cNvSpPr txBox="1"/>
          <p:nvPr/>
        </p:nvSpPr>
        <p:spPr>
          <a:xfrm>
            <a:off x="449018" y="3264003"/>
            <a:ext cx="11293963" cy="3244030"/>
          </a:xfrm>
          <a:prstGeom prst="rect">
            <a:avLst/>
          </a:prstGeom>
          <a:noFill/>
        </p:spPr>
        <p:txBody>
          <a:bodyPr wrap="square">
            <a:spAutoFit/>
          </a:bodyPr>
          <a:lstStyle/>
          <a:p>
            <a:pPr>
              <a:lnSpc>
                <a:spcPct val="150000"/>
              </a:lnSpc>
            </a:pPr>
            <a:r>
              <a:rPr lang="vi-VN" sz="2800" baseline="30000" dirty="0">
                <a:solidFill>
                  <a:srgbClr val="777A7B"/>
                </a:solidFill>
                <a:latin typeface="Cambria" panose="02040503050406030204" pitchFamily="18" charset="0"/>
              </a:rPr>
              <a:t>“9</a:t>
            </a:r>
            <a:r>
              <a:rPr lang="vi-VN" sz="2800" b="0" i="0" u="none" strike="noStrike" dirty="0">
                <a:solidFill>
                  <a:srgbClr val="FF0000"/>
                </a:solidFill>
                <a:effectLst/>
                <a:latin typeface="Cambria" panose="02040503050406030204" pitchFamily="18" charset="0"/>
              </a:rPr>
              <a:t>Lòng Đức Chúa Trời yêu chúng ta </a:t>
            </a:r>
            <a:r>
              <a:rPr lang="vi-VN" sz="2800" b="0" i="0" u="none" strike="noStrike" dirty="0">
                <a:solidFill>
                  <a:srgbClr val="121212"/>
                </a:solidFill>
                <a:effectLst/>
                <a:latin typeface="Cambria" panose="02040503050406030204" pitchFamily="18" charset="0"/>
              </a:rPr>
              <a:t>đã bày-tỏ ra trong điều nầy: Đức Chúa Trời đã sai Con một Ngài đến thế-gian, đặng chúng ta nhờ Con được sống. </a:t>
            </a:r>
            <a:r>
              <a:rPr lang="vi-VN" sz="2800" b="0" i="0" u="none" strike="noStrike" baseline="30000" dirty="0">
                <a:solidFill>
                  <a:srgbClr val="777A7B"/>
                </a:solidFill>
                <a:effectLst/>
                <a:latin typeface="Cambria" panose="02040503050406030204" pitchFamily="18" charset="0"/>
              </a:rPr>
              <a:t>10</a:t>
            </a:r>
            <a:r>
              <a:rPr lang="vi-VN" sz="2800" b="0" i="0" u="none" strike="noStrike" dirty="0">
                <a:solidFill>
                  <a:srgbClr val="121212"/>
                </a:solidFill>
                <a:effectLst/>
                <a:latin typeface="Cambria" panose="02040503050406030204" pitchFamily="18" charset="0"/>
              </a:rPr>
              <a:t>Nầy, </a:t>
            </a:r>
            <a:r>
              <a:rPr lang="vi-VN" sz="2800" b="0" i="0" u="none" strike="noStrike" dirty="0">
                <a:solidFill>
                  <a:srgbClr val="FF0000"/>
                </a:solidFill>
                <a:effectLst/>
                <a:latin typeface="Cambria" panose="02040503050406030204" pitchFamily="18" charset="0"/>
              </a:rPr>
              <a:t>sự yêu-thương ở tại đây</a:t>
            </a:r>
            <a:r>
              <a:rPr lang="vi-VN" sz="2800" b="0" i="0" u="none" strike="noStrike" dirty="0">
                <a:solidFill>
                  <a:srgbClr val="121212"/>
                </a:solidFill>
                <a:effectLst/>
                <a:latin typeface="Cambria" panose="02040503050406030204" pitchFamily="18" charset="0"/>
              </a:rPr>
              <a:t>: ấy chẳng phải chúng ta đã yêu Đức Chúa Trời, nhưng Ngài đã yêu chúng ta, và </a:t>
            </a:r>
            <a:r>
              <a:rPr lang="vi-VN" sz="2800" b="0" i="0" u="none" strike="noStrike" dirty="0">
                <a:solidFill>
                  <a:srgbClr val="FF0000"/>
                </a:solidFill>
                <a:effectLst/>
                <a:latin typeface="Cambria" panose="02040503050406030204" pitchFamily="18" charset="0"/>
              </a:rPr>
              <a:t>sai Con Ngài làm của-lễ chuộc tội chúng ta</a:t>
            </a:r>
            <a:r>
              <a:rPr lang="vi-VN" sz="2800" b="0" i="0" u="none" strike="noStrike" dirty="0">
                <a:solidFill>
                  <a:srgbClr val="121212"/>
                </a:solidFill>
                <a:effectLst/>
                <a:latin typeface="Cambria" panose="02040503050406030204" pitchFamily="18" charset="0"/>
              </a:rPr>
              <a:t>” – 1 Giăng 4:9-10</a:t>
            </a:r>
            <a:endParaRPr lang="en-VN" sz="2800" dirty="0">
              <a:latin typeface="Cambria" panose="02040503050406030204" pitchFamily="18" charset="0"/>
            </a:endParaRPr>
          </a:p>
        </p:txBody>
      </p:sp>
    </p:spTree>
    <p:extLst>
      <p:ext uri="{BB962C8B-B14F-4D97-AF65-F5344CB8AC3E}">
        <p14:creationId xmlns:p14="http://schemas.microsoft.com/office/powerpoint/2010/main" val="30488278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440AA-D156-7EDC-5BE4-8B3FBE8E034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DF5A12C-F45C-A866-7828-E5B5D54E5760}"/>
              </a:ext>
            </a:extLst>
          </p:cNvPr>
          <p:cNvSpPr txBox="1"/>
          <p:nvPr/>
        </p:nvSpPr>
        <p:spPr>
          <a:xfrm>
            <a:off x="363161" y="370125"/>
            <a:ext cx="7360598" cy="2532040"/>
          </a:xfrm>
          <a:prstGeom prst="rect">
            <a:avLst/>
          </a:prstGeom>
          <a:noFill/>
        </p:spPr>
        <p:txBody>
          <a:bodyPr wrap="square">
            <a:spAutoFit/>
          </a:bodyPr>
          <a:lstStyle/>
          <a:p>
            <a:pPr>
              <a:lnSpc>
                <a:spcPct val="150000"/>
              </a:lnSpc>
            </a:pPr>
            <a:r>
              <a:rPr lang="en-VN" sz="3000" b="1" noProof="1">
                <a:latin typeface="Cambria" panose="02040503050406030204" pitchFamily="18" charset="0"/>
                <a:cs typeface="Times New Roman" panose="02020603050405020304" pitchFamily="18" charset="0"/>
              </a:rPr>
              <a:t>Nguyên tắc cho việc dâng hiến (lí do):</a:t>
            </a:r>
          </a:p>
          <a:p>
            <a:pPr algn="ctr">
              <a:lnSpc>
                <a:spcPct val="150000"/>
              </a:lnSpc>
            </a:pPr>
            <a:r>
              <a:rPr lang="en-VN" sz="4000" b="1" noProof="1">
                <a:solidFill>
                  <a:srgbClr val="00B050"/>
                </a:solidFill>
                <a:latin typeface="Cambria" panose="02040503050406030204" pitchFamily="18" charset="0"/>
                <a:cs typeface="Times New Roman" panose="02020603050405020304" pitchFamily="18" charset="0"/>
              </a:rPr>
              <a:t>Bày tỏ đức tin về tình yêu và sự chu cấp của Ngài</a:t>
            </a:r>
            <a:endParaRPr lang="en-VN" sz="6000" noProof="1">
              <a:solidFill>
                <a:srgbClr val="00B050"/>
              </a:solidFill>
            </a:endParaRPr>
          </a:p>
        </p:txBody>
      </p:sp>
      <p:pic>
        <p:nvPicPr>
          <p:cNvPr id="11266" name="Picture 2" descr="Principle - Free security icons">
            <a:extLst>
              <a:ext uri="{FF2B5EF4-FFF2-40B4-BE49-F238E27FC236}">
                <a16:creationId xmlns:a16="http://schemas.microsoft.com/office/drawing/2014/main" id="{94443CFF-9AB7-E215-B97B-80B368A6A7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9192" y="181994"/>
            <a:ext cx="2779642" cy="277964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C94C5BD-C28B-43AB-0847-B03EDA267BB8}"/>
              </a:ext>
            </a:extLst>
          </p:cNvPr>
          <p:cNvSpPr txBox="1"/>
          <p:nvPr/>
        </p:nvSpPr>
        <p:spPr>
          <a:xfrm>
            <a:off x="363163" y="4536507"/>
            <a:ext cx="11465673" cy="1951368"/>
          </a:xfrm>
          <a:prstGeom prst="rect">
            <a:avLst/>
          </a:prstGeom>
          <a:noFill/>
        </p:spPr>
        <p:txBody>
          <a:bodyPr wrap="square" rtlCol="0">
            <a:spAutoFit/>
          </a:bodyPr>
          <a:lstStyle/>
          <a:p>
            <a:pPr algn="just">
              <a:lnSpc>
                <a:spcPct val="150000"/>
              </a:lnSpc>
            </a:pPr>
            <a:r>
              <a:rPr lang="en-VN" sz="2800" dirty="0">
                <a:effectLst/>
                <a:latin typeface="Cambria" panose="02040503050406030204" pitchFamily="18" charset="0"/>
                <a:ea typeface="Calibri" panose="020F0502020204030204" pitchFamily="34" charset="0"/>
                <a:cs typeface="Times New Roman" panose="02020603050405020304" pitchFamily="18" charset="0"/>
              </a:rPr>
              <a:t>Dâng hiến là hành động xưng nhận đức tin:</a:t>
            </a:r>
          </a:p>
          <a:p>
            <a:pPr marL="342900" indent="-342900" algn="just">
              <a:lnSpc>
                <a:spcPct val="150000"/>
              </a:lnSpc>
              <a:buFontTx/>
              <a:buChar char="-"/>
            </a:pPr>
            <a:r>
              <a:rPr lang="en-VN" sz="2800" dirty="0">
                <a:effectLst/>
                <a:latin typeface="Cambria" panose="02040503050406030204" pitchFamily="18" charset="0"/>
                <a:ea typeface="Calibri" panose="020F0502020204030204" pitchFamily="34" charset="0"/>
                <a:cs typeface="Times New Roman" panose="02020603050405020304" pitchFamily="18" charset="0"/>
              </a:rPr>
              <a:t>Về tình yêu và sự quan tâm của Đức Chúa Trời trên đời sống chúng ta</a:t>
            </a:r>
          </a:p>
          <a:p>
            <a:pPr marL="342900" indent="-342900" algn="just">
              <a:lnSpc>
                <a:spcPct val="150000"/>
              </a:lnSpc>
              <a:buFontTx/>
              <a:buChar char="-"/>
            </a:pPr>
            <a:r>
              <a:rPr lang="en-VN" sz="2800" dirty="0">
                <a:effectLst/>
                <a:latin typeface="Cambria" panose="02040503050406030204" pitchFamily="18" charset="0"/>
                <a:ea typeface="Calibri" panose="020F0502020204030204" pitchFamily="34" charset="0"/>
                <a:cs typeface="Times New Roman" panose="02020603050405020304" pitchFamily="18" charset="0"/>
              </a:rPr>
              <a:t>Về sự chu cấp của Đức Chúa Trời trên đời sống hằng ngày của chúng ta </a:t>
            </a:r>
          </a:p>
        </p:txBody>
      </p:sp>
      <p:sp>
        <p:nvSpPr>
          <p:cNvPr id="9" name="TextBox 8">
            <a:extLst>
              <a:ext uri="{FF2B5EF4-FFF2-40B4-BE49-F238E27FC236}">
                <a16:creationId xmlns:a16="http://schemas.microsoft.com/office/drawing/2014/main" id="{194B3A7D-78D0-8C67-5E88-0CB8B4FFC92F}"/>
              </a:ext>
            </a:extLst>
          </p:cNvPr>
          <p:cNvSpPr txBox="1"/>
          <p:nvPr/>
        </p:nvSpPr>
        <p:spPr>
          <a:xfrm>
            <a:off x="363162" y="3131771"/>
            <a:ext cx="11465673" cy="1175130"/>
          </a:xfrm>
          <a:prstGeom prst="rect">
            <a:avLst/>
          </a:prstGeom>
          <a:noFill/>
        </p:spPr>
        <p:txBody>
          <a:bodyPr wrap="square">
            <a:spAutoFit/>
          </a:bodyPr>
          <a:lstStyle/>
          <a:p>
            <a:pPr algn="just">
              <a:lnSpc>
                <a:spcPct val="150000"/>
              </a:lnSpc>
            </a:pPr>
            <a:r>
              <a:rPr lang="en-VN" sz="2500" dirty="0">
                <a:latin typeface="Cambria" panose="02040503050406030204" pitchFamily="18" charset="0"/>
              </a:rPr>
              <a:t>“﻿The proportion of your income that you give back to God testifies to how much you trust Him to provide for your needs” – Spiritual Discipline, Donal S. Whitney</a:t>
            </a:r>
          </a:p>
        </p:txBody>
      </p:sp>
    </p:spTree>
    <p:extLst>
      <p:ext uri="{BB962C8B-B14F-4D97-AF65-F5344CB8AC3E}">
        <p14:creationId xmlns:p14="http://schemas.microsoft.com/office/powerpoint/2010/main" val="144683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690E5-EACE-DC51-4C70-0E1F437DAEA2}"/>
            </a:ext>
          </a:extLst>
        </p:cNvPr>
        <p:cNvGrpSpPr/>
        <p:nvPr/>
      </p:nvGrpSpPr>
      <p:grpSpPr>
        <a:xfrm>
          <a:off x="0" y="0"/>
          <a:ext cx="0" cy="0"/>
          <a:chOff x="0" y="0"/>
          <a:chExt cx="0" cy="0"/>
        </a:xfrm>
      </p:grpSpPr>
      <p:pic>
        <p:nvPicPr>
          <p:cNvPr id="12292" name="Picture 4" descr="Question Mark icons for free download | Freepik">
            <a:extLst>
              <a:ext uri="{FF2B5EF4-FFF2-40B4-BE49-F238E27FC236}">
                <a16:creationId xmlns:a16="http://schemas.microsoft.com/office/drawing/2014/main" id="{254E7A4F-87DA-743A-B6E0-CCE3E89519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188" y="1611086"/>
            <a:ext cx="3635828" cy="363582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D272A60D-B085-3B74-1080-70D5BCB15E54}"/>
              </a:ext>
            </a:extLst>
          </p:cNvPr>
          <p:cNvSpPr txBox="1"/>
          <p:nvPr/>
        </p:nvSpPr>
        <p:spPr>
          <a:xfrm>
            <a:off x="4651902" y="1611086"/>
            <a:ext cx="6884559" cy="3496791"/>
          </a:xfrm>
          <a:prstGeom prst="rect">
            <a:avLst/>
          </a:prstGeom>
          <a:noFill/>
        </p:spPr>
        <p:txBody>
          <a:bodyPr wrap="square" rtlCol="0">
            <a:spAutoFit/>
          </a:bodyPr>
          <a:lstStyle/>
          <a:p>
            <a:pPr lvl="0" algn="ctr">
              <a:lnSpc>
                <a:spcPct val="115000"/>
              </a:lnSpc>
            </a:pPr>
            <a:r>
              <a:rPr lang="en-US" sz="6600" b="1" kern="100" noProof="1">
                <a:latin typeface="Cambria" panose="02040503050406030204" pitchFamily="18" charset="0"/>
                <a:ea typeface="Calibri" panose="020F0502020204030204" pitchFamily="34" charset="0"/>
                <a:cs typeface="Times New Roman" panose="02020603050405020304" pitchFamily="18" charset="0"/>
              </a:rPr>
              <a:t>Tại sao Áp-ram dâng hiến cho Mên-chi-xê-đéc?</a:t>
            </a:r>
            <a:endParaRPr lang="en-US" sz="6600" b="1" kern="100" noProof="1">
              <a:effectLst/>
              <a:latin typeface="Cambria" panose="020405030504060302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958423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7B40-60C1-01A5-7E0D-DD2A877A38D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497A8CE-089E-1336-6201-B37F4B5FB46F}"/>
              </a:ext>
            </a:extLst>
          </p:cNvPr>
          <p:cNvSpPr txBox="1"/>
          <p:nvPr/>
        </p:nvSpPr>
        <p:spPr>
          <a:xfrm>
            <a:off x="2240604" y="648485"/>
            <a:ext cx="7710792" cy="923330"/>
          </a:xfrm>
          <a:prstGeom prst="rect">
            <a:avLst/>
          </a:prstGeom>
          <a:noFill/>
        </p:spPr>
        <p:txBody>
          <a:bodyPr wrap="square">
            <a:spAutoFit/>
          </a:bodyPr>
          <a:lstStyle/>
          <a:p>
            <a:r>
              <a:rPr lang="vi-VN" sz="5400" b="1" dirty="0">
                <a:latin typeface="Cambria" panose="02040503050406030204" pitchFamily="18" charset="0"/>
                <a:cs typeface="Times New Roman" panose="02020603050405020304" pitchFamily="18" charset="0"/>
              </a:rPr>
              <a:t>Sáng thế ký 14:18</a:t>
            </a:r>
            <a:endParaRPr lang="en-VN" sz="5400" dirty="0"/>
          </a:p>
        </p:txBody>
      </p:sp>
      <p:pic>
        <p:nvPicPr>
          <p:cNvPr id="5122" name="Picture 2" descr="Bible - Free cultures icons">
            <a:extLst>
              <a:ext uri="{FF2B5EF4-FFF2-40B4-BE49-F238E27FC236}">
                <a16:creationId xmlns:a16="http://schemas.microsoft.com/office/drawing/2014/main" id="{A515BF04-95F4-D19C-FDF3-84A0C3F942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165" y="249252"/>
            <a:ext cx="1721796" cy="172179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4B44B92-D45A-409E-5940-62D31713380A}"/>
              </a:ext>
            </a:extLst>
          </p:cNvPr>
          <p:cNvSpPr txBox="1"/>
          <p:nvPr/>
        </p:nvSpPr>
        <p:spPr>
          <a:xfrm>
            <a:off x="363165" y="2094386"/>
            <a:ext cx="11465670" cy="1077218"/>
          </a:xfrm>
          <a:prstGeom prst="rect">
            <a:avLst/>
          </a:prstGeom>
          <a:noFill/>
        </p:spPr>
        <p:txBody>
          <a:bodyPr wrap="square" rtlCol="0">
            <a:spAutoFit/>
          </a:bodyPr>
          <a:lstStyle/>
          <a:p>
            <a:pPr algn="just"/>
            <a:r>
              <a:rPr lang="vi-VN" sz="3200" noProof="1">
                <a:effectLst/>
                <a:latin typeface="Cambria" panose="02040503050406030204" pitchFamily="18" charset="0"/>
                <a:ea typeface="Calibri" panose="020F0502020204030204" pitchFamily="34" charset="0"/>
                <a:cs typeface="Times New Roman" panose="02020603050405020304" pitchFamily="18" charset="0"/>
              </a:rPr>
              <a:t>“</a:t>
            </a:r>
            <a:r>
              <a:rPr lang="vi-VN" sz="3200" baseline="30000" noProof="1">
                <a:effectLst/>
                <a:latin typeface="Cambria" panose="02040503050406030204" pitchFamily="18" charset="0"/>
                <a:ea typeface="Calibri" panose="020F0502020204030204" pitchFamily="34" charset="0"/>
                <a:cs typeface="Times New Roman" panose="02020603050405020304" pitchFamily="18" charset="0"/>
              </a:rPr>
              <a:t>18</a:t>
            </a:r>
            <a:r>
              <a:rPr lang="vi-VN" sz="3200" noProof="1">
                <a:effectLst/>
                <a:latin typeface="Cambria" panose="02040503050406030204" pitchFamily="18" charset="0"/>
                <a:ea typeface="Calibri" panose="020F0502020204030204" pitchFamily="34" charset="0"/>
                <a:cs typeface="Times New Roman" panose="02020603050405020304" pitchFamily="18" charset="0"/>
              </a:rPr>
              <a:t>Mên-chi-xê-đéc, vua Sa-lem, sai đem bánh và rượu ra. Vả, vua nầy là </a:t>
            </a:r>
            <a:r>
              <a:rPr lang="vi-VN" sz="32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thầy tế-lễ của Đức Chúa Trời Chí-Cao</a:t>
            </a:r>
            <a:r>
              <a:rPr lang="vi-VN" sz="3200" noProof="1">
                <a:effectLst/>
                <a:latin typeface="Cambria" panose="02040503050406030204" pitchFamily="18" charset="0"/>
                <a:ea typeface="Calibri" panose="020F0502020204030204" pitchFamily="34" charset="0"/>
                <a:cs typeface="Times New Roman" panose="02020603050405020304" pitchFamily="18" charset="0"/>
              </a:rPr>
              <a:t>, …”</a:t>
            </a:r>
            <a:endParaRPr lang="vi-VN" sz="3200" noProof="1">
              <a:latin typeface="Cambria" panose="02040503050406030204" pitchFamily="18" charset="0"/>
            </a:endParaRPr>
          </a:p>
        </p:txBody>
      </p:sp>
      <p:pic>
        <p:nvPicPr>
          <p:cNvPr id="50178" name="Picture 2" descr="I Don't Know Shrug Icons - Free SVG &amp; PNG I Don't Know Shrug Images - Noun  Project">
            <a:extLst>
              <a:ext uri="{FF2B5EF4-FFF2-40B4-BE49-F238E27FC236}">
                <a16:creationId xmlns:a16="http://schemas.microsoft.com/office/drawing/2014/main" id="{2222D3BE-BB09-74D4-5619-D14D15F056A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266" r="21215"/>
          <a:stretch/>
        </p:blipFill>
        <p:spPr bwMode="auto">
          <a:xfrm>
            <a:off x="961650" y="3294942"/>
            <a:ext cx="2246621" cy="336903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A5D1941-76A5-8380-BF50-A800ACA34DD4}"/>
              </a:ext>
            </a:extLst>
          </p:cNvPr>
          <p:cNvSpPr txBox="1"/>
          <p:nvPr/>
        </p:nvSpPr>
        <p:spPr>
          <a:xfrm>
            <a:off x="6096000" y="4379297"/>
            <a:ext cx="5732835" cy="1200329"/>
          </a:xfrm>
          <a:prstGeom prst="rect">
            <a:avLst/>
          </a:prstGeom>
          <a:noFill/>
        </p:spPr>
        <p:txBody>
          <a:bodyPr wrap="square" rtlCol="0">
            <a:spAutoFit/>
          </a:bodyPr>
          <a:lstStyle/>
          <a:p>
            <a:r>
              <a:rPr lang="vi-VN" sz="3600" b="1" noProof="1">
                <a:effectLst/>
                <a:latin typeface="Cambria" panose="02040503050406030204" pitchFamily="18" charset="0"/>
                <a:ea typeface="Calibri" panose="020F0502020204030204" pitchFamily="34" charset="0"/>
                <a:cs typeface="Times New Roman" panose="02020603050405020304" pitchFamily="18" charset="0"/>
              </a:rPr>
              <a:t>… thầy tế-lễ của Đức Chúa Trời Chí-Cao</a:t>
            </a:r>
            <a:endParaRPr lang="en-VN" sz="3600" b="1" dirty="0"/>
          </a:p>
        </p:txBody>
      </p:sp>
    </p:spTree>
    <p:extLst>
      <p:ext uri="{BB962C8B-B14F-4D97-AF65-F5344CB8AC3E}">
        <p14:creationId xmlns:p14="http://schemas.microsoft.com/office/powerpoint/2010/main" val="151056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ssolve">
                                      <p:cBhvr>
                                        <p:cTn id="13" dur="500"/>
                                        <p:tgtEl>
                                          <p:spTgt spid="4"/>
                                        </p:tgtEl>
                                      </p:cBhvr>
                                    </p:animEffect>
                                  </p:childTnLst>
                                </p:cTn>
                              </p:par>
                              <p:par>
                                <p:cTn id="14" presetID="9" presetClass="entr" presetSubtype="0" fill="hold" nodeType="withEffect">
                                  <p:stCondLst>
                                    <p:cond delay="0"/>
                                  </p:stCondLst>
                                  <p:childTnLst>
                                    <p:set>
                                      <p:cBhvr>
                                        <p:cTn id="15" dur="1" fill="hold">
                                          <p:stCondLst>
                                            <p:cond delay="0"/>
                                          </p:stCondLst>
                                        </p:cTn>
                                        <p:tgtEl>
                                          <p:spTgt spid="5122"/>
                                        </p:tgtEl>
                                        <p:attrNameLst>
                                          <p:attrName>style.visibility</p:attrName>
                                        </p:attrNameLst>
                                      </p:cBhvr>
                                      <p:to>
                                        <p:strVal val="visible"/>
                                      </p:to>
                                    </p:set>
                                    <p:animEffect transition="in" filter="dissolve">
                                      <p:cBhvr>
                                        <p:cTn id="16"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2B471-316C-FB86-DA15-A83DC0C273C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E791F02-DA82-01C2-A2A3-2BE79FD98C64}"/>
              </a:ext>
            </a:extLst>
          </p:cNvPr>
          <p:cNvSpPr txBox="1"/>
          <p:nvPr/>
        </p:nvSpPr>
        <p:spPr>
          <a:xfrm>
            <a:off x="4312466" y="209572"/>
            <a:ext cx="7544027" cy="830997"/>
          </a:xfrm>
          <a:prstGeom prst="rect">
            <a:avLst/>
          </a:prstGeom>
          <a:noFill/>
        </p:spPr>
        <p:txBody>
          <a:bodyPr wrap="square">
            <a:spAutoFit/>
          </a:bodyPr>
          <a:lstStyle/>
          <a:p>
            <a:pPr algn="just"/>
            <a:r>
              <a:rPr lang="vi-VN" sz="4800" b="1" dirty="0">
                <a:latin typeface="Cambria" panose="02040503050406030204" pitchFamily="18" charset="0"/>
              </a:rPr>
              <a:t>Công việc của người Lê-vi</a:t>
            </a:r>
            <a:r>
              <a:rPr lang="vi-VN" sz="4800" dirty="0">
                <a:latin typeface="Cambria" panose="02040503050406030204" pitchFamily="18" charset="0"/>
              </a:rPr>
              <a:t>:</a:t>
            </a:r>
          </a:p>
        </p:txBody>
      </p:sp>
      <p:sp>
        <p:nvSpPr>
          <p:cNvPr id="5" name="TextBox 4">
            <a:extLst>
              <a:ext uri="{FF2B5EF4-FFF2-40B4-BE49-F238E27FC236}">
                <a16:creationId xmlns:a16="http://schemas.microsoft.com/office/drawing/2014/main" id="{38C69626-DE31-FCA9-3ED0-61A7C2CE1DBC}"/>
              </a:ext>
            </a:extLst>
          </p:cNvPr>
          <p:cNvSpPr txBox="1"/>
          <p:nvPr/>
        </p:nvSpPr>
        <p:spPr>
          <a:xfrm>
            <a:off x="4113348" y="1319138"/>
            <a:ext cx="7544026" cy="5183022"/>
          </a:xfrm>
          <a:prstGeom prst="rect">
            <a:avLst/>
          </a:prstGeom>
          <a:noFill/>
        </p:spPr>
        <p:txBody>
          <a:bodyPr wrap="square">
            <a:spAutoFit/>
          </a:bodyPr>
          <a:lstStyle/>
          <a:p>
            <a:pPr marL="457200" indent="-457200" algn="just">
              <a:lnSpc>
                <a:spcPct val="150000"/>
              </a:lnSpc>
              <a:buFont typeface="Arial" panose="020B0604020202020204" pitchFamily="34" charset="0"/>
              <a:buChar char="•"/>
            </a:pPr>
            <a:r>
              <a:rPr lang="vi-VN" sz="2800" dirty="0">
                <a:latin typeface="Cambria" panose="02040503050406030204" pitchFamily="18" charset="0"/>
              </a:rPr>
              <a:t>Phục vụ trong đền thờ</a:t>
            </a:r>
          </a:p>
          <a:p>
            <a:pPr marL="914400" lvl="1" indent="-457200" algn="just">
              <a:lnSpc>
                <a:spcPct val="150000"/>
              </a:lnSpc>
              <a:buFont typeface="Arial" panose="020B0604020202020204" pitchFamily="34" charset="0"/>
              <a:buChar char="•"/>
            </a:pPr>
            <a:r>
              <a:rPr lang="vi-VN" sz="2800" dirty="0">
                <a:latin typeface="Cambria" panose="02040503050406030204" pitchFamily="18" charset="0"/>
              </a:rPr>
              <a:t>Thờ phượng: ca hát, giữ cửa và chăm sóc vật dụng thánh</a:t>
            </a:r>
          </a:p>
          <a:p>
            <a:pPr marL="914400" lvl="1" indent="-457200" algn="just">
              <a:lnSpc>
                <a:spcPct val="150000"/>
              </a:lnSpc>
              <a:buFont typeface="Arial" panose="020B0604020202020204" pitchFamily="34" charset="0"/>
              <a:buChar char="•"/>
            </a:pPr>
            <a:r>
              <a:rPr lang="vi-VN" sz="2800" dirty="0">
                <a:latin typeface="Cambria" panose="02040503050406030204" pitchFamily="18" charset="0"/>
              </a:rPr>
              <a:t>Dâng của lễ và thực hiện nghi lễ</a:t>
            </a:r>
          </a:p>
          <a:p>
            <a:pPr marL="914400" lvl="1" indent="-457200" algn="just">
              <a:lnSpc>
                <a:spcPct val="150000"/>
              </a:lnSpc>
              <a:buFont typeface="Arial" panose="020B0604020202020204" pitchFamily="34" charset="0"/>
              <a:buChar char="•"/>
            </a:pPr>
            <a:r>
              <a:rPr lang="vi-VN" sz="2800" dirty="0">
                <a:latin typeface="Cambria" panose="02040503050406030204" pitchFamily="18" charset="0"/>
              </a:rPr>
              <a:t>Giúp dân sự đến với Đức Chúa Trời</a:t>
            </a:r>
          </a:p>
          <a:p>
            <a:pPr marL="457200" indent="-457200" algn="just">
              <a:lnSpc>
                <a:spcPct val="150000"/>
              </a:lnSpc>
              <a:buFont typeface="Arial" panose="020B0604020202020204" pitchFamily="34" charset="0"/>
              <a:buChar char="•"/>
            </a:pPr>
            <a:r>
              <a:rPr lang="vi-VN" sz="2800" dirty="0">
                <a:latin typeface="Cambria" panose="02040503050406030204" pitchFamily="18" charset="0"/>
              </a:rPr>
              <a:t>Dạy dỗ dân sự: Phục 33:10</a:t>
            </a:r>
          </a:p>
          <a:p>
            <a:pPr marL="457200" indent="-457200" algn="just">
              <a:lnSpc>
                <a:spcPct val="150000"/>
              </a:lnSpc>
              <a:buFont typeface="Arial" panose="020B0604020202020204" pitchFamily="34" charset="0"/>
              <a:buChar char="•"/>
            </a:pPr>
            <a:r>
              <a:rPr lang="vi-VN" sz="2800" dirty="0">
                <a:latin typeface="Cambria" panose="02040503050406030204" pitchFamily="18" charset="0"/>
              </a:rPr>
              <a:t>Đọc Lời Chúa cho dân sự: Nê-hê-mi 8:9-11:21</a:t>
            </a:r>
          </a:p>
          <a:p>
            <a:pPr algn="just">
              <a:lnSpc>
                <a:spcPct val="150000"/>
              </a:lnSpc>
            </a:pPr>
            <a:r>
              <a:rPr lang="vi-VN" sz="2800" dirty="0">
                <a:latin typeface="Cambria" panose="02040503050406030204" pitchFamily="18" charset="0"/>
              </a:rPr>
              <a:t>Trả lương bằng: phần 10 sản nghiệp của dân sự</a:t>
            </a:r>
          </a:p>
        </p:txBody>
      </p:sp>
      <p:pic>
        <p:nvPicPr>
          <p:cNvPr id="54276" name="Picture 4" descr="Tribe of Levi - Wikipedia">
            <a:extLst>
              <a:ext uri="{FF2B5EF4-FFF2-40B4-BE49-F238E27FC236}">
                <a16:creationId xmlns:a16="http://schemas.microsoft.com/office/drawing/2014/main" id="{0D9BA9C9-A1EB-6E56-07B3-67C0D5851D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738" y="762000"/>
            <a:ext cx="4143728" cy="533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8985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DA501-B0A4-0125-FBD5-02DE7C52B8C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3DCD9A0-E277-FB79-BB97-9E9E37DCF747}"/>
              </a:ext>
            </a:extLst>
          </p:cNvPr>
          <p:cNvSpPr txBox="1"/>
          <p:nvPr/>
        </p:nvSpPr>
        <p:spPr>
          <a:xfrm>
            <a:off x="2240604" y="648485"/>
            <a:ext cx="7710792" cy="923330"/>
          </a:xfrm>
          <a:prstGeom prst="rect">
            <a:avLst/>
          </a:prstGeom>
          <a:noFill/>
        </p:spPr>
        <p:txBody>
          <a:bodyPr wrap="square">
            <a:spAutoFit/>
          </a:bodyPr>
          <a:lstStyle/>
          <a:p>
            <a:r>
              <a:rPr lang="vi-VN" sz="5400" b="1" dirty="0">
                <a:latin typeface="Cambria" panose="02040503050406030204" pitchFamily="18" charset="0"/>
                <a:cs typeface="Times New Roman" panose="02020603050405020304" pitchFamily="18" charset="0"/>
              </a:rPr>
              <a:t>Dân số 18: 20-22 </a:t>
            </a:r>
            <a:endParaRPr lang="en-VN" sz="5400" dirty="0"/>
          </a:p>
        </p:txBody>
      </p:sp>
      <p:pic>
        <p:nvPicPr>
          <p:cNvPr id="5122" name="Picture 2" descr="Bible - Free cultures icons">
            <a:extLst>
              <a:ext uri="{FF2B5EF4-FFF2-40B4-BE49-F238E27FC236}">
                <a16:creationId xmlns:a16="http://schemas.microsoft.com/office/drawing/2014/main" id="{F5AE780B-1497-D608-2289-667EDC0F4D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165" y="249252"/>
            <a:ext cx="1721796" cy="172179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7045CA1-1EE0-81EC-38BA-CBA868B8858F}"/>
              </a:ext>
            </a:extLst>
          </p:cNvPr>
          <p:cNvSpPr txBox="1"/>
          <p:nvPr/>
        </p:nvSpPr>
        <p:spPr>
          <a:xfrm>
            <a:off x="363165" y="2161318"/>
            <a:ext cx="11465670" cy="3890360"/>
          </a:xfrm>
          <a:prstGeom prst="rect">
            <a:avLst/>
          </a:prstGeom>
          <a:noFill/>
        </p:spPr>
        <p:txBody>
          <a:bodyPr wrap="square" rtlCol="0">
            <a:spAutoFit/>
          </a:bodyPr>
          <a:lstStyle/>
          <a:p>
            <a:pPr algn="just">
              <a:lnSpc>
                <a:spcPct val="150000"/>
              </a:lnSpc>
            </a:pPr>
            <a:r>
              <a:rPr lang="vi-VN" sz="2800" noProof="1">
                <a:latin typeface="Cambria" panose="02040503050406030204" pitchFamily="18" charset="0"/>
                <a:ea typeface="Calibri" panose="020F0502020204030204" pitchFamily="34" charset="0"/>
                <a:cs typeface="Times New Roman" panose="02020603050405020304" pitchFamily="18" charset="0"/>
              </a:rPr>
              <a:t>“</a:t>
            </a:r>
            <a:r>
              <a:rPr lang="vi-VN" sz="2800" baseline="30000" noProof="1">
                <a:latin typeface="Cambria" panose="02040503050406030204" pitchFamily="18" charset="0"/>
                <a:ea typeface="Calibri" panose="020F0502020204030204" pitchFamily="34" charset="0"/>
                <a:cs typeface="Times New Roman" panose="02020603050405020304" pitchFamily="18" charset="0"/>
              </a:rPr>
              <a:t>20</a:t>
            </a:r>
            <a:r>
              <a:rPr lang="vi-VN" sz="2800" noProof="1">
                <a:latin typeface="Cambria" panose="02040503050406030204" pitchFamily="18" charset="0"/>
                <a:ea typeface="Calibri" panose="020F0502020204030204" pitchFamily="34" charset="0"/>
                <a:cs typeface="Times New Roman" panose="02020603050405020304" pitchFamily="18" charset="0"/>
              </a:rPr>
              <a:t>Đoạn, Đức Giê-hô-va phán cùng A-rôn rằng: Ngươi sẽ không có cơ-nghiệp trong xứ dân Y-sơ-ra-ên; và chẳng sẽ có phần cho ngươi giữa dân đó; </a:t>
            </a:r>
            <a:r>
              <a:rPr lang="vi-VN" sz="2800" noProof="1">
                <a:solidFill>
                  <a:srgbClr val="FF0000"/>
                </a:solidFill>
                <a:latin typeface="Cambria" panose="02040503050406030204" pitchFamily="18" charset="0"/>
                <a:ea typeface="Calibri" panose="020F0502020204030204" pitchFamily="34" charset="0"/>
                <a:cs typeface="Times New Roman" panose="02020603050405020304" pitchFamily="18" charset="0"/>
              </a:rPr>
              <a:t>ta là phần của ngươi, và là cơ-nghiệp của ngươi ở giữa dân Y-sơ-ra-ên</a:t>
            </a:r>
            <a:r>
              <a:rPr lang="vi-VN" sz="2800" noProof="1">
                <a:latin typeface="Cambria" panose="02040503050406030204" pitchFamily="18" charset="0"/>
                <a:ea typeface="Calibri" panose="020F0502020204030204" pitchFamily="34" charset="0"/>
                <a:cs typeface="Times New Roman" panose="02020603050405020304" pitchFamily="18" charset="0"/>
              </a:rPr>
              <a:t>. </a:t>
            </a:r>
            <a:r>
              <a:rPr lang="vi-VN" sz="2800" baseline="30000" noProof="1">
                <a:latin typeface="Cambria" panose="02040503050406030204" pitchFamily="18" charset="0"/>
                <a:ea typeface="Calibri" panose="020F0502020204030204" pitchFamily="34" charset="0"/>
                <a:cs typeface="Times New Roman" panose="02020603050405020304" pitchFamily="18" charset="0"/>
              </a:rPr>
              <a:t>21</a:t>
            </a:r>
            <a:r>
              <a:rPr lang="vi-VN" sz="2800" noProof="1">
                <a:latin typeface="Cambria" panose="02040503050406030204" pitchFamily="18" charset="0"/>
                <a:ea typeface="Calibri" panose="020F0502020204030204" pitchFamily="34" charset="0"/>
                <a:cs typeface="Times New Roman" panose="02020603050405020304" pitchFamily="18" charset="0"/>
              </a:rPr>
              <a:t>Còn về </a:t>
            </a:r>
            <a:r>
              <a:rPr lang="vi-VN" sz="2800" b="1" noProof="1">
                <a:latin typeface="Cambria" panose="02040503050406030204" pitchFamily="18" charset="0"/>
                <a:ea typeface="Calibri" panose="020F0502020204030204" pitchFamily="34" charset="0"/>
                <a:cs typeface="Times New Roman" panose="02020603050405020304" pitchFamily="18" charset="0"/>
              </a:rPr>
              <a:t>con-cháu Lê-vi</a:t>
            </a:r>
            <a:r>
              <a:rPr lang="vi-VN" sz="2800" noProof="1">
                <a:latin typeface="Cambria" panose="02040503050406030204" pitchFamily="18" charset="0"/>
                <a:ea typeface="Calibri" panose="020F0502020204030204" pitchFamily="34" charset="0"/>
                <a:cs typeface="Times New Roman" panose="02020603050405020304" pitchFamily="18" charset="0"/>
              </a:rPr>
              <a:t>, nầy ta đã ban cho làm cơ-nghiệp, </a:t>
            </a:r>
            <a:r>
              <a:rPr lang="vi-VN" sz="2800" noProof="1">
                <a:solidFill>
                  <a:srgbClr val="FF0000"/>
                </a:solidFill>
                <a:latin typeface="Cambria" panose="02040503050406030204" pitchFamily="18" charset="0"/>
                <a:ea typeface="Calibri" panose="020F0502020204030204" pitchFamily="34" charset="0"/>
                <a:cs typeface="Times New Roman" panose="02020603050405020304" pitchFamily="18" charset="0"/>
              </a:rPr>
              <a:t>mọi thuế một phần mười của Y-sơ-ra-ên làm lương về công-việc mình làm trong hội-mạc</a:t>
            </a:r>
            <a:r>
              <a:rPr lang="vi-VN" sz="2800" noProof="1">
                <a:latin typeface="Cambria" panose="02040503050406030204" pitchFamily="18" charset="0"/>
                <a:ea typeface="Calibri" panose="020F0502020204030204" pitchFamily="34" charset="0"/>
                <a:cs typeface="Times New Roman" panose="02020603050405020304" pitchFamily="18" charset="0"/>
              </a:rPr>
              <a:t>.  </a:t>
            </a:r>
            <a:r>
              <a:rPr lang="vi-VN" sz="2800" baseline="30000" noProof="1">
                <a:latin typeface="Cambria" panose="02040503050406030204" pitchFamily="18" charset="0"/>
                <a:ea typeface="Calibri" panose="020F0502020204030204" pitchFamily="34" charset="0"/>
                <a:cs typeface="Times New Roman" panose="02020603050405020304" pitchFamily="18" charset="0"/>
              </a:rPr>
              <a:t>22</a:t>
            </a:r>
            <a:r>
              <a:rPr lang="vi-VN" sz="2800" noProof="1">
                <a:latin typeface="Cambria" panose="02040503050406030204" pitchFamily="18" charset="0"/>
                <a:ea typeface="Calibri" panose="020F0502020204030204" pitchFamily="34" charset="0"/>
                <a:cs typeface="Times New Roman" panose="02020603050405020304" pitchFamily="18" charset="0"/>
              </a:rPr>
              <a:t>Dân Y-sơ-ra-ên chớ lại gần hội-mạc nữa, e phải mắc tội và chết chăng” </a:t>
            </a:r>
            <a:endParaRPr lang="vi-VN" sz="2800" noProof="1">
              <a:latin typeface="Cambria" panose="02040503050406030204" pitchFamily="18" charset="0"/>
            </a:endParaRPr>
          </a:p>
        </p:txBody>
      </p:sp>
    </p:spTree>
    <p:extLst>
      <p:ext uri="{BB962C8B-B14F-4D97-AF65-F5344CB8AC3E}">
        <p14:creationId xmlns:p14="http://schemas.microsoft.com/office/powerpoint/2010/main" val="3579320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nodeType="withEffect">
                                  <p:stCondLst>
                                    <p:cond delay="0"/>
                                  </p:stCondLst>
                                  <p:childTnLst>
                                    <p:set>
                                      <p:cBhvr>
                                        <p:cTn id="12" dur="1" fill="hold">
                                          <p:stCondLst>
                                            <p:cond delay="0"/>
                                          </p:stCondLst>
                                        </p:cTn>
                                        <p:tgtEl>
                                          <p:spTgt spid="5122"/>
                                        </p:tgtEl>
                                        <p:attrNameLst>
                                          <p:attrName>style.visibility</p:attrName>
                                        </p:attrNameLst>
                                      </p:cBhvr>
                                      <p:to>
                                        <p:strVal val="visible"/>
                                      </p:to>
                                    </p:set>
                                    <p:animEffect transition="in" filter="dissolve">
                                      <p:cBhvr>
                                        <p:cTn id="13"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D8C7F-32E7-1C4F-9DF8-D03B8AD81FF2}"/>
            </a:ext>
          </a:extLst>
        </p:cNvPr>
        <p:cNvGrpSpPr/>
        <p:nvPr/>
      </p:nvGrpSpPr>
      <p:grpSpPr>
        <a:xfrm>
          <a:off x="0" y="0"/>
          <a:ext cx="0" cy="0"/>
          <a:chOff x="0" y="0"/>
          <a:chExt cx="0" cy="0"/>
        </a:xfrm>
      </p:grpSpPr>
      <p:pic>
        <p:nvPicPr>
          <p:cNvPr id="12292" name="Picture 4" descr="Question Mark icons for free download | Freepik">
            <a:extLst>
              <a:ext uri="{FF2B5EF4-FFF2-40B4-BE49-F238E27FC236}">
                <a16:creationId xmlns:a16="http://schemas.microsoft.com/office/drawing/2014/main" id="{2B221960-001A-CDBD-5F22-439F9D583B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188" y="1611086"/>
            <a:ext cx="3635828" cy="363582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8DCC01E-7F79-7544-C3AF-C971E665FA02}"/>
              </a:ext>
            </a:extLst>
          </p:cNvPr>
          <p:cNvSpPr txBox="1"/>
          <p:nvPr/>
        </p:nvSpPr>
        <p:spPr>
          <a:xfrm>
            <a:off x="4651902" y="1611086"/>
            <a:ext cx="6884559" cy="3496791"/>
          </a:xfrm>
          <a:prstGeom prst="rect">
            <a:avLst/>
          </a:prstGeom>
          <a:noFill/>
        </p:spPr>
        <p:txBody>
          <a:bodyPr wrap="square" rtlCol="0">
            <a:spAutoFit/>
          </a:bodyPr>
          <a:lstStyle/>
          <a:p>
            <a:pPr lvl="0" algn="ctr">
              <a:lnSpc>
                <a:spcPct val="115000"/>
              </a:lnSpc>
            </a:pPr>
            <a:r>
              <a:rPr lang="en-US" sz="6600" b="1" kern="100" noProof="1">
                <a:latin typeface="Cambria" panose="02040503050406030204" pitchFamily="18" charset="0"/>
                <a:ea typeface="Calibri" panose="020F0502020204030204" pitchFamily="34" charset="0"/>
                <a:cs typeface="Times New Roman" panose="02020603050405020304" pitchFamily="18" charset="0"/>
              </a:rPr>
              <a:t>Tại sao nhận biết điều này lại quan trọng?</a:t>
            </a:r>
            <a:endParaRPr lang="en-US" sz="6600" b="1" kern="100" noProof="1">
              <a:effectLst/>
              <a:latin typeface="Cambria" panose="020405030504060302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40965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DE856-B027-BC47-3C6D-940CFDA60B17}"/>
            </a:ext>
          </a:extLst>
        </p:cNvPr>
        <p:cNvGrpSpPr/>
        <p:nvPr/>
      </p:nvGrpSpPr>
      <p:grpSpPr>
        <a:xfrm>
          <a:off x="0" y="0"/>
          <a:ext cx="0" cy="0"/>
          <a:chOff x="0" y="0"/>
          <a:chExt cx="0" cy="0"/>
        </a:xfrm>
      </p:grpSpPr>
      <p:pic>
        <p:nvPicPr>
          <p:cNvPr id="56322" name="Picture 2" descr="Worship Leaders Are Nothing Like the Levites">
            <a:extLst>
              <a:ext uri="{FF2B5EF4-FFF2-40B4-BE49-F238E27FC236}">
                <a16:creationId xmlns:a16="http://schemas.microsoft.com/office/drawing/2014/main" id="{886AF7FC-AC3D-73AD-B572-36B3E12EFA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864179"/>
            <a:ext cx="8077200" cy="461554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C754519-6688-53F7-82DA-B5097A4B36CD}"/>
              </a:ext>
            </a:extLst>
          </p:cNvPr>
          <p:cNvSpPr txBox="1"/>
          <p:nvPr/>
        </p:nvSpPr>
        <p:spPr>
          <a:xfrm>
            <a:off x="1066801" y="130629"/>
            <a:ext cx="10058398" cy="1446550"/>
          </a:xfrm>
          <a:prstGeom prst="rect">
            <a:avLst/>
          </a:prstGeom>
          <a:noFill/>
        </p:spPr>
        <p:txBody>
          <a:bodyPr wrap="square">
            <a:spAutoFit/>
          </a:bodyPr>
          <a:lstStyle/>
          <a:p>
            <a:pPr algn="ctr"/>
            <a:r>
              <a:rPr lang="vi-VN" sz="4400" dirty="0">
                <a:latin typeface="Cambria" panose="02040503050406030204" pitchFamily="18" charset="0"/>
              </a:rPr>
              <a:t>Khoản dâng phần 10 cần dùng để duy trì sự thờ phượng trong đền thờ</a:t>
            </a:r>
          </a:p>
        </p:txBody>
      </p:sp>
    </p:spTree>
    <p:extLst>
      <p:ext uri="{BB962C8B-B14F-4D97-AF65-F5344CB8AC3E}">
        <p14:creationId xmlns:p14="http://schemas.microsoft.com/office/powerpoint/2010/main" val="29688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1E97AC-3C1C-8209-986E-0CD30CD2FFA6}"/>
              </a:ext>
            </a:extLst>
          </p:cNvPr>
          <p:cNvSpPr txBox="1"/>
          <p:nvPr/>
        </p:nvSpPr>
        <p:spPr>
          <a:xfrm>
            <a:off x="590550" y="1859339"/>
            <a:ext cx="11010900" cy="1828129"/>
          </a:xfrm>
          <a:prstGeom prst="rect">
            <a:avLst/>
          </a:prstGeom>
          <a:noFill/>
        </p:spPr>
        <p:txBody>
          <a:bodyPr wrap="square">
            <a:spAutoFit/>
          </a:bodyPr>
          <a:lstStyle/>
          <a:p>
            <a:pPr algn="just">
              <a:lnSpc>
                <a:spcPct val="150000"/>
              </a:lnSpc>
              <a:spcAft>
                <a:spcPts val="800"/>
              </a:spcAft>
            </a:pPr>
            <a:r>
              <a:rPr lang="vi-VN" sz="2600" kern="100" dirty="0">
                <a:effectLst/>
                <a:latin typeface="Cambria" panose="02040503050406030204" pitchFamily="18" charset="0"/>
                <a:ea typeface="Calibri" panose="020F0502020204030204" pitchFamily="34" charset="0"/>
                <a:cs typeface="Times New Roman" panose="02020603050405020304" pitchFamily="18" charset="0"/>
              </a:rPr>
              <a:t>“Tôi cũng hay rằng người ta không có cấp các phần của người Lê-vi cho họ; vì vậy, </a:t>
            </a:r>
            <a:r>
              <a:rPr lang="vi-VN" sz="2600" kern="100" dirty="0">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những kẻ ca hát và người lê-vi hầu việc ai nấy đều đã trốn về đồng ruộng mình</a:t>
            </a:r>
            <a:r>
              <a:rPr lang="vi-VN" sz="2600" kern="100" dirty="0">
                <a:effectLst/>
                <a:latin typeface="Cambria" panose="02040503050406030204" pitchFamily="18" charset="0"/>
                <a:ea typeface="Calibri" panose="020F0502020204030204" pitchFamily="34" charset="0"/>
                <a:cs typeface="Times New Roman" panose="02020603050405020304" pitchFamily="18" charset="0"/>
              </a:rPr>
              <a:t>” - Nê-hê-mi 13:10 </a:t>
            </a:r>
            <a:endParaRPr lang="en-VN" sz="2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247C7A9C-4DAB-74FB-DA2B-E2B5FBCF291E}"/>
              </a:ext>
            </a:extLst>
          </p:cNvPr>
          <p:cNvSpPr txBox="1"/>
          <p:nvPr/>
        </p:nvSpPr>
        <p:spPr>
          <a:xfrm>
            <a:off x="1066801" y="130629"/>
            <a:ext cx="10058398" cy="1446550"/>
          </a:xfrm>
          <a:prstGeom prst="rect">
            <a:avLst/>
          </a:prstGeom>
          <a:noFill/>
        </p:spPr>
        <p:txBody>
          <a:bodyPr wrap="square">
            <a:spAutoFit/>
          </a:bodyPr>
          <a:lstStyle/>
          <a:p>
            <a:pPr algn="ctr"/>
            <a:r>
              <a:rPr lang="vi-VN" sz="4400" dirty="0">
                <a:latin typeface="Cambria" panose="02040503050406030204" pitchFamily="18" charset="0"/>
              </a:rPr>
              <a:t>Khoản dâng phần 10 cần dùng để duy trì sự thờ phượng trong đền thờ</a:t>
            </a:r>
          </a:p>
        </p:txBody>
      </p:sp>
      <p:sp>
        <p:nvSpPr>
          <p:cNvPr id="8" name="TextBox 7">
            <a:extLst>
              <a:ext uri="{FF2B5EF4-FFF2-40B4-BE49-F238E27FC236}">
                <a16:creationId xmlns:a16="http://schemas.microsoft.com/office/drawing/2014/main" id="{9AFC3298-6B9C-CCB3-3A8B-2845DB40D813}"/>
              </a:ext>
            </a:extLst>
          </p:cNvPr>
          <p:cNvSpPr txBox="1"/>
          <p:nvPr/>
        </p:nvSpPr>
        <p:spPr>
          <a:xfrm>
            <a:off x="590550" y="3969629"/>
            <a:ext cx="11010900" cy="2428293"/>
          </a:xfrm>
          <a:prstGeom prst="rect">
            <a:avLst/>
          </a:prstGeom>
          <a:noFill/>
        </p:spPr>
        <p:txBody>
          <a:bodyPr wrap="square">
            <a:spAutoFit/>
          </a:bodyPr>
          <a:lstStyle/>
          <a:p>
            <a:pPr algn="just">
              <a:lnSpc>
                <a:spcPct val="150000"/>
              </a:lnSpc>
              <a:spcAft>
                <a:spcPts val="800"/>
              </a:spcAft>
            </a:pPr>
            <a:r>
              <a:rPr lang="vi-VN" sz="2600" kern="100" dirty="0">
                <a:effectLst/>
                <a:latin typeface="Cambria" panose="02040503050406030204" pitchFamily="18" charset="0"/>
                <a:ea typeface="Calibri" panose="020F0502020204030204" pitchFamily="34" charset="0"/>
                <a:cs typeface="Times New Roman" panose="02020603050405020304" pitchFamily="18" charset="0"/>
              </a:rPr>
              <a:t>“Các ngươi hãy đem hết thảy phần mười vào kho, hầu cho có lương thực trong nhà ta; và từ nay các ngươi khá lấy điều nầy mà thử ta, Đức Giê-hô-va vạn quân phán, xem ta có mở các cửa sổ trên trời cho các ngươi, đổ phước xuống cho các ngươi đến nỗi không chỗ chứa chăng!” - Ma-la-chi 3:10 </a:t>
            </a:r>
            <a:endParaRPr lang="en-VN" sz="2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11139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3AEEE-789F-C678-A090-CDBB4551FED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D9D44D6-4C8B-4ACE-6298-7C37EE31CC81}"/>
              </a:ext>
            </a:extLst>
          </p:cNvPr>
          <p:cNvSpPr txBox="1"/>
          <p:nvPr/>
        </p:nvSpPr>
        <p:spPr>
          <a:xfrm>
            <a:off x="363161" y="370125"/>
            <a:ext cx="7360598" cy="1593962"/>
          </a:xfrm>
          <a:prstGeom prst="rect">
            <a:avLst/>
          </a:prstGeom>
          <a:noFill/>
        </p:spPr>
        <p:txBody>
          <a:bodyPr wrap="square">
            <a:spAutoFit/>
          </a:bodyPr>
          <a:lstStyle/>
          <a:p>
            <a:pPr>
              <a:lnSpc>
                <a:spcPct val="150000"/>
              </a:lnSpc>
            </a:pPr>
            <a:r>
              <a:rPr lang="en-VN" sz="3000" b="1" noProof="1">
                <a:latin typeface="Cambria" panose="02040503050406030204" pitchFamily="18" charset="0"/>
                <a:cs typeface="Times New Roman" panose="02020603050405020304" pitchFamily="18" charset="0"/>
              </a:rPr>
              <a:t>Nguyên tắc cho việc dâng hiến (lí do):</a:t>
            </a:r>
          </a:p>
          <a:p>
            <a:pPr algn="ctr">
              <a:lnSpc>
                <a:spcPct val="150000"/>
              </a:lnSpc>
            </a:pPr>
            <a:r>
              <a:rPr lang="en-VN" sz="4000" b="1" noProof="1">
                <a:solidFill>
                  <a:srgbClr val="00B050"/>
                </a:solidFill>
                <a:latin typeface="Cambria" panose="02040503050406030204" pitchFamily="18" charset="0"/>
                <a:cs typeface="Times New Roman" panose="02020603050405020304" pitchFamily="18" charset="0"/>
              </a:rPr>
              <a:t>Công việc Chúa cần đến </a:t>
            </a:r>
          </a:p>
        </p:txBody>
      </p:sp>
      <p:pic>
        <p:nvPicPr>
          <p:cNvPr id="11266" name="Picture 2" descr="Principle - Free security icons">
            <a:extLst>
              <a:ext uri="{FF2B5EF4-FFF2-40B4-BE49-F238E27FC236}">
                <a16:creationId xmlns:a16="http://schemas.microsoft.com/office/drawing/2014/main" id="{9186B89E-93A8-654E-590A-80F5D81191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9192" y="181994"/>
            <a:ext cx="2779642" cy="277964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936C51D-7337-EADF-EABB-168B9D53BE4C}"/>
              </a:ext>
            </a:extLst>
          </p:cNvPr>
          <p:cNvSpPr txBox="1"/>
          <p:nvPr/>
        </p:nvSpPr>
        <p:spPr>
          <a:xfrm>
            <a:off x="363161" y="2961636"/>
            <a:ext cx="11465673" cy="1685783"/>
          </a:xfrm>
          <a:prstGeom prst="rect">
            <a:avLst/>
          </a:prstGeom>
          <a:noFill/>
        </p:spPr>
        <p:txBody>
          <a:bodyPr wrap="square" rtlCol="0">
            <a:spAutoFit/>
          </a:bodyPr>
          <a:lstStyle/>
          <a:p>
            <a:pPr algn="just">
              <a:lnSpc>
                <a:spcPct val="150000"/>
              </a:lnSpc>
            </a:pPr>
            <a:r>
              <a:rPr lang="vi-VN" sz="2400" dirty="0">
                <a:effectLst/>
                <a:latin typeface="Cambria" panose="02040503050406030204" pitchFamily="18" charset="0"/>
                <a:ea typeface="Calibri" panose="020F0502020204030204" pitchFamily="34" charset="0"/>
                <a:cs typeface="Times New Roman" panose="02020603050405020304" pitchFamily="18" charset="0"/>
              </a:rPr>
              <a:t>“Tôi đã có đầy đủ và đang dư dật. Tôi đã nhận đầy đủ quà tặng của anh em từ Ép-pa-phô-đích như một lễ vật tỏa hương thơm, một sinh tế được Đức Chúa Trời vui nhận và đẹp lòng” – Phi-líp 4:18</a:t>
            </a:r>
            <a:endParaRPr lang="en-VN" sz="2400" dirty="0">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486E0270-5BF8-945B-42E1-B69669E25348}"/>
              </a:ext>
            </a:extLst>
          </p:cNvPr>
          <p:cNvSpPr txBox="1"/>
          <p:nvPr/>
        </p:nvSpPr>
        <p:spPr>
          <a:xfrm>
            <a:off x="363162" y="4907759"/>
            <a:ext cx="11465673" cy="1685783"/>
          </a:xfrm>
          <a:prstGeom prst="rect">
            <a:avLst/>
          </a:prstGeom>
          <a:noFill/>
        </p:spPr>
        <p:txBody>
          <a:bodyPr wrap="square" rtlCol="0">
            <a:spAutoFit/>
          </a:bodyPr>
          <a:lstStyle/>
          <a:p>
            <a:pPr algn="just">
              <a:lnSpc>
                <a:spcPct val="150000"/>
              </a:lnSpc>
            </a:pPr>
            <a:r>
              <a:rPr lang="vi-VN" sz="2400" dirty="0">
                <a:effectLst/>
                <a:latin typeface="Cambria" panose="02040503050406030204" pitchFamily="18" charset="0"/>
                <a:ea typeface="Calibri" panose="020F0502020204030204" pitchFamily="34" charset="0"/>
                <a:cs typeface="Times New Roman" panose="02020603050405020304" pitchFamily="18" charset="0"/>
              </a:rPr>
              <a:t>Dâng hiến là hành động của sự thờ phượng như một tế lễ dâng lên cho Đức Chúa Trời được sử dụng để chăm lo cho các đầy tớ của Chúa trong hành trình phục vụ Chúa trọn thời gian.</a:t>
            </a:r>
            <a:endParaRPr lang="en-VN" sz="2400" dirty="0">
              <a:effectLst/>
              <a:latin typeface="Cambria" panose="020405030504060302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667297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522176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A958C-E0F1-4F2E-F2BF-45D72D4BF439}"/>
            </a:ext>
          </a:extLst>
        </p:cNvPr>
        <p:cNvGrpSpPr/>
        <p:nvPr/>
      </p:nvGrpSpPr>
      <p:grpSpPr>
        <a:xfrm>
          <a:off x="0" y="0"/>
          <a:ext cx="0" cy="0"/>
          <a:chOff x="0" y="0"/>
          <a:chExt cx="0" cy="0"/>
        </a:xfrm>
      </p:grpSpPr>
      <p:pic>
        <p:nvPicPr>
          <p:cNvPr id="12292" name="Picture 4" descr="Question Mark icons for free download | Freepik">
            <a:extLst>
              <a:ext uri="{FF2B5EF4-FFF2-40B4-BE49-F238E27FC236}">
                <a16:creationId xmlns:a16="http://schemas.microsoft.com/office/drawing/2014/main" id="{F607AD3E-A567-6CBF-B11B-9260F2565C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657" y="151600"/>
            <a:ext cx="2730204" cy="273020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5105EEA-9519-796A-1E53-C949FC3BBA7A}"/>
              </a:ext>
            </a:extLst>
          </p:cNvPr>
          <p:cNvSpPr txBox="1"/>
          <p:nvPr/>
        </p:nvSpPr>
        <p:spPr>
          <a:xfrm>
            <a:off x="3770651" y="800186"/>
            <a:ext cx="7642572" cy="1583319"/>
          </a:xfrm>
          <a:prstGeom prst="rect">
            <a:avLst/>
          </a:prstGeom>
          <a:noFill/>
        </p:spPr>
        <p:txBody>
          <a:bodyPr wrap="square" rtlCol="0">
            <a:spAutoFit/>
          </a:bodyPr>
          <a:lstStyle/>
          <a:p>
            <a:pPr lvl="0" algn="just">
              <a:lnSpc>
                <a:spcPct val="115000"/>
              </a:lnSpc>
            </a:pPr>
            <a:r>
              <a:rPr lang="en-US" sz="4400" b="1" kern="100" noProof="1">
                <a:latin typeface="Cambria" panose="02040503050406030204" pitchFamily="18" charset="0"/>
                <a:ea typeface="Calibri" panose="020F0502020204030204" pitchFamily="34" charset="0"/>
                <a:cs typeface="Times New Roman" panose="02020603050405020304" pitchFamily="18" charset="0"/>
              </a:rPr>
              <a:t>Làm thế nào để chúng ta sử dụng tài chính hiệu quả?</a:t>
            </a:r>
            <a:endParaRPr lang="en-US" sz="4400" b="1" kern="100" noProof="1">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CF6608BE-A795-802C-876C-38D0C469C0BA}"/>
              </a:ext>
            </a:extLst>
          </p:cNvPr>
          <p:cNvSpPr txBox="1"/>
          <p:nvPr/>
        </p:nvSpPr>
        <p:spPr>
          <a:xfrm>
            <a:off x="1887166" y="2934962"/>
            <a:ext cx="8433492" cy="610360"/>
          </a:xfrm>
          <a:prstGeom prst="rect">
            <a:avLst/>
          </a:prstGeom>
          <a:noFill/>
        </p:spPr>
        <p:txBody>
          <a:bodyPr wrap="square" rtlCol="0">
            <a:spAutoFit/>
          </a:bodyPr>
          <a:lstStyle/>
          <a:p>
            <a:pPr lvl="0" algn="just">
              <a:lnSpc>
                <a:spcPct val="115000"/>
              </a:lnSpc>
            </a:pPr>
            <a:r>
              <a:rPr lang="en-US" sz="3200" kern="100" noProof="1">
                <a:latin typeface="Cambria" panose="02040503050406030204" pitchFamily="18" charset="0"/>
                <a:ea typeface="Calibri" panose="020F0502020204030204" pitchFamily="34" charset="0"/>
                <a:cs typeface="Times New Roman" panose="02020603050405020304" pitchFamily="18" charset="0"/>
              </a:rPr>
              <a:t>1. Nghĩ về nguyên tắc của cải.</a:t>
            </a:r>
          </a:p>
        </p:txBody>
      </p:sp>
      <p:sp>
        <p:nvSpPr>
          <p:cNvPr id="5" name="TextBox 4">
            <a:extLst>
              <a:ext uri="{FF2B5EF4-FFF2-40B4-BE49-F238E27FC236}">
                <a16:creationId xmlns:a16="http://schemas.microsoft.com/office/drawing/2014/main" id="{22E9C5CD-9027-CEFC-BDE2-8CC470D8D8F7}"/>
              </a:ext>
            </a:extLst>
          </p:cNvPr>
          <p:cNvSpPr txBox="1"/>
          <p:nvPr/>
        </p:nvSpPr>
        <p:spPr>
          <a:xfrm>
            <a:off x="1887166" y="3791599"/>
            <a:ext cx="8433492" cy="610360"/>
          </a:xfrm>
          <a:prstGeom prst="rect">
            <a:avLst/>
          </a:prstGeom>
          <a:noFill/>
        </p:spPr>
        <p:txBody>
          <a:bodyPr wrap="square" rtlCol="0">
            <a:spAutoFit/>
          </a:bodyPr>
          <a:lstStyle/>
          <a:p>
            <a:pPr lvl="0" algn="just">
              <a:lnSpc>
                <a:spcPct val="115000"/>
              </a:lnSpc>
            </a:pPr>
            <a:r>
              <a:rPr lang="en-US" sz="3200" kern="100" noProof="1">
                <a:latin typeface="Cambria" panose="02040503050406030204" pitchFamily="18" charset="0"/>
                <a:ea typeface="Calibri" panose="020F0502020204030204" pitchFamily="34" charset="0"/>
                <a:cs typeface="Times New Roman" panose="02020603050405020304" pitchFamily="18" charset="0"/>
              </a:rPr>
              <a:t>2. Lên kế hoạch.</a:t>
            </a:r>
          </a:p>
        </p:txBody>
      </p:sp>
      <p:sp>
        <p:nvSpPr>
          <p:cNvPr id="7" name="TextBox 6">
            <a:extLst>
              <a:ext uri="{FF2B5EF4-FFF2-40B4-BE49-F238E27FC236}">
                <a16:creationId xmlns:a16="http://schemas.microsoft.com/office/drawing/2014/main" id="{EFF280AE-6371-1192-9950-3E40925B100F}"/>
              </a:ext>
            </a:extLst>
          </p:cNvPr>
          <p:cNvSpPr txBox="1"/>
          <p:nvPr/>
        </p:nvSpPr>
        <p:spPr>
          <a:xfrm>
            <a:off x="1887166" y="4648236"/>
            <a:ext cx="8433492" cy="610360"/>
          </a:xfrm>
          <a:prstGeom prst="rect">
            <a:avLst/>
          </a:prstGeom>
          <a:noFill/>
        </p:spPr>
        <p:txBody>
          <a:bodyPr wrap="square" rtlCol="0">
            <a:spAutoFit/>
          </a:bodyPr>
          <a:lstStyle/>
          <a:p>
            <a:pPr lvl="0" algn="just">
              <a:lnSpc>
                <a:spcPct val="115000"/>
              </a:lnSpc>
            </a:pPr>
            <a:r>
              <a:rPr lang="en-US" sz="3200" kern="100" noProof="1">
                <a:latin typeface="Cambria" panose="02040503050406030204" pitchFamily="18" charset="0"/>
                <a:ea typeface="Calibri" panose="020F0502020204030204" pitchFamily="34" charset="0"/>
                <a:cs typeface="Times New Roman" panose="02020603050405020304" pitchFamily="18" charset="0"/>
              </a:rPr>
              <a:t>3. Xem xét kế hoạch chi tiêu.</a:t>
            </a:r>
          </a:p>
        </p:txBody>
      </p:sp>
      <p:sp>
        <p:nvSpPr>
          <p:cNvPr id="8" name="TextBox 7">
            <a:extLst>
              <a:ext uri="{FF2B5EF4-FFF2-40B4-BE49-F238E27FC236}">
                <a16:creationId xmlns:a16="http://schemas.microsoft.com/office/drawing/2014/main" id="{BD1EF02E-D6B0-382C-0089-B002D125CE1D}"/>
              </a:ext>
            </a:extLst>
          </p:cNvPr>
          <p:cNvSpPr txBox="1"/>
          <p:nvPr/>
        </p:nvSpPr>
        <p:spPr>
          <a:xfrm>
            <a:off x="1887166" y="5504873"/>
            <a:ext cx="8433492" cy="610360"/>
          </a:xfrm>
          <a:prstGeom prst="rect">
            <a:avLst/>
          </a:prstGeom>
          <a:noFill/>
        </p:spPr>
        <p:txBody>
          <a:bodyPr wrap="square" rtlCol="0">
            <a:spAutoFit/>
          </a:bodyPr>
          <a:lstStyle/>
          <a:p>
            <a:pPr lvl="0" algn="just">
              <a:lnSpc>
                <a:spcPct val="115000"/>
              </a:lnSpc>
            </a:pPr>
            <a:r>
              <a:rPr lang="en-US" sz="3200" kern="100" noProof="1">
                <a:latin typeface="Cambria" panose="02040503050406030204" pitchFamily="18" charset="0"/>
                <a:ea typeface="Calibri" panose="020F0502020204030204" pitchFamily="34" charset="0"/>
                <a:cs typeface="Times New Roman" panose="02020603050405020304" pitchFamily="18" charset="0"/>
              </a:rPr>
              <a:t>4. Tạo nguyên tắc cho chi tiêu của mình.</a:t>
            </a:r>
          </a:p>
        </p:txBody>
      </p:sp>
    </p:spTree>
    <p:extLst>
      <p:ext uri="{BB962C8B-B14F-4D97-AF65-F5344CB8AC3E}">
        <p14:creationId xmlns:p14="http://schemas.microsoft.com/office/powerpoint/2010/main" val="3344424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heckerboard(across)">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heckerboard(across)">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CBB62-10D3-ED32-C024-735F25BBD0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7037623-58D1-EC5D-2FDF-E7042D0F8CF9}"/>
              </a:ext>
            </a:extLst>
          </p:cNvPr>
          <p:cNvSpPr txBox="1"/>
          <p:nvPr/>
        </p:nvSpPr>
        <p:spPr>
          <a:xfrm>
            <a:off x="3770651" y="1189523"/>
            <a:ext cx="5262934" cy="804644"/>
          </a:xfrm>
          <a:prstGeom prst="rect">
            <a:avLst/>
          </a:prstGeom>
          <a:noFill/>
        </p:spPr>
        <p:txBody>
          <a:bodyPr wrap="square" rtlCol="0">
            <a:spAutoFit/>
          </a:bodyPr>
          <a:lstStyle/>
          <a:p>
            <a:pPr lvl="0" algn="just">
              <a:lnSpc>
                <a:spcPct val="115000"/>
              </a:lnSpc>
            </a:pPr>
            <a:r>
              <a:rPr lang="en-US" sz="4400" b="1" kern="100" noProof="1">
                <a:latin typeface="Cambria" panose="02040503050406030204" pitchFamily="18" charset="0"/>
                <a:ea typeface="Calibri" panose="020F0502020204030204" pitchFamily="34" charset="0"/>
                <a:cs typeface="Times New Roman" panose="02020603050405020304" pitchFamily="18" charset="0"/>
              </a:rPr>
              <a:t>Nguyên tắc của cải</a:t>
            </a:r>
            <a:endParaRPr lang="en-US" sz="4400" b="1" kern="100" noProof="1">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3B501CE1-DA58-5B20-395B-4FAF72B0F558}"/>
              </a:ext>
            </a:extLst>
          </p:cNvPr>
          <p:cNvSpPr txBox="1"/>
          <p:nvPr/>
        </p:nvSpPr>
        <p:spPr>
          <a:xfrm>
            <a:off x="565657" y="2881804"/>
            <a:ext cx="11060686" cy="1742978"/>
          </a:xfrm>
          <a:prstGeom prst="rect">
            <a:avLst/>
          </a:prstGeom>
          <a:noFill/>
        </p:spPr>
        <p:txBody>
          <a:bodyPr wrap="square" rtlCol="0">
            <a:spAutoFit/>
          </a:bodyPr>
          <a:lstStyle/>
          <a:p>
            <a:pPr lvl="0" algn="just">
              <a:lnSpc>
                <a:spcPct val="115000"/>
              </a:lnSpc>
            </a:pPr>
            <a:r>
              <a:rPr lang="en-US" sz="3200" b="1" kern="100" noProof="1">
                <a:latin typeface="Cambria" panose="02040503050406030204" pitchFamily="18" charset="0"/>
                <a:ea typeface="Calibri" panose="020F0502020204030204" pitchFamily="34" charset="0"/>
                <a:cs typeface="Times New Roman" panose="02020603050405020304" pitchFamily="18" charset="0"/>
              </a:rPr>
              <a:t>Quyền sở hữu</a:t>
            </a:r>
            <a:r>
              <a:rPr lang="en-US" sz="3200" kern="100" noProof="1">
                <a:latin typeface="Cambria" panose="02040503050406030204" pitchFamily="18" charset="0"/>
                <a:ea typeface="Calibri" panose="020F0502020204030204" pitchFamily="34" charset="0"/>
                <a:cs typeface="Times New Roman" panose="02020603050405020304" pitchFamily="18" charset="0"/>
              </a:rPr>
              <a:t>: Đức Chúa Trời là chủ</a:t>
            </a:r>
          </a:p>
          <a:p>
            <a:pPr lvl="1" algn="just">
              <a:lnSpc>
                <a:spcPct val="115000"/>
              </a:lnSpc>
            </a:pPr>
            <a:r>
              <a:rPr lang="en-US" sz="3200" kern="100" noProof="1">
                <a:latin typeface="Cambria" panose="02040503050406030204" pitchFamily="18" charset="0"/>
                <a:ea typeface="Calibri" panose="020F0502020204030204" pitchFamily="34" charset="0"/>
                <a:cs typeface="Times New Roman" panose="02020603050405020304" pitchFamily="18" charset="0"/>
              </a:rPr>
              <a:t>Chúng ta cần xác định và sử dụng những gì Chúa ban cho theo ý muốn của Ngài </a:t>
            </a:r>
          </a:p>
        </p:txBody>
      </p:sp>
      <p:sp>
        <p:nvSpPr>
          <p:cNvPr id="4" name="TextBox 3">
            <a:extLst>
              <a:ext uri="{FF2B5EF4-FFF2-40B4-BE49-F238E27FC236}">
                <a16:creationId xmlns:a16="http://schemas.microsoft.com/office/drawing/2014/main" id="{D2B42B85-9C3E-39EB-5E35-9F95BFCFF5C6}"/>
              </a:ext>
            </a:extLst>
          </p:cNvPr>
          <p:cNvSpPr txBox="1"/>
          <p:nvPr/>
        </p:nvSpPr>
        <p:spPr>
          <a:xfrm>
            <a:off x="565657" y="4774605"/>
            <a:ext cx="11060686" cy="1742978"/>
          </a:xfrm>
          <a:prstGeom prst="rect">
            <a:avLst/>
          </a:prstGeom>
          <a:noFill/>
        </p:spPr>
        <p:txBody>
          <a:bodyPr wrap="square" rtlCol="0">
            <a:spAutoFit/>
          </a:bodyPr>
          <a:lstStyle/>
          <a:p>
            <a:pPr lvl="0" algn="just">
              <a:lnSpc>
                <a:spcPct val="115000"/>
              </a:lnSpc>
            </a:pPr>
            <a:r>
              <a:rPr lang="en-US" sz="3200" b="1" kern="100" noProof="1">
                <a:latin typeface="Cambria" panose="02040503050406030204" pitchFamily="18" charset="0"/>
                <a:ea typeface="Calibri" panose="020F0502020204030204" pitchFamily="34" charset="0"/>
                <a:cs typeface="Times New Roman" panose="02020603050405020304" pitchFamily="18" charset="0"/>
              </a:rPr>
              <a:t>Sự rủa sả</a:t>
            </a:r>
            <a:r>
              <a:rPr lang="en-US" sz="3200" kern="100" noProof="1">
                <a:latin typeface="Cambria" panose="02040503050406030204" pitchFamily="18" charset="0"/>
                <a:ea typeface="Calibri" panose="020F0502020204030204" pitchFamily="34" charset="0"/>
                <a:cs typeface="Times New Roman" panose="02020603050405020304" pitchFamily="18" charset="0"/>
              </a:rPr>
              <a:t>: Có người phải làm lụm cực nhọc </a:t>
            </a:r>
          </a:p>
          <a:p>
            <a:pPr lvl="1" algn="just">
              <a:lnSpc>
                <a:spcPct val="115000"/>
              </a:lnSpc>
            </a:pPr>
            <a:r>
              <a:rPr lang="en-US" sz="3200" kern="100" noProof="1">
                <a:latin typeface="Cambria" panose="02040503050406030204" pitchFamily="18" charset="0"/>
                <a:ea typeface="Calibri" panose="020F0502020204030204" pitchFamily="34" charset="0"/>
                <a:cs typeface="Times New Roman" panose="02020603050405020304" pitchFamily="18" charset="0"/>
              </a:rPr>
              <a:t>Những gì chúng ta có được đều có giá trị của sự khó nhọc nên không nên dùng một cách hoang phí</a:t>
            </a:r>
          </a:p>
        </p:txBody>
      </p:sp>
      <p:pic>
        <p:nvPicPr>
          <p:cNvPr id="46082" name="Picture 2" descr="Purpose icons for free download | Freepik">
            <a:extLst>
              <a:ext uri="{FF2B5EF4-FFF2-40B4-BE49-F238E27FC236}">
                <a16:creationId xmlns:a16="http://schemas.microsoft.com/office/drawing/2014/main" id="{131BEF16-5272-6E5F-3722-0604508100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8777" y="402025"/>
            <a:ext cx="2379640" cy="2379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4569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1EDDE-0BB0-828E-1C92-A80C57BEFE4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94D2560-D0CF-E74D-534D-F8758F9981DC}"/>
              </a:ext>
            </a:extLst>
          </p:cNvPr>
          <p:cNvSpPr txBox="1"/>
          <p:nvPr/>
        </p:nvSpPr>
        <p:spPr>
          <a:xfrm>
            <a:off x="537882" y="5313238"/>
            <a:ext cx="11116234" cy="1131785"/>
          </a:xfrm>
          <a:prstGeom prst="rect">
            <a:avLst/>
          </a:prstGeom>
          <a:noFill/>
        </p:spPr>
        <p:txBody>
          <a:bodyPr wrap="square">
            <a:spAutoFit/>
          </a:bodyPr>
          <a:lstStyle/>
          <a:p>
            <a:pPr algn="just">
              <a:lnSpc>
                <a:spcPct val="150000"/>
              </a:lnSpc>
              <a:buNone/>
            </a:pPr>
            <a:r>
              <a:rPr lang="vi-VN" sz="2400" b="1" i="0" u="none" strike="noStrike" dirty="0">
                <a:solidFill>
                  <a:srgbClr val="121212"/>
                </a:solidFill>
                <a:effectLst/>
                <a:latin typeface="Cambria" panose="02040503050406030204" pitchFamily="18" charset="0"/>
              </a:rPr>
              <a:t>Tích trữ</a:t>
            </a:r>
            <a:r>
              <a:rPr lang="vi-VN" sz="2400" b="0" i="0" u="none" strike="noStrike" dirty="0">
                <a:solidFill>
                  <a:srgbClr val="121212"/>
                </a:solidFill>
                <a:effectLst/>
                <a:latin typeface="Cambria" panose="02040503050406030204" pitchFamily="18" charset="0"/>
              </a:rPr>
              <a:t>: “Báu vật và dầu còn lại trong nhà người khôn ngoan, nhưng kẻ ngu dại tiêu xài hết.” – Châm ngôn 21:20</a:t>
            </a:r>
          </a:p>
        </p:txBody>
      </p:sp>
      <p:sp>
        <p:nvSpPr>
          <p:cNvPr id="7" name="TextBox 6">
            <a:extLst>
              <a:ext uri="{FF2B5EF4-FFF2-40B4-BE49-F238E27FC236}">
                <a16:creationId xmlns:a16="http://schemas.microsoft.com/office/drawing/2014/main" id="{856DEDA8-5084-67FE-AD74-9E809932C4C2}"/>
              </a:ext>
            </a:extLst>
          </p:cNvPr>
          <p:cNvSpPr txBox="1"/>
          <p:nvPr/>
        </p:nvSpPr>
        <p:spPr>
          <a:xfrm>
            <a:off x="537882" y="1123069"/>
            <a:ext cx="11116234" cy="2239780"/>
          </a:xfrm>
          <a:prstGeom prst="rect">
            <a:avLst/>
          </a:prstGeom>
          <a:noFill/>
        </p:spPr>
        <p:txBody>
          <a:bodyPr wrap="square">
            <a:spAutoFit/>
          </a:bodyPr>
          <a:lstStyle/>
          <a:p>
            <a:pPr algn="l">
              <a:lnSpc>
                <a:spcPct val="150000"/>
              </a:lnSpc>
              <a:buNone/>
            </a:pPr>
            <a:r>
              <a:rPr lang="vi-VN" sz="2400" b="1" dirty="0">
                <a:solidFill>
                  <a:srgbClr val="121212"/>
                </a:solidFill>
                <a:latin typeface="Cambria" panose="02040503050406030204" pitchFamily="18" charset="0"/>
              </a:rPr>
              <a:t>Cá nhân</a:t>
            </a:r>
            <a:r>
              <a:rPr lang="vi-VN" sz="2400" b="0" i="0" u="none" strike="noStrike" dirty="0">
                <a:solidFill>
                  <a:srgbClr val="121212"/>
                </a:solidFill>
                <a:effectLst/>
                <a:latin typeface="Cambria" panose="02040503050406030204" pitchFamily="18" charset="0"/>
              </a:rPr>
              <a:t>: </a:t>
            </a:r>
          </a:p>
          <a:p>
            <a:pPr algn="just">
              <a:lnSpc>
                <a:spcPct val="150000"/>
              </a:lnSpc>
              <a:buNone/>
            </a:pPr>
            <a:r>
              <a:rPr lang="vi-VN" sz="2400" b="0" i="0" u="none" strike="noStrike" dirty="0">
                <a:solidFill>
                  <a:srgbClr val="121212"/>
                </a:solidFill>
                <a:effectLst/>
                <a:latin typeface="Cambria" panose="02040503050406030204" pitchFamily="18" charset="0"/>
              </a:rPr>
              <a:t>“như thế, tất cả những ai được Đức Chúa Trời ban cho sự giàu có, của cải, cũng như cho quyền sử dụng của cải ấy sẽ nhận lấy phần mình, và vui hưởng công lao mình làm ra. Đó chính là món quà Đức Chúa Trời ban tặng.” - Truyền đạo 5:19</a:t>
            </a:r>
          </a:p>
        </p:txBody>
      </p:sp>
      <p:sp>
        <p:nvSpPr>
          <p:cNvPr id="3" name="TextBox 2">
            <a:extLst>
              <a:ext uri="{FF2B5EF4-FFF2-40B4-BE49-F238E27FC236}">
                <a16:creationId xmlns:a16="http://schemas.microsoft.com/office/drawing/2014/main" id="{B9009D83-EC43-6DF5-E064-A7AC305F0706}"/>
              </a:ext>
            </a:extLst>
          </p:cNvPr>
          <p:cNvSpPr txBox="1"/>
          <p:nvPr/>
        </p:nvSpPr>
        <p:spPr>
          <a:xfrm>
            <a:off x="537882" y="181482"/>
            <a:ext cx="11116233" cy="804644"/>
          </a:xfrm>
          <a:prstGeom prst="rect">
            <a:avLst/>
          </a:prstGeom>
          <a:noFill/>
        </p:spPr>
        <p:txBody>
          <a:bodyPr wrap="square" rtlCol="0">
            <a:spAutoFit/>
          </a:bodyPr>
          <a:lstStyle/>
          <a:p>
            <a:pPr lvl="0" algn="just">
              <a:lnSpc>
                <a:spcPct val="115000"/>
              </a:lnSpc>
            </a:pPr>
            <a:r>
              <a:rPr lang="en-US" sz="4400" b="1" kern="100" noProof="1">
                <a:latin typeface="Cambria" panose="02040503050406030204" pitchFamily="18" charset="0"/>
                <a:ea typeface="Calibri" panose="020F0502020204030204" pitchFamily="34" charset="0"/>
                <a:cs typeface="Times New Roman" panose="02020603050405020304" pitchFamily="18" charset="0"/>
              </a:rPr>
              <a:t>Chúa muốn chúng ta sử dụng như thế nào?</a:t>
            </a:r>
            <a:endParaRPr lang="en-US" sz="4400" b="1" kern="100" noProof="1">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D92C5CC-1F7C-C986-9CF2-D39FBE6E90ED}"/>
              </a:ext>
            </a:extLst>
          </p:cNvPr>
          <p:cNvSpPr txBox="1"/>
          <p:nvPr/>
        </p:nvSpPr>
        <p:spPr>
          <a:xfrm>
            <a:off x="537882" y="3495152"/>
            <a:ext cx="11116234" cy="1685783"/>
          </a:xfrm>
          <a:prstGeom prst="rect">
            <a:avLst/>
          </a:prstGeom>
          <a:noFill/>
        </p:spPr>
        <p:txBody>
          <a:bodyPr wrap="square">
            <a:spAutoFit/>
          </a:bodyPr>
          <a:lstStyle/>
          <a:p>
            <a:pPr algn="l">
              <a:lnSpc>
                <a:spcPct val="150000"/>
              </a:lnSpc>
              <a:buNone/>
            </a:pPr>
            <a:r>
              <a:rPr lang="vi-VN" sz="2400" b="1" i="0" u="none" strike="noStrike" dirty="0">
                <a:solidFill>
                  <a:srgbClr val="121212"/>
                </a:solidFill>
                <a:effectLst/>
                <a:latin typeface="Cambria" panose="02040503050406030204" pitchFamily="18" charset="0"/>
              </a:rPr>
              <a:t>Dâng hiến</a:t>
            </a:r>
            <a:r>
              <a:rPr lang="vi-VN" sz="2400" b="0" i="0" u="none" strike="noStrike" dirty="0">
                <a:solidFill>
                  <a:srgbClr val="121212"/>
                </a:solidFill>
                <a:effectLst/>
                <a:latin typeface="Cambria" panose="02040503050406030204" pitchFamily="18" charset="0"/>
              </a:rPr>
              <a:t>:</a:t>
            </a:r>
          </a:p>
          <a:p>
            <a:pPr algn="just">
              <a:lnSpc>
                <a:spcPct val="150000"/>
              </a:lnSpc>
              <a:buNone/>
            </a:pPr>
            <a:r>
              <a:rPr lang="vi-VN" sz="2400" b="0" i="0" u="none" strike="noStrike" dirty="0">
                <a:solidFill>
                  <a:srgbClr val="121212"/>
                </a:solidFill>
                <a:effectLst/>
                <a:latin typeface="Cambria" panose="02040503050406030204" pitchFamily="18" charset="0"/>
              </a:rPr>
              <a:t>“Các ngươi hãy đem hết thảy phần mười vào kho, hầu cho có lương thực trong nhà ta; …” - Ma-la-chi 3:10</a:t>
            </a:r>
          </a:p>
        </p:txBody>
      </p:sp>
    </p:spTree>
    <p:extLst>
      <p:ext uri="{BB962C8B-B14F-4D97-AF65-F5344CB8AC3E}">
        <p14:creationId xmlns:p14="http://schemas.microsoft.com/office/powerpoint/2010/main" val="38599499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B3DA256-AA89-4C7A-BED8-9EA584753CE6}"/>
              </a:ext>
            </a:extLst>
          </p:cNvPr>
          <p:cNvSpPr txBox="1"/>
          <p:nvPr/>
        </p:nvSpPr>
        <p:spPr>
          <a:xfrm>
            <a:off x="537882" y="990385"/>
            <a:ext cx="11116234" cy="1685783"/>
          </a:xfrm>
          <a:prstGeom prst="rect">
            <a:avLst/>
          </a:prstGeom>
          <a:noFill/>
        </p:spPr>
        <p:txBody>
          <a:bodyPr wrap="square">
            <a:spAutoFit/>
          </a:bodyPr>
          <a:lstStyle/>
          <a:p>
            <a:pPr algn="just">
              <a:lnSpc>
                <a:spcPct val="150000"/>
              </a:lnSpc>
            </a:pPr>
            <a:r>
              <a:rPr lang="vi-VN" sz="2400" b="1" dirty="0">
                <a:latin typeface="Cambria" panose="02040503050406030204" pitchFamily="18" charset="0"/>
              </a:rPr>
              <a:t>Gia-đình</a:t>
            </a:r>
            <a:r>
              <a:rPr lang="vi-VN" sz="2400" dirty="0">
                <a:latin typeface="Cambria" panose="02040503050406030204" pitchFamily="18" charset="0"/>
              </a:rPr>
              <a:t>:</a:t>
            </a:r>
          </a:p>
          <a:p>
            <a:pPr algn="just">
              <a:lnSpc>
                <a:spcPct val="150000"/>
              </a:lnSpc>
            </a:pPr>
            <a:r>
              <a:rPr lang="vi-VN" sz="2400" dirty="0">
                <a:latin typeface="Cambria" panose="02040503050406030204" pitchFamily="18" charset="0"/>
              </a:rPr>
              <a:t>“Nếu ai không cấp dưỡng cho bà con mình, nhất là cho chính gia đình mình thì người ấy đã chối bỏ đức tin, còn tệ hơn người không tin nữa.” – 1 Ti-mô-thê 5:8</a:t>
            </a:r>
            <a:endParaRPr lang="en-VN" sz="2400" dirty="0">
              <a:latin typeface="Cambria" panose="02040503050406030204" pitchFamily="18" charset="0"/>
            </a:endParaRPr>
          </a:p>
        </p:txBody>
      </p:sp>
      <p:sp>
        <p:nvSpPr>
          <p:cNvPr id="8" name="TextBox 7">
            <a:extLst>
              <a:ext uri="{FF2B5EF4-FFF2-40B4-BE49-F238E27FC236}">
                <a16:creationId xmlns:a16="http://schemas.microsoft.com/office/drawing/2014/main" id="{0420E03D-93F9-D3BA-C1AF-3942F3D8EA3E}"/>
              </a:ext>
            </a:extLst>
          </p:cNvPr>
          <p:cNvSpPr txBox="1"/>
          <p:nvPr/>
        </p:nvSpPr>
        <p:spPr>
          <a:xfrm>
            <a:off x="537882" y="2774744"/>
            <a:ext cx="11259671" cy="3901774"/>
          </a:xfrm>
          <a:prstGeom prst="rect">
            <a:avLst/>
          </a:prstGeom>
          <a:noFill/>
        </p:spPr>
        <p:txBody>
          <a:bodyPr wrap="square" rtlCol="0">
            <a:spAutoFit/>
          </a:bodyPr>
          <a:lstStyle/>
          <a:p>
            <a:pPr algn="just">
              <a:lnSpc>
                <a:spcPct val="150000"/>
              </a:lnSpc>
            </a:pPr>
            <a:r>
              <a:rPr lang="vi-VN" sz="2400" b="1" dirty="0">
                <a:latin typeface="Cambria" panose="02040503050406030204" pitchFamily="18" charset="0"/>
              </a:rPr>
              <a:t>Giúp đỡ và chia sẻ | làm việc lành</a:t>
            </a:r>
            <a:r>
              <a:rPr lang="vi-VN" sz="2400" dirty="0">
                <a:latin typeface="Cambria" panose="02040503050406030204" pitchFamily="18" charset="0"/>
              </a:rPr>
              <a:t>: </a:t>
            </a:r>
          </a:p>
          <a:p>
            <a:pPr algn="just">
              <a:lnSpc>
                <a:spcPct val="150000"/>
              </a:lnSpc>
            </a:pPr>
            <a:r>
              <a:rPr lang="vi-VN" sz="2400" dirty="0">
                <a:latin typeface="Cambria" panose="02040503050406030204" pitchFamily="18" charset="0"/>
              </a:rPr>
              <a:t>“</a:t>
            </a:r>
            <a:r>
              <a:rPr lang="vi-VN" sz="2400" baseline="30000" dirty="0">
                <a:latin typeface="Cambria" panose="02040503050406030204" pitchFamily="18" charset="0"/>
              </a:rPr>
              <a:t>17</a:t>
            </a:r>
            <a:r>
              <a:rPr lang="vi-VN" sz="2400" dirty="0">
                <a:latin typeface="Cambria" panose="02040503050406030204" pitchFamily="18" charset="0"/>
              </a:rPr>
              <a:t>Hãy răn-bảo kẻ giàu ở thế-gian nầy đừng kiêu-ngạo và đừng để lòng trông-cậy nơi của-cải không chắc-chắn, nhưng hãy để lòng trông-cậy nơi Đức Chúa Trời, là Đấng mỗi ngày ban mọi vật dư-dật cho chúng ta được hưởng. </a:t>
            </a:r>
            <a:r>
              <a:rPr lang="vi-VN" sz="2400" baseline="30000" dirty="0">
                <a:latin typeface="Cambria" panose="02040503050406030204" pitchFamily="18" charset="0"/>
              </a:rPr>
              <a:t>18</a:t>
            </a:r>
            <a:r>
              <a:rPr lang="vi-VN" sz="2400" b="1" dirty="0">
                <a:latin typeface="Cambria" panose="02040503050406030204" pitchFamily="18" charset="0"/>
              </a:rPr>
              <a:t>Hãy răn-bảo</a:t>
            </a:r>
            <a:r>
              <a:rPr lang="vi-VN" sz="2400" dirty="0">
                <a:latin typeface="Cambria" panose="02040503050406030204" pitchFamily="18" charset="0"/>
              </a:rPr>
              <a:t> họ </a:t>
            </a:r>
            <a:r>
              <a:rPr lang="vi-VN" sz="2400" dirty="0">
                <a:solidFill>
                  <a:srgbClr val="FF0000"/>
                </a:solidFill>
                <a:latin typeface="Cambria" panose="02040503050406030204" pitchFamily="18" charset="0"/>
              </a:rPr>
              <a:t>làm điều lành</a:t>
            </a:r>
            <a:r>
              <a:rPr lang="vi-VN" sz="2400" dirty="0">
                <a:latin typeface="Cambria" panose="02040503050406030204" pitchFamily="18" charset="0"/>
              </a:rPr>
              <a:t>, làm nhiều </a:t>
            </a:r>
            <a:r>
              <a:rPr lang="vi-VN" sz="2400" dirty="0">
                <a:solidFill>
                  <a:srgbClr val="FF0000"/>
                </a:solidFill>
                <a:latin typeface="Cambria" panose="02040503050406030204" pitchFamily="18" charset="0"/>
              </a:rPr>
              <a:t>việc phước-đức</a:t>
            </a:r>
            <a:r>
              <a:rPr lang="vi-VN" sz="2400" dirty="0">
                <a:latin typeface="Cambria" panose="02040503050406030204" pitchFamily="18" charset="0"/>
              </a:rPr>
              <a:t>, kíp </a:t>
            </a:r>
            <a:r>
              <a:rPr lang="vi-VN" sz="2400" dirty="0">
                <a:solidFill>
                  <a:srgbClr val="FF0000"/>
                </a:solidFill>
                <a:latin typeface="Cambria" panose="02040503050406030204" pitchFamily="18" charset="0"/>
              </a:rPr>
              <a:t>ban-phát và phân-chia của mình có</a:t>
            </a:r>
            <a:r>
              <a:rPr lang="vi-VN" sz="2400" dirty="0">
                <a:latin typeface="Cambria" panose="02040503050406030204" pitchFamily="18" charset="0"/>
              </a:rPr>
              <a:t>, </a:t>
            </a:r>
            <a:r>
              <a:rPr lang="vi-VN" sz="2400" baseline="30000" dirty="0">
                <a:latin typeface="Cambria" panose="02040503050406030204" pitchFamily="18" charset="0"/>
              </a:rPr>
              <a:t>19</a:t>
            </a:r>
            <a:r>
              <a:rPr lang="vi-VN" sz="2400" dirty="0">
                <a:latin typeface="Cambria" panose="02040503050406030204" pitchFamily="18" charset="0"/>
              </a:rPr>
              <a:t>vậy thì dồn-chứa về ngày sau một cái nền tốt và bền-vững cho mình, để được cầm lấy sự sống thật.” - 1 Ti-mô-thê 6:17-19</a:t>
            </a:r>
          </a:p>
        </p:txBody>
      </p:sp>
      <p:sp>
        <p:nvSpPr>
          <p:cNvPr id="9" name="TextBox 8">
            <a:extLst>
              <a:ext uri="{FF2B5EF4-FFF2-40B4-BE49-F238E27FC236}">
                <a16:creationId xmlns:a16="http://schemas.microsoft.com/office/drawing/2014/main" id="{FB9F408B-C467-8442-ACC6-4B6CC3F06E44}"/>
              </a:ext>
            </a:extLst>
          </p:cNvPr>
          <p:cNvSpPr txBox="1"/>
          <p:nvPr/>
        </p:nvSpPr>
        <p:spPr>
          <a:xfrm>
            <a:off x="537882" y="181482"/>
            <a:ext cx="11116233" cy="804644"/>
          </a:xfrm>
          <a:prstGeom prst="rect">
            <a:avLst/>
          </a:prstGeom>
          <a:noFill/>
        </p:spPr>
        <p:txBody>
          <a:bodyPr wrap="square" rtlCol="0">
            <a:spAutoFit/>
          </a:bodyPr>
          <a:lstStyle/>
          <a:p>
            <a:pPr lvl="0" algn="just">
              <a:lnSpc>
                <a:spcPct val="115000"/>
              </a:lnSpc>
            </a:pPr>
            <a:r>
              <a:rPr lang="en-US" sz="4400" b="1" kern="100" noProof="1">
                <a:latin typeface="Cambria" panose="02040503050406030204" pitchFamily="18" charset="0"/>
                <a:ea typeface="Calibri" panose="020F0502020204030204" pitchFamily="34" charset="0"/>
                <a:cs typeface="Times New Roman" panose="02020603050405020304" pitchFamily="18" charset="0"/>
              </a:rPr>
              <a:t>Chúa muốn chúng ta sử dụng như thế nào?</a:t>
            </a:r>
            <a:endParaRPr lang="en-US" sz="4400" b="1" kern="100" noProof="1">
              <a:effectLst/>
              <a:latin typeface="Cambria" panose="020405030504060302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735324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010D62-5A7C-5AE8-361C-B29A92D748E9}"/>
              </a:ext>
            </a:extLst>
          </p:cNvPr>
          <p:cNvSpPr txBox="1"/>
          <p:nvPr/>
        </p:nvSpPr>
        <p:spPr>
          <a:xfrm>
            <a:off x="3770651" y="800186"/>
            <a:ext cx="7962966" cy="804644"/>
          </a:xfrm>
          <a:prstGeom prst="rect">
            <a:avLst/>
          </a:prstGeom>
          <a:noFill/>
        </p:spPr>
        <p:txBody>
          <a:bodyPr wrap="square" rtlCol="0">
            <a:spAutoFit/>
          </a:bodyPr>
          <a:lstStyle/>
          <a:p>
            <a:pPr lvl="0" algn="just">
              <a:lnSpc>
                <a:spcPct val="115000"/>
              </a:lnSpc>
            </a:pPr>
            <a:r>
              <a:rPr lang="en-US" sz="4400" b="1" kern="100" noProof="1">
                <a:latin typeface="Cambria" panose="02040503050406030204" pitchFamily="18" charset="0"/>
                <a:ea typeface="Calibri" panose="020F0502020204030204" pitchFamily="34" charset="0"/>
                <a:cs typeface="Times New Roman" panose="02020603050405020304" pitchFamily="18" charset="0"/>
              </a:rPr>
              <a:t>Kế hoạch sử dụng tài chính</a:t>
            </a:r>
            <a:endParaRPr lang="en-US" sz="4400" b="1" kern="100" noProof="1">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33796" name="Picture 4" descr="Spending icons for free download | Freepik">
            <a:extLst>
              <a:ext uri="{FF2B5EF4-FFF2-40B4-BE49-F238E27FC236}">
                <a16:creationId xmlns:a16="http://schemas.microsoft.com/office/drawing/2014/main" id="{0FA9AA61-AEE6-0EF5-2CDB-F3D83E8550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383" y="483680"/>
            <a:ext cx="2945320" cy="294532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941F030-3752-0D71-C23F-585FED32F3AD}"/>
              </a:ext>
            </a:extLst>
          </p:cNvPr>
          <p:cNvSpPr/>
          <p:nvPr/>
        </p:nvSpPr>
        <p:spPr>
          <a:xfrm>
            <a:off x="3893166" y="2232847"/>
            <a:ext cx="4775095" cy="80464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VN" sz="3600" dirty="0">
                <a:latin typeface="Cambria" panose="02040503050406030204" pitchFamily="18" charset="0"/>
              </a:rPr>
              <a:t>3.000.000đ </a:t>
            </a:r>
          </a:p>
        </p:txBody>
      </p:sp>
      <p:sp>
        <p:nvSpPr>
          <p:cNvPr id="7" name="Rectangle 6">
            <a:extLst>
              <a:ext uri="{FF2B5EF4-FFF2-40B4-BE49-F238E27FC236}">
                <a16:creationId xmlns:a16="http://schemas.microsoft.com/office/drawing/2014/main" id="{4E968C3C-A293-DA53-1E28-56B3DFF1DDC9}"/>
              </a:ext>
            </a:extLst>
          </p:cNvPr>
          <p:cNvSpPr/>
          <p:nvPr/>
        </p:nvSpPr>
        <p:spPr>
          <a:xfrm>
            <a:off x="3893166" y="3640973"/>
            <a:ext cx="4755640" cy="80464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VN" sz="3600" dirty="0">
                <a:latin typeface="Cambria" panose="02040503050406030204" pitchFamily="18" charset="0"/>
              </a:rPr>
              <a:t>7.000.000đ </a:t>
            </a:r>
          </a:p>
        </p:txBody>
      </p:sp>
      <p:sp>
        <p:nvSpPr>
          <p:cNvPr id="8" name="Rectangle 7">
            <a:extLst>
              <a:ext uri="{FF2B5EF4-FFF2-40B4-BE49-F238E27FC236}">
                <a16:creationId xmlns:a16="http://schemas.microsoft.com/office/drawing/2014/main" id="{3D23E696-6A5F-4906-DD79-FA6C81DD7574}"/>
              </a:ext>
            </a:extLst>
          </p:cNvPr>
          <p:cNvSpPr/>
          <p:nvPr/>
        </p:nvSpPr>
        <p:spPr>
          <a:xfrm>
            <a:off x="3893165" y="5073635"/>
            <a:ext cx="4755641" cy="80464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VN" sz="3600" dirty="0">
                <a:latin typeface="Cambria" panose="02040503050406030204" pitchFamily="18" charset="0"/>
              </a:rPr>
              <a:t>15.000.000đ </a:t>
            </a:r>
          </a:p>
        </p:txBody>
      </p:sp>
      <p:sp>
        <p:nvSpPr>
          <p:cNvPr id="9" name="TextBox 8">
            <a:extLst>
              <a:ext uri="{FF2B5EF4-FFF2-40B4-BE49-F238E27FC236}">
                <a16:creationId xmlns:a16="http://schemas.microsoft.com/office/drawing/2014/main" id="{2D2D2A9E-F661-760E-EA1A-ED4FC0192605}"/>
              </a:ext>
            </a:extLst>
          </p:cNvPr>
          <p:cNvSpPr txBox="1"/>
          <p:nvPr/>
        </p:nvSpPr>
        <p:spPr>
          <a:xfrm>
            <a:off x="1106137" y="3720130"/>
            <a:ext cx="1649811" cy="646331"/>
          </a:xfrm>
          <a:prstGeom prst="rect">
            <a:avLst/>
          </a:prstGeom>
          <a:noFill/>
        </p:spPr>
        <p:txBody>
          <a:bodyPr wrap="none" rtlCol="0">
            <a:spAutoFit/>
          </a:bodyPr>
          <a:lstStyle/>
          <a:p>
            <a:r>
              <a:rPr lang="en-VN" sz="3600" dirty="0">
                <a:latin typeface="Cambria" panose="02040503050406030204" pitchFamily="18" charset="0"/>
              </a:rPr>
              <a:t>Income</a:t>
            </a:r>
            <a:endParaRPr lang="en-VN" sz="3600" dirty="0"/>
          </a:p>
        </p:txBody>
      </p:sp>
      <p:cxnSp>
        <p:nvCxnSpPr>
          <p:cNvPr id="11" name="Straight Arrow Connector 10">
            <a:extLst>
              <a:ext uri="{FF2B5EF4-FFF2-40B4-BE49-F238E27FC236}">
                <a16:creationId xmlns:a16="http://schemas.microsoft.com/office/drawing/2014/main" id="{C3AE6164-E4F0-58A4-066E-9E4B4A7DFF54}"/>
              </a:ext>
            </a:extLst>
          </p:cNvPr>
          <p:cNvCxnSpPr>
            <a:stCxn id="9" idx="3"/>
            <a:endCxn id="6" idx="1"/>
          </p:cNvCxnSpPr>
          <p:nvPr/>
        </p:nvCxnSpPr>
        <p:spPr>
          <a:xfrm flipV="1">
            <a:off x="2755948" y="2635169"/>
            <a:ext cx="1137218" cy="14081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401BA5B-29C5-35F1-92D7-C86D6537B3C3}"/>
              </a:ext>
            </a:extLst>
          </p:cNvPr>
          <p:cNvCxnSpPr>
            <a:cxnSpLocks/>
            <a:stCxn id="9" idx="3"/>
            <a:endCxn id="7" idx="1"/>
          </p:cNvCxnSpPr>
          <p:nvPr/>
        </p:nvCxnSpPr>
        <p:spPr>
          <a:xfrm flipV="1">
            <a:off x="2755948" y="4043295"/>
            <a:ext cx="113721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958BCC3D-5D0E-48DC-7D74-3A48ED96519A}"/>
              </a:ext>
            </a:extLst>
          </p:cNvPr>
          <p:cNvCxnSpPr>
            <a:cxnSpLocks/>
            <a:stCxn id="9" idx="3"/>
            <a:endCxn id="8" idx="1"/>
          </p:cNvCxnSpPr>
          <p:nvPr/>
        </p:nvCxnSpPr>
        <p:spPr>
          <a:xfrm>
            <a:off x="2755948" y="4043296"/>
            <a:ext cx="1137217" cy="1432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DC58FEE-BC6C-E90F-3AB9-C30AE2DA0817}"/>
              </a:ext>
            </a:extLst>
          </p:cNvPr>
          <p:cNvSpPr txBox="1"/>
          <p:nvPr/>
        </p:nvSpPr>
        <p:spPr>
          <a:xfrm>
            <a:off x="10170369" y="3720129"/>
            <a:ext cx="1563248" cy="646331"/>
          </a:xfrm>
          <a:prstGeom prst="rect">
            <a:avLst/>
          </a:prstGeom>
          <a:noFill/>
        </p:spPr>
        <p:txBody>
          <a:bodyPr wrap="none" rtlCol="0">
            <a:spAutoFit/>
          </a:bodyPr>
          <a:lstStyle/>
          <a:p>
            <a:r>
              <a:rPr lang="en-VN" sz="3600" dirty="0">
                <a:latin typeface="Cambria" panose="02040503050406030204" pitchFamily="18" charset="0"/>
              </a:rPr>
              <a:t>Output</a:t>
            </a:r>
            <a:endParaRPr lang="en-VN" sz="3600" dirty="0"/>
          </a:p>
        </p:txBody>
      </p:sp>
      <p:cxnSp>
        <p:nvCxnSpPr>
          <p:cNvPr id="24" name="Straight Arrow Connector 23">
            <a:extLst>
              <a:ext uri="{FF2B5EF4-FFF2-40B4-BE49-F238E27FC236}">
                <a16:creationId xmlns:a16="http://schemas.microsoft.com/office/drawing/2014/main" id="{15D213CF-D83E-19A1-BF89-0B3C885E86B8}"/>
              </a:ext>
            </a:extLst>
          </p:cNvPr>
          <p:cNvCxnSpPr>
            <a:cxnSpLocks/>
            <a:stCxn id="6" idx="3"/>
            <a:endCxn id="23" idx="1"/>
          </p:cNvCxnSpPr>
          <p:nvPr/>
        </p:nvCxnSpPr>
        <p:spPr>
          <a:xfrm>
            <a:off x="8668261" y="2635169"/>
            <a:ext cx="1502108" cy="1408126"/>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7257363-FDD4-A212-FF5C-E1FD296141CB}"/>
              </a:ext>
            </a:extLst>
          </p:cNvPr>
          <p:cNvCxnSpPr>
            <a:cxnSpLocks/>
            <a:stCxn id="7" idx="3"/>
            <a:endCxn id="23" idx="1"/>
          </p:cNvCxnSpPr>
          <p:nvPr/>
        </p:nvCxnSpPr>
        <p:spPr>
          <a:xfrm>
            <a:off x="8648806" y="4043295"/>
            <a:ext cx="1521563"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FD09155-A36E-69C4-BCA7-63C46B18671E}"/>
              </a:ext>
            </a:extLst>
          </p:cNvPr>
          <p:cNvCxnSpPr>
            <a:cxnSpLocks/>
            <a:stCxn id="8" idx="3"/>
            <a:endCxn id="23" idx="1"/>
          </p:cNvCxnSpPr>
          <p:nvPr/>
        </p:nvCxnSpPr>
        <p:spPr>
          <a:xfrm flipV="1">
            <a:off x="8648806" y="4043295"/>
            <a:ext cx="1521563" cy="1432662"/>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023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ssolv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par>
                                <p:cTn id="16" presetID="9"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dissolv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heckerboard(across)">
                                      <p:cBhvr>
                                        <p:cTn id="23" dur="500"/>
                                        <p:tgtEl>
                                          <p:spTgt spid="8"/>
                                        </p:tgtEl>
                                      </p:cBhvr>
                                    </p:animEffect>
                                  </p:childTnLst>
                                </p:cTn>
                              </p:par>
                              <p:par>
                                <p:cTn id="24" presetID="5" presetClass="entr" presetSubtype="1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checkerboard(across)">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blinds(horizontal)">
                                      <p:cBhvr>
                                        <p:cTn id="31" dur="500"/>
                                        <p:tgtEl>
                                          <p:spTgt spid="24"/>
                                        </p:tgtEl>
                                      </p:cBhvr>
                                    </p:animEffect>
                                  </p:childTnLst>
                                </p:cTn>
                              </p:par>
                              <p:par>
                                <p:cTn id="32" presetID="3" presetClass="entr" presetSubtype="1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blinds(horizontal)">
                                      <p:cBhvr>
                                        <p:cTn id="34" dur="500"/>
                                        <p:tgtEl>
                                          <p:spTgt spid="27"/>
                                        </p:tgtEl>
                                      </p:cBhvr>
                                    </p:animEffect>
                                  </p:childTnLst>
                                </p:cTn>
                              </p:par>
                              <p:par>
                                <p:cTn id="35" presetID="3" presetClass="entr" presetSubtype="1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blinds(horizontal)">
                                      <p:cBhvr>
                                        <p:cTn id="37" dur="500"/>
                                        <p:tgtEl>
                                          <p:spTgt spid="30"/>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blinds(horizontal)">
                                      <p:cBhvr>
                                        <p:cTn id="4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2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9090169-C34A-10B4-127C-CBE11BFF532B}"/>
              </a:ext>
            </a:extLst>
          </p:cNvPr>
          <p:cNvSpPr txBox="1"/>
          <p:nvPr/>
        </p:nvSpPr>
        <p:spPr>
          <a:xfrm>
            <a:off x="2661698" y="800186"/>
            <a:ext cx="7962966" cy="804644"/>
          </a:xfrm>
          <a:prstGeom prst="rect">
            <a:avLst/>
          </a:prstGeom>
          <a:noFill/>
        </p:spPr>
        <p:txBody>
          <a:bodyPr wrap="square" rtlCol="0">
            <a:spAutoFit/>
          </a:bodyPr>
          <a:lstStyle/>
          <a:p>
            <a:pPr lvl="0" algn="just">
              <a:lnSpc>
                <a:spcPct val="115000"/>
              </a:lnSpc>
            </a:pPr>
            <a:r>
              <a:rPr lang="en-US" sz="4400" b="1" kern="100" noProof="1">
                <a:latin typeface="Cambria" panose="02040503050406030204" pitchFamily="18" charset="0"/>
                <a:ea typeface="Calibri" panose="020F0502020204030204" pitchFamily="34" charset="0"/>
                <a:cs typeface="Times New Roman" panose="02020603050405020304" pitchFamily="18" charset="0"/>
              </a:rPr>
              <a:t>Kế hoạch sử dụng tài chính</a:t>
            </a:r>
            <a:endParaRPr lang="en-US" sz="4400" b="1" kern="100" noProof="1">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6" name="Picture 4" descr="Spending icons for free download | Freepik">
            <a:extLst>
              <a:ext uri="{FF2B5EF4-FFF2-40B4-BE49-F238E27FC236}">
                <a16:creationId xmlns:a16="http://schemas.microsoft.com/office/drawing/2014/main" id="{1923F208-1323-7184-D2AD-6C8F03120B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889" y="435103"/>
            <a:ext cx="1534810" cy="153481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32E64E0-BC01-4027-43D5-9C50FA6E8162}"/>
              </a:ext>
            </a:extLst>
          </p:cNvPr>
          <p:cNvSpPr/>
          <p:nvPr/>
        </p:nvSpPr>
        <p:spPr>
          <a:xfrm>
            <a:off x="4255633" y="1900594"/>
            <a:ext cx="4775095" cy="80464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VN" sz="3600" dirty="0">
                <a:latin typeface="Cambria" panose="02040503050406030204" pitchFamily="18" charset="0"/>
              </a:rPr>
              <a:t>3.000.000đ </a:t>
            </a:r>
          </a:p>
        </p:txBody>
      </p:sp>
      <p:pic>
        <p:nvPicPr>
          <p:cNvPr id="14" name="Picture 13">
            <a:extLst>
              <a:ext uri="{FF2B5EF4-FFF2-40B4-BE49-F238E27FC236}">
                <a16:creationId xmlns:a16="http://schemas.microsoft.com/office/drawing/2014/main" id="{83DC1824-8B38-9299-9A50-3C82E219FFF4}"/>
              </a:ext>
            </a:extLst>
          </p:cNvPr>
          <p:cNvPicPr>
            <a:picLocks noChangeAspect="1"/>
          </p:cNvPicPr>
          <p:nvPr/>
        </p:nvPicPr>
        <p:blipFill>
          <a:blip r:embed="rId3"/>
          <a:stretch>
            <a:fillRect/>
          </a:stretch>
        </p:blipFill>
        <p:spPr>
          <a:xfrm>
            <a:off x="510676" y="3001003"/>
            <a:ext cx="11170648" cy="3421894"/>
          </a:xfrm>
          <a:prstGeom prst="rect">
            <a:avLst/>
          </a:prstGeom>
        </p:spPr>
      </p:pic>
    </p:spTree>
    <p:extLst>
      <p:ext uri="{BB962C8B-B14F-4D97-AF65-F5344CB8AC3E}">
        <p14:creationId xmlns:p14="http://schemas.microsoft.com/office/powerpoint/2010/main" val="8274986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75AB744-BA82-AA74-52AE-EFC1F940A882}"/>
              </a:ext>
            </a:extLst>
          </p:cNvPr>
          <p:cNvPicPr>
            <a:picLocks noGrp="1" noChangeAspect="1"/>
          </p:cNvPicPr>
          <p:nvPr>
            <p:ph idx="1"/>
          </p:nvPr>
        </p:nvPicPr>
        <p:blipFill>
          <a:blip r:embed="rId2"/>
          <a:stretch>
            <a:fillRect/>
          </a:stretch>
        </p:blipFill>
        <p:spPr>
          <a:xfrm>
            <a:off x="777715" y="2810512"/>
            <a:ext cx="10636570" cy="3247302"/>
          </a:xfrm>
        </p:spPr>
      </p:pic>
      <p:sp>
        <p:nvSpPr>
          <p:cNvPr id="6" name="TextBox 5">
            <a:extLst>
              <a:ext uri="{FF2B5EF4-FFF2-40B4-BE49-F238E27FC236}">
                <a16:creationId xmlns:a16="http://schemas.microsoft.com/office/drawing/2014/main" id="{77F2FF97-49C5-E861-8340-E692142FEB69}"/>
              </a:ext>
            </a:extLst>
          </p:cNvPr>
          <p:cNvSpPr txBox="1"/>
          <p:nvPr/>
        </p:nvSpPr>
        <p:spPr>
          <a:xfrm>
            <a:off x="2661698" y="800186"/>
            <a:ext cx="7962966" cy="804644"/>
          </a:xfrm>
          <a:prstGeom prst="rect">
            <a:avLst/>
          </a:prstGeom>
          <a:noFill/>
        </p:spPr>
        <p:txBody>
          <a:bodyPr wrap="square" rtlCol="0">
            <a:spAutoFit/>
          </a:bodyPr>
          <a:lstStyle/>
          <a:p>
            <a:pPr lvl="0" algn="just">
              <a:lnSpc>
                <a:spcPct val="115000"/>
              </a:lnSpc>
            </a:pPr>
            <a:r>
              <a:rPr lang="en-US" sz="4400" b="1" kern="100" noProof="1">
                <a:latin typeface="Cambria" panose="02040503050406030204" pitchFamily="18" charset="0"/>
                <a:ea typeface="Calibri" panose="020F0502020204030204" pitchFamily="34" charset="0"/>
                <a:cs typeface="Times New Roman" panose="02020603050405020304" pitchFamily="18" charset="0"/>
              </a:rPr>
              <a:t>Kế hoạch sử dụng tài chính</a:t>
            </a:r>
            <a:endParaRPr lang="en-US" sz="4400" b="1" kern="100" noProof="1">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7" name="Picture 4" descr="Spending icons for free download | Freepik">
            <a:extLst>
              <a:ext uri="{FF2B5EF4-FFF2-40B4-BE49-F238E27FC236}">
                <a16:creationId xmlns:a16="http://schemas.microsoft.com/office/drawing/2014/main" id="{93A30B75-91DB-4C58-A582-097872BE40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889" y="435103"/>
            <a:ext cx="1534810" cy="153481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939FF024-5639-F400-EBBF-617F697998C2}"/>
              </a:ext>
            </a:extLst>
          </p:cNvPr>
          <p:cNvSpPr/>
          <p:nvPr/>
        </p:nvSpPr>
        <p:spPr>
          <a:xfrm>
            <a:off x="4255633" y="1778440"/>
            <a:ext cx="4775095" cy="80464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VN" sz="3600" dirty="0">
                <a:latin typeface="Cambria" panose="02040503050406030204" pitchFamily="18" charset="0"/>
              </a:rPr>
              <a:t>7.000.000đ </a:t>
            </a:r>
          </a:p>
        </p:txBody>
      </p:sp>
    </p:spTree>
    <p:extLst>
      <p:ext uri="{BB962C8B-B14F-4D97-AF65-F5344CB8AC3E}">
        <p14:creationId xmlns:p14="http://schemas.microsoft.com/office/powerpoint/2010/main" val="38952579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507CD-940A-E89D-2B90-FDE53B141FA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BAD6A29-00DC-6E88-1425-9E867E1B2BE6}"/>
              </a:ext>
            </a:extLst>
          </p:cNvPr>
          <p:cNvSpPr txBox="1"/>
          <p:nvPr/>
        </p:nvSpPr>
        <p:spPr>
          <a:xfrm>
            <a:off x="2661698" y="800186"/>
            <a:ext cx="7962966" cy="804644"/>
          </a:xfrm>
          <a:prstGeom prst="rect">
            <a:avLst/>
          </a:prstGeom>
          <a:noFill/>
        </p:spPr>
        <p:txBody>
          <a:bodyPr wrap="square" rtlCol="0">
            <a:spAutoFit/>
          </a:bodyPr>
          <a:lstStyle/>
          <a:p>
            <a:pPr lvl="0" algn="just">
              <a:lnSpc>
                <a:spcPct val="115000"/>
              </a:lnSpc>
            </a:pPr>
            <a:r>
              <a:rPr lang="en-US" sz="4400" b="1" kern="100" noProof="1">
                <a:latin typeface="Cambria" panose="02040503050406030204" pitchFamily="18" charset="0"/>
                <a:ea typeface="Calibri" panose="020F0502020204030204" pitchFamily="34" charset="0"/>
                <a:cs typeface="Times New Roman" panose="02020603050405020304" pitchFamily="18" charset="0"/>
              </a:rPr>
              <a:t>Kế hoạch sử dụng tài chính</a:t>
            </a:r>
            <a:endParaRPr lang="en-US" sz="4400" b="1" kern="100" noProof="1">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7" name="Picture 4" descr="Spending icons for free download | Freepik">
            <a:extLst>
              <a:ext uri="{FF2B5EF4-FFF2-40B4-BE49-F238E27FC236}">
                <a16:creationId xmlns:a16="http://schemas.microsoft.com/office/drawing/2014/main" id="{28005949-449B-93E4-A329-586248CA4D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8889" y="435103"/>
            <a:ext cx="1534810" cy="153481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697DF1CB-7928-AC3B-116B-55E8FBD3A790}"/>
              </a:ext>
            </a:extLst>
          </p:cNvPr>
          <p:cNvSpPr/>
          <p:nvPr/>
        </p:nvSpPr>
        <p:spPr>
          <a:xfrm>
            <a:off x="4255633" y="1778440"/>
            <a:ext cx="4775095" cy="80464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VN" sz="3600" dirty="0">
                <a:latin typeface="Cambria" panose="02040503050406030204" pitchFamily="18" charset="0"/>
              </a:rPr>
              <a:t>13.000.000đ </a:t>
            </a:r>
          </a:p>
        </p:txBody>
      </p:sp>
      <p:pic>
        <p:nvPicPr>
          <p:cNvPr id="13" name="Picture 12">
            <a:extLst>
              <a:ext uri="{FF2B5EF4-FFF2-40B4-BE49-F238E27FC236}">
                <a16:creationId xmlns:a16="http://schemas.microsoft.com/office/drawing/2014/main" id="{6D539D6E-1E4C-4400-B34C-1C7368E89C72}"/>
              </a:ext>
            </a:extLst>
          </p:cNvPr>
          <p:cNvPicPr>
            <a:picLocks noChangeAspect="1"/>
          </p:cNvPicPr>
          <p:nvPr/>
        </p:nvPicPr>
        <p:blipFill>
          <a:blip r:embed="rId3"/>
          <a:stretch>
            <a:fillRect/>
          </a:stretch>
        </p:blipFill>
        <p:spPr>
          <a:xfrm>
            <a:off x="115110" y="3108334"/>
            <a:ext cx="11961780" cy="2949480"/>
          </a:xfrm>
          <a:prstGeom prst="rect">
            <a:avLst/>
          </a:prstGeom>
        </p:spPr>
      </p:pic>
    </p:spTree>
    <p:extLst>
      <p:ext uri="{BB962C8B-B14F-4D97-AF65-F5344CB8AC3E}">
        <p14:creationId xmlns:p14="http://schemas.microsoft.com/office/powerpoint/2010/main" val="25179423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B403703-52FD-D2AA-2B06-4E9828DAA75F}"/>
              </a:ext>
            </a:extLst>
          </p:cNvPr>
          <p:cNvPicPr>
            <a:picLocks noChangeAspect="1"/>
          </p:cNvPicPr>
          <p:nvPr/>
        </p:nvPicPr>
        <p:blipFill>
          <a:blip r:embed="rId3"/>
          <a:stretch>
            <a:fillRect/>
          </a:stretch>
        </p:blipFill>
        <p:spPr>
          <a:xfrm>
            <a:off x="6720754" y="3362956"/>
            <a:ext cx="5420236" cy="3486382"/>
          </a:xfrm>
          <a:prstGeom prst="rect">
            <a:avLst/>
          </a:prstGeom>
        </p:spPr>
      </p:pic>
      <p:pic>
        <p:nvPicPr>
          <p:cNvPr id="9" name="Picture 8">
            <a:extLst>
              <a:ext uri="{FF2B5EF4-FFF2-40B4-BE49-F238E27FC236}">
                <a16:creationId xmlns:a16="http://schemas.microsoft.com/office/drawing/2014/main" id="{8F16D481-28B6-90E3-A368-B65BEFA8DB01}"/>
              </a:ext>
            </a:extLst>
          </p:cNvPr>
          <p:cNvPicPr>
            <a:picLocks noChangeAspect="1"/>
          </p:cNvPicPr>
          <p:nvPr/>
        </p:nvPicPr>
        <p:blipFill>
          <a:blip r:embed="rId4"/>
          <a:stretch>
            <a:fillRect/>
          </a:stretch>
        </p:blipFill>
        <p:spPr>
          <a:xfrm>
            <a:off x="0" y="3690605"/>
            <a:ext cx="5471248" cy="2963172"/>
          </a:xfrm>
          <a:prstGeom prst="rect">
            <a:avLst/>
          </a:prstGeom>
        </p:spPr>
      </p:pic>
      <p:pic>
        <p:nvPicPr>
          <p:cNvPr id="11" name="Picture 10">
            <a:extLst>
              <a:ext uri="{FF2B5EF4-FFF2-40B4-BE49-F238E27FC236}">
                <a16:creationId xmlns:a16="http://schemas.microsoft.com/office/drawing/2014/main" id="{5037EBD3-AAA4-1A21-1083-B7F3146F2C50}"/>
              </a:ext>
            </a:extLst>
          </p:cNvPr>
          <p:cNvPicPr>
            <a:picLocks noChangeAspect="1"/>
          </p:cNvPicPr>
          <p:nvPr/>
        </p:nvPicPr>
        <p:blipFill>
          <a:blip r:embed="rId5"/>
          <a:stretch>
            <a:fillRect/>
          </a:stretch>
        </p:blipFill>
        <p:spPr>
          <a:xfrm>
            <a:off x="2979060" y="113385"/>
            <a:ext cx="4984376" cy="3054010"/>
          </a:xfrm>
          <a:prstGeom prst="rect">
            <a:avLst/>
          </a:prstGeom>
        </p:spPr>
      </p:pic>
    </p:spTree>
    <p:extLst>
      <p:ext uri="{BB962C8B-B14F-4D97-AF65-F5344CB8AC3E}">
        <p14:creationId xmlns:p14="http://schemas.microsoft.com/office/powerpoint/2010/main" val="40367089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2704F-6940-3D66-A33A-A1D33582AA2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A430FBD-BDA9-7C75-3B60-20179E90EBED}"/>
              </a:ext>
            </a:extLst>
          </p:cNvPr>
          <p:cNvSpPr txBox="1"/>
          <p:nvPr/>
        </p:nvSpPr>
        <p:spPr>
          <a:xfrm>
            <a:off x="4038125" y="703474"/>
            <a:ext cx="7642572" cy="2036648"/>
          </a:xfrm>
          <a:prstGeom prst="rect">
            <a:avLst/>
          </a:prstGeom>
          <a:noFill/>
        </p:spPr>
        <p:txBody>
          <a:bodyPr wrap="square" rtlCol="0">
            <a:spAutoFit/>
          </a:bodyPr>
          <a:lstStyle/>
          <a:p>
            <a:pPr lvl="0" algn="just">
              <a:lnSpc>
                <a:spcPct val="115000"/>
              </a:lnSpc>
            </a:pPr>
            <a:r>
              <a:rPr lang="en-US" sz="4400" b="1" kern="100" noProof="1">
                <a:latin typeface="Cambria" panose="02040503050406030204" pitchFamily="18" charset="0"/>
                <a:ea typeface="Calibri" panose="020F0502020204030204" pitchFamily="34" charset="0"/>
                <a:cs typeface="Times New Roman" panose="02020603050405020304" pitchFamily="18" charset="0"/>
              </a:rPr>
              <a:t>Nguyên tắc sử dụng?</a:t>
            </a:r>
          </a:p>
          <a:p>
            <a:pPr lvl="0" algn="ctr">
              <a:lnSpc>
                <a:spcPct val="115000"/>
              </a:lnSpc>
            </a:pPr>
            <a:r>
              <a:rPr lang="en-US" sz="7200" b="1" kern="1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Force</a:t>
            </a:r>
            <a:r>
              <a:rPr lang="en-US" sz="7200" b="1" kern="100" noProof="1">
                <a:solidFill>
                  <a:srgbClr val="FF0000"/>
                </a:solidFill>
                <a:latin typeface="Cambria" panose="02040503050406030204" pitchFamily="18" charset="0"/>
                <a:ea typeface="Calibri" panose="020F0502020204030204" pitchFamily="34" charset="0"/>
                <a:cs typeface="Times New Roman" panose="02020603050405020304" pitchFamily="18" charset="0"/>
              </a:rPr>
              <a:t>-Reward</a:t>
            </a:r>
            <a:endParaRPr lang="en-US" sz="7200" b="1" kern="1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endParaRPr>
          </a:p>
        </p:txBody>
      </p:sp>
      <p:pic>
        <p:nvPicPr>
          <p:cNvPr id="37890" name="Picture 2" descr="Self discipline - Free icons">
            <a:extLst>
              <a:ext uri="{FF2B5EF4-FFF2-40B4-BE49-F238E27FC236}">
                <a16:creationId xmlns:a16="http://schemas.microsoft.com/office/drawing/2014/main" id="{3A2FEF3F-02D8-36F1-8236-22225D7A16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303" y="183236"/>
            <a:ext cx="2751726" cy="275172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962E5B7-D4DA-2D83-783C-FAC01E14E8EF}"/>
              </a:ext>
            </a:extLst>
          </p:cNvPr>
          <p:cNvSpPr txBox="1"/>
          <p:nvPr/>
        </p:nvSpPr>
        <p:spPr>
          <a:xfrm>
            <a:off x="363165" y="2934962"/>
            <a:ext cx="11465670" cy="1884940"/>
          </a:xfrm>
          <a:prstGeom prst="rect">
            <a:avLst/>
          </a:prstGeom>
          <a:noFill/>
        </p:spPr>
        <p:txBody>
          <a:bodyPr wrap="square">
            <a:spAutoFit/>
          </a:bodyPr>
          <a:lstStyle/>
          <a:p>
            <a:pPr lvl="0" algn="just">
              <a:lnSpc>
                <a:spcPct val="150000"/>
              </a:lnSpc>
            </a:pPr>
            <a:r>
              <a:rPr lang="en-US" sz="2700" kern="100" dirty="0">
                <a:latin typeface="Cambria" panose="02040503050406030204" pitchFamily="18" charset="0"/>
                <a:ea typeface="Calibri" panose="020F0502020204030204" pitchFamily="34" charset="0"/>
                <a:cs typeface="Times New Roman" panose="02020603050405020304" pitchFamily="18" charset="0"/>
              </a:rPr>
              <a:t>Force ~ Discipline:</a:t>
            </a:r>
            <a:r>
              <a:rPr lang="en-VN" sz="2700" kern="100" dirty="0">
                <a:latin typeface="Cambria" panose="02040503050406030204" pitchFamily="18" charset="0"/>
                <a:ea typeface="Calibri" panose="020F0502020204030204" pitchFamily="34" charset="0"/>
                <a:cs typeface="Times New Roman" panose="02020603050405020304" pitchFamily="18" charset="0"/>
              </a:rPr>
              <a:t> Khi đặt ra kế hoạch chi tiêu chúng ta cần phải tuân thủ theo những gì đã định ra – đặc biệt là chi tiêu routine. </a:t>
            </a:r>
          </a:p>
          <a:p>
            <a:pPr lvl="0" algn="just">
              <a:lnSpc>
                <a:spcPct val="150000"/>
              </a:lnSpc>
            </a:pPr>
            <a:r>
              <a:rPr lang="en-VN" sz="2700" kern="100" dirty="0">
                <a:latin typeface="Cambria" panose="02040503050406030204" pitchFamily="18" charset="0"/>
                <a:ea typeface="Calibri" panose="020F0502020204030204" pitchFamily="34" charset="0"/>
                <a:cs typeface="Times New Roman" panose="02020603050405020304" pitchFamily="18" charset="0"/>
              </a:rPr>
              <a:t>Nếu bị âm cần đền bù phù hợp</a:t>
            </a:r>
            <a:endParaRPr lang="en-US" sz="2700" kern="100" dirty="0">
              <a:latin typeface="Cambria" panose="02040503050406030204" pitchFamily="18"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5D0A92A0-CF12-60FE-27BB-BD7C94D46F24}"/>
              </a:ext>
            </a:extLst>
          </p:cNvPr>
          <p:cNvSpPr txBox="1"/>
          <p:nvPr/>
        </p:nvSpPr>
        <p:spPr>
          <a:xfrm>
            <a:off x="363165" y="5014742"/>
            <a:ext cx="11465670" cy="1261692"/>
          </a:xfrm>
          <a:prstGeom prst="rect">
            <a:avLst/>
          </a:prstGeom>
          <a:noFill/>
        </p:spPr>
        <p:txBody>
          <a:bodyPr wrap="square">
            <a:spAutoFit/>
          </a:bodyPr>
          <a:lstStyle/>
          <a:p>
            <a:pPr lvl="0" algn="just">
              <a:lnSpc>
                <a:spcPct val="150000"/>
              </a:lnSpc>
            </a:pPr>
            <a:r>
              <a:rPr lang="en-US" sz="2700" kern="100" dirty="0">
                <a:latin typeface="Cambria" panose="02040503050406030204" pitchFamily="18" charset="0"/>
                <a:ea typeface="Calibri" panose="020F0502020204030204" pitchFamily="34" charset="0"/>
                <a:cs typeface="Times New Roman" panose="02020603050405020304" pitchFamily="18" charset="0"/>
              </a:rPr>
              <a:t>Reward:</a:t>
            </a:r>
            <a:r>
              <a:rPr lang="en-VN" sz="2700" kern="100" dirty="0">
                <a:latin typeface="Cambria" panose="02040503050406030204" pitchFamily="18" charset="0"/>
                <a:ea typeface="Calibri" panose="020F0502020204030204" pitchFamily="34" charset="0"/>
                <a:cs typeface="Times New Roman" panose="02020603050405020304" pitchFamily="18" charset="0"/>
              </a:rPr>
              <a:t> Mỗi tháng các bạn đạt chỉ tiêu – hãy tự thưởng cho mình một cái gì đó để khích lệ (phần thưởng tuỳ vào tài chính). </a:t>
            </a:r>
            <a:endParaRPr lang="en-US" sz="2700" kern="100" dirty="0">
              <a:latin typeface="Cambria" panose="020405030504060302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175481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descr="summary Vector Icons free download in SVG, PNG Format">
            <a:extLst>
              <a:ext uri="{FF2B5EF4-FFF2-40B4-BE49-F238E27FC236}">
                <a16:creationId xmlns:a16="http://schemas.microsoft.com/office/drawing/2014/main" id="{7E963014-5CDC-4D42-C046-62095C2F16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 y="171450"/>
            <a:ext cx="1828800" cy="1828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356FACD-808B-7A81-7EE3-A5CD6C8FB1B9}"/>
              </a:ext>
            </a:extLst>
          </p:cNvPr>
          <p:cNvSpPr txBox="1"/>
          <p:nvPr/>
        </p:nvSpPr>
        <p:spPr>
          <a:xfrm>
            <a:off x="2550937" y="873725"/>
            <a:ext cx="2554465" cy="804644"/>
          </a:xfrm>
          <a:prstGeom prst="rect">
            <a:avLst/>
          </a:prstGeom>
          <a:noFill/>
        </p:spPr>
        <p:txBody>
          <a:bodyPr wrap="square" rtlCol="0">
            <a:spAutoFit/>
          </a:bodyPr>
          <a:lstStyle/>
          <a:p>
            <a:pPr lvl="0">
              <a:lnSpc>
                <a:spcPct val="115000"/>
              </a:lnSpc>
            </a:pPr>
            <a:r>
              <a:rPr lang="en-US" sz="4400" b="1" kern="100" noProof="1">
                <a:latin typeface="Cambria" panose="02040503050406030204" pitchFamily="18" charset="0"/>
                <a:ea typeface="Calibri" panose="020F0502020204030204" pitchFamily="34" charset="0"/>
                <a:cs typeface="Times New Roman" panose="02020603050405020304" pitchFamily="18" charset="0"/>
              </a:rPr>
              <a:t>Tổng kết</a:t>
            </a:r>
            <a:endParaRPr lang="en-US" sz="7200" b="1" kern="1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endParaRPr>
          </a:p>
        </p:txBody>
      </p:sp>
      <p:grpSp>
        <p:nvGrpSpPr>
          <p:cNvPr id="13" name="Group 12">
            <a:extLst>
              <a:ext uri="{FF2B5EF4-FFF2-40B4-BE49-F238E27FC236}">
                <a16:creationId xmlns:a16="http://schemas.microsoft.com/office/drawing/2014/main" id="{066E53CC-C87A-91B3-450E-0C2CCF4D19A5}"/>
              </a:ext>
            </a:extLst>
          </p:cNvPr>
          <p:cNvGrpSpPr/>
          <p:nvPr/>
        </p:nvGrpSpPr>
        <p:grpSpPr>
          <a:xfrm>
            <a:off x="6095999" y="421372"/>
            <a:ext cx="5691991" cy="2133600"/>
            <a:chOff x="342900" y="2705100"/>
            <a:chExt cx="5691991" cy="2133600"/>
          </a:xfrm>
        </p:grpSpPr>
        <p:grpSp>
          <p:nvGrpSpPr>
            <p:cNvPr id="7" name="Group 6">
              <a:extLst>
                <a:ext uri="{FF2B5EF4-FFF2-40B4-BE49-F238E27FC236}">
                  <a16:creationId xmlns:a16="http://schemas.microsoft.com/office/drawing/2014/main" id="{703FE031-FDB6-1765-8FD8-49F079374A48}"/>
                </a:ext>
              </a:extLst>
            </p:cNvPr>
            <p:cNvGrpSpPr/>
            <p:nvPr/>
          </p:nvGrpSpPr>
          <p:grpSpPr>
            <a:xfrm>
              <a:off x="342900" y="2705100"/>
              <a:ext cx="5691991" cy="723900"/>
              <a:chOff x="704850" y="2476500"/>
              <a:chExt cx="5691991" cy="723900"/>
            </a:xfrm>
          </p:grpSpPr>
          <p:sp>
            <p:nvSpPr>
              <p:cNvPr id="5" name="Oval 4">
                <a:extLst>
                  <a:ext uri="{FF2B5EF4-FFF2-40B4-BE49-F238E27FC236}">
                    <a16:creationId xmlns:a16="http://schemas.microsoft.com/office/drawing/2014/main" id="{7AAC21DB-00B9-5A47-8964-58723A38458C}"/>
                  </a:ext>
                </a:extLst>
              </p:cNvPr>
              <p:cNvSpPr/>
              <p:nvPr/>
            </p:nvSpPr>
            <p:spPr>
              <a:xfrm>
                <a:off x="704850" y="2476500"/>
                <a:ext cx="723900" cy="72390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VN" dirty="0">
                    <a:latin typeface="Cambria" panose="02040503050406030204" pitchFamily="18" charset="0"/>
                  </a:rPr>
                  <a:t>1</a:t>
                </a:r>
              </a:p>
            </p:txBody>
          </p:sp>
          <p:sp>
            <p:nvSpPr>
              <p:cNvPr id="6" name="TextBox 5">
                <a:extLst>
                  <a:ext uri="{FF2B5EF4-FFF2-40B4-BE49-F238E27FC236}">
                    <a16:creationId xmlns:a16="http://schemas.microsoft.com/office/drawing/2014/main" id="{3C232FF2-0520-9517-F296-BC50FEA91B65}"/>
                  </a:ext>
                </a:extLst>
              </p:cNvPr>
              <p:cNvSpPr txBox="1"/>
              <p:nvPr/>
            </p:nvSpPr>
            <p:spPr>
              <a:xfrm>
                <a:off x="1428750" y="2613623"/>
                <a:ext cx="4968091" cy="461665"/>
              </a:xfrm>
              <a:prstGeom prst="rect">
                <a:avLst/>
              </a:prstGeom>
              <a:noFill/>
            </p:spPr>
            <p:txBody>
              <a:bodyPr wrap="none" rtlCol="0">
                <a:spAutoFit/>
              </a:bodyPr>
              <a:lstStyle/>
              <a:p>
                <a:r>
                  <a:rPr lang="en-VN" sz="2400" b="1" dirty="0">
                    <a:latin typeface="Cambria" panose="02040503050406030204" pitchFamily="18" charset="0"/>
                  </a:rPr>
                  <a:t>Nguyên tắc về của cải (nhìn nhận) </a:t>
                </a:r>
              </a:p>
            </p:txBody>
          </p:sp>
        </p:grpSp>
        <p:sp>
          <p:nvSpPr>
            <p:cNvPr id="11" name="TextBox 10">
              <a:extLst>
                <a:ext uri="{FF2B5EF4-FFF2-40B4-BE49-F238E27FC236}">
                  <a16:creationId xmlns:a16="http://schemas.microsoft.com/office/drawing/2014/main" id="{479169BC-DAB4-983B-15CC-2AD754DEC7BA}"/>
                </a:ext>
              </a:extLst>
            </p:cNvPr>
            <p:cNvSpPr txBox="1"/>
            <p:nvPr/>
          </p:nvSpPr>
          <p:spPr>
            <a:xfrm>
              <a:off x="1333500" y="3560460"/>
              <a:ext cx="3445150" cy="523220"/>
            </a:xfrm>
            <a:prstGeom prst="rect">
              <a:avLst/>
            </a:prstGeom>
            <a:noFill/>
          </p:spPr>
          <p:txBody>
            <a:bodyPr wrap="square" rtlCol="0">
              <a:spAutoFit/>
            </a:bodyPr>
            <a:lstStyle/>
            <a:p>
              <a:r>
                <a:rPr lang="en-VN" sz="2800" dirty="0">
                  <a:latin typeface="Cambria" panose="02040503050406030204" pitchFamily="18" charset="0"/>
                </a:rPr>
                <a:t>Quyền sở hữu</a:t>
              </a:r>
            </a:p>
          </p:txBody>
        </p:sp>
        <p:sp>
          <p:nvSpPr>
            <p:cNvPr id="12" name="TextBox 11">
              <a:extLst>
                <a:ext uri="{FF2B5EF4-FFF2-40B4-BE49-F238E27FC236}">
                  <a16:creationId xmlns:a16="http://schemas.microsoft.com/office/drawing/2014/main" id="{2144C0A2-1C75-5D33-8ACD-1C6447B5B377}"/>
                </a:ext>
              </a:extLst>
            </p:cNvPr>
            <p:cNvSpPr txBox="1"/>
            <p:nvPr/>
          </p:nvSpPr>
          <p:spPr>
            <a:xfrm>
              <a:off x="1333500" y="4315480"/>
              <a:ext cx="3445150" cy="523220"/>
            </a:xfrm>
            <a:prstGeom prst="rect">
              <a:avLst/>
            </a:prstGeom>
            <a:noFill/>
          </p:spPr>
          <p:txBody>
            <a:bodyPr wrap="square" rtlCol="0">
              <a:spAutoFit/>
            </a:bodyPr>
            <a:lstStyle/>
            <a:p>
              <a:r>
                <a:rPr lang="en-VN" sz="2800" dirty="0">
                  <a:latin typeface="Cambria" panose="02040503050406030204" pitchFamily="18" charset="0"/>
                </a:rPr>
                <a:t>Sự rủa sả</a:t>
              </a:r>
            </a:p>
          </p:txBody>
        </p:sp>
      </p:grpSp>
      <p:grpSp>
        <p:nvGrpSpPr>
          <p:cNvPr id="16" name="Group 15">
            <a:extLst>
              <a:ext uri="{FF2B5EF4-FFF2-40B4-BE49-F238E27FC236}">
                <a16:creationId xmlns:a16="http://schemas.microsoft.com/office/drawing/2014/main" id="{89E87EC2-4CED-6056-1936-5F469278ADD9}"/>
              </a:ext>
            </a:extLst>
          </p:cNvPr>
          <p:cNvGrpSpPr/>
          <p:nvPr/>
        </p:nvGrpSpPr>
        <p:grpSpPr>
          <a:xfrm>
            <a:off x="342900" y="3028660"/>
            <a:ext cx="5410199" cy="2595607"/>
            <a:chOff x="342900" y="2705100"/>
            <a:chExt cx="5410199" cy="2595607"/>
          </a:xfrm>
        </p:grpSpPr>
        <p:grpSp>
          <p:nvGrpSpPr>
            <p:cNvPr id="8" name="Group 7">
              <a:extLst>
                <a:ext uri="{FF2B5EF4-FFF2-40B4-BE49-F238E27FC236}">
                  <a16:creationId xmlns:a16="http://schemas.microsoft.com/office/drawing/2014/main" id="{069700E5-E5D6-CD90-AEC3-0065848E53BC}"/>
                </a:ext>
              </a:extLst>
            </p:cNvPr>
            <p:cNvGrpSpPr/>
            <p:nvPr/>
          </p:nvGrpSpPr>
          <p:grpSpPr>
            <a:xfrm>
              <a:off x="342900" y="2705100"/>
              <a:ext cx="5227120" cy="723900"/>
              <a:chOff x="704850" y="2476500"/>
              <a:chExt cx="5227120" cy="723900"/>
            </a:xfrm>
          </p:grpSpPr>
          <p:sp>
            <p:nvSpPr>
              <p:cNvPr id="9" name="Oval 8">
                <a:extLst>
                  <a:ext uri="{FF2B5EF4-FFF2-40B4-BE49-F238E27FC236}">
                    <a16:creationId xmlns:a16="http://schemas.microsoft.com/office/drawing/2014/main" id="{27C39973-01BE-5164-4DAC-2AF27F228886}"/>
                  </a:ext>
                </a:extLst>
              </p:cNvPr>
              <p:cNvSpPr/>
              <p:nvPr/>
            </p:nvSpPr>
            <p:spPr>
              <a:xfrm>
                <a:off x="704850" y="2476500"/>
                <a:ext cx="723900" cy="72390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VN" dirty="0">
                    <a:latin typeface="Cambria" panose="02040503050406030204" pitchFamily="18" charset="0"/>
                  </a:rPr>
                  <a:t>2</a:t>
                </a:r>
              </a:p>
            </p:txBody>
          </p:sp>
          <p:sp>
            <p:nvSpPr>
              <p:cNvPr id="10" name="TextBox 9">
                <a:extLst>
                  <a:ext uri="{FF2B5EF4-FFF2-40B4-BE49-F238E27FC236}">
                    <a16:creationId xmlns:a16="http://schemas.microsoft.com/office/drawing/2014/main" id="{50CBAFB0-E11D-E2B7-9AAF-739C556EA3FC}"/>
                  </a:ext>
                </a:extLst>
              </p:cNvPr>
              <p:cNvSpPr txBox="1"/>
              <p:nvPr/>
            </p:nvSpPr>
            <p:spPr>
              <a:xfrm>
                <a:off x="1428750" y="2607275"/>
                <a:ext cx="4503220" cy="461665"/>
              </a:xfrm>
              <a:prstGeom prst="rect">
                <a:avLst/>
              </a:prstGeom>
              <a:noFill/>
            </p:spPr>
            <p:txBody>
              <a:bodyPr wrap="none" rtlCol="0">
                <a:spAutoFit/>
              </a:bodyPr>
              <a:lstStyle/>
              <a:p>
                <a:r>
                  <a:rPr lang="en-VN" sz="2400" b="1" dirty="0">
                    <a:latin typeface="Cambria" panose="02040503050406030204" pitchFamily="18" charset="0"/>
                  </a:rPr>
                  <a:t>Nguyên tắc về dâng hiến (lí do)</a:t>
                </a:r>
              </a:p>
            </p:txBody>
          </p:sp>
        </p:grpSp>
        <p:sp>
          <p:nvSpPr>
            <p:cNvPr id="14" name="TextBox 13">
              <a:extLst>
                <a:ext uri="{FF2B5EF4-FFF2-40B4-BE49-F238E27FC236}">
                  <a16:creationId xmlns:a16="http://schemas.microsoft.com/office/drawing/2014/main" id="{31EFC4BD-C31C-7EA7-D47E-FE71E83A2BF1}"/>
                </a:ext>
              </a:extLst>
            </p:cNvPr>
            <p:cNvSpPr txBox="1"/>
            <p:nvPr/>
          </p:nvSpPr>
          <p:spPr>
            <a:xfrm>
              <a:off x="1390650" y="3560460"/>
              <a:ext cx="4362449" cy="954107"/>
            </a:xfrm>
            <a:prstGeom prst="rect">
              <a:avLst/>
            </a:prstGeom>
            <a:noFill/>
          </p:spPr>
          <p:txBody>
            <a:bodyPr wrap="square" rtlCol="0">
              <a:spAutoFit/>
            </a:bodyPr>
            <a:lstStyle/>
            <a:p>
              <a:r>
                <a:rPr lang="en-VN" sz="2800" dirty="0">
                  <a:latin typeface="Cambria" panose="02040503050406030204" pitchFamily="18" charset="0"/>
                </a:rPr>
                <a:t>Bày tỏ đức tin nơi tình yêu và sự chu cấp của Chúa</a:t>
              </a:r>
            </a:p>
          </p:txBody>
        </p:sp>
        <p:sp>
          <p:nvSpPr>
            <p:cNvPr id="15" name="TextBox 14">
              <a:extLst>
                <a:ext uri="{FF2B5EF4-FFF2-40B4-BE49-F238E27FC236}">
                  <a16:creationId xmlns:a16="http://schemas.microsoft.com/office/drawing/2014/main" id="{EDD59D4D-EBAA-C934-AA10-BB848DB83EC9}"/>
                </a:ext>
              </a:extLst>
            </p:cNvPr>
            <p:cNvSpPr txBox="1"/>
            <p:nvPr/>
          </p:nvSpPr>
          <p:spPr>
            <a:xfrm>
              <a:off x="1390650" y="4777487"/>
              <a:ext cx="4362449" cy="523220"/>
            </a:xfrm>
            <a:prstGeom prst="rect">
              <a:avLst/>
            </a:prstGeom>
            <a:noFill/>
          </p:spPr>
          <p:txBody>
            <a:bodyPr wrap="square" rtlCol="0">
              <a:spAutoFit/>
            </a:bodyPr>
            <a:lstStyle/>
            <a:p>
              <a:r>
                <a:rPr lang="en-VN" sz="2800" dirty="0">
                  <a:latin typeface="Cambria" panose="02040503050406030204" pitchFamily="18" charset="0"/>
                </a:rPr>
                <a:t>Công việc Chúa cần đến</a:t>
              </a:r>
            </a:p>
          </p:txBody>
        </p:sp>
      </p:grpSp>
      <p:grpSp>
        <p:nvGrpSpPr>
          <p:cNvPr id="17" name="Group 16">
            <a:extLst>
              <a:ext uri="{FF2B5EF4-FFF2-40B4-BE49-F238E27FC236}">
                <a16:creationId xmlns:a16="http://schemas.microsoft.com/office/drawing/2014/main" id="{2259A545-30E8-BC4D-C941-8159D83FA4DA}"/>
              </a:ext>
            </a:extLst>
          </p:cNvPr>
          <p:cNvGrpSpPr/>
          <p:nvPr/>
        </p:nvGrpSpPr>
        <p:grpSpPr>
          <a:xfrm>
            <a:off x="6096000" y="3028660"/>
            <a:ext cx="5691990" cy="3584837"/>
            <a:chOff x="342900" y="2705100"/>
            <a:chExt cx="5691990" cy="3584837"/>
          </a:xfrm>
        </p:grpSpPr>
        <p:grpSp>
          <p:nvGrpSpPr>
            <p:cNvPr id="18" name="Group 17">
              <a:extLst>
                <a:ext uri="{FF2B5EF4-FFF2-40B4-BE49-F238E27FC236}">
                  <a16:creationId xmlns:a16="http://schemas.microsoft.com/office/drawing/2014/main" id="{45AFD0E3-7144-F664-F182-70E9358879CE}"/>
                </a:ext>
              </a:extLst>
            </p:cNvPr>
            <p:cNvGrpSpPr/>
            <p:nvPr/>
          </p:nvGrpSpPr>
          <p:grpSpPr>
            <a:xfrm>
              <a:off x="342900" y="2705100"/>
              <a:ext cx="5143500" cy="723900"/>
              <a:chOff x="704850" y="2476500"/>
              <a:chExt cx="5143500" cy="723900"/>
            </a:xfrm>
          </p:grpSpPr>
          <p:sp>
            <p:nvSpPr>
              <p:cNvPr id="21" name="Oval 20">
                <a:extLst>
                  <a:ext uri="{FF2B5EF4-FFF2-40B4-BE49-F238E27FC236}">
                    <a16:creationId xmlns:a16="http://schemas.microsoft.com/office/drawing/2014/main" id="{3B5C6CD9-FC11-8612-4396-B913DBB5314F}"/>
                  </a:ext>
                </a:extLst>
              </p:cNvPr>
              <p:cNvSpPr/>
              <p:nvPr/>
            </p:nvSpPr>
            <p:spPr>
              <a:xfrm>
                <a:off x="704850" y="2476500"/>
                <a:ext cx="723900" cy="723900"/>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VN" dirty="0">
                    <a:latin typeface="Cambria" panose="02040503050406030204" pitchFamily="18" charset="0"/>
                  </a:rPr>
                  <a:t>3</a:t>
                </a:r>
              </a:p>
            </p:txBody>
          </p:sp>
          <p:sp>
            <p:nvSpPr>
              <p:cNvPr id="22" name="TextBox 21">
                <a:extLst>
                  <a:ext uri="{FF2B5EF4-FFF2-40B4-BE49-F238E27FC236}">
                    <a16:creationId xmlns:a16="http://schemas.microsoft.com/office/drawing/2014/main" id="{1AA75536-BF12-AC62-907B-F2DE195EAD35}"/>
                  </a:ext>
                </a:extLst>
              </p:cNvPr>
              <p:cNvSpPr txBox="1"/>
              <p:nvPr/>
            </p:nvSpPr>
            <p:spPr>
              <a:xfrm>
                <a:off x="1428750" y="2613623"/>
                <a:ext cx="4419600" cy="461665"/>
              </a:xfrm>
              <a:prstGeom prst="rect">
                <a:avLst/>
              </a:prstGeom>
              <a:noFill/>
            </p:spPr>
            <p:txBody>
              <a:bodyPr wrap="square" rtlCol="0">
                <a:spAutoFit/>
              </a:bodyPr>
              <a:lstStyle/>
              <a:p>
                <a:r>
                  <a:rPr lang="en-VN" sz="2400" b="1" dirty="0">
                    <a:latin typeface="Cambria" panose="02040503050406030204" pitchFamily="18" charset="0"/>
                  </a:rPr>
                  <a:t>Quản lí tài chính (thực hành)</a:t>
                </a:r>
              </a:p>
            </p:txBody>
          </p:sp>
        </p:grpSp>
        <p:sp>
          <p:nvSpPr>
            <p:cNvPr id="19" name="TextBox 18">
              <a:extLst>
                <a:ext uri="{FF2B5EF4-FFF2-40B4-BE49-F238E27FC236}">
                  <a16:creationId xmlns:a16="http://schemas.microsoft.com/office/drawing/2014/main" id="{01E10193-94D3-954E-FBD9-C0FD9429B0AC}"/>
                </a:ext>
              </a:extLst>
            </p:cNvPr>
            <p:cNvSpPr txBox="1"/>
            <p:nvPr/>
          </p:nvSpPr>
          <p:spPr>
            <a:xfrm>
              <a:off x="1333500" y="3560460"/>
              <a:ext cx="4701390" cy="523220"/>
            </a:xfrm>
            <a:prstGeom prst="rect">
              <a:avLst/>
            </a:prstGeom>
            <a:noFill/>
          </p:spPr>
          <p:txBody>
            <a:bodyPr wrap="square" rtlCol="0">
              <a:spAutoFit/>
            </a:bodyPr>
            <a:lstStyle/>
            <a:p>
              <a:r>
                <a:rPr lang="en-VN" sz="2800" dirty="0">
                  <a:latin typeface="Cambria" panose="02040503050406030204" pitchFamily="18" charset="0"/>
                </a:rPr>
                <a:t>Nghĩ về nguyên tắc</a:t>
              </a:r>
            </a:p>
          </p:txBody>
        </p:sp>
        <p:sp>
          <p:nvSpPr>
            <p:cNvPr id="20" name="TextBox 19">
              <a:extLst>
                <a:ext uri="{FF2B5EF4-FFF2-40B4-BE49-F238E27FC236}">
                  <a16:creationId xmlns:a16="http://schemas.microsoft.com/office/drawing/2014/main" id="{A949D391-59AA-40E8-042B-B410FA37353A}"/>
                </a:ext>
              </a:extLst>
            </p:cNvPr>
            <p:cNvSpPr txBox="1"/>
            <p:nvPr/>
          </p:nvSpPr>
          <p:spPr>
            <a:xfrm>
              <a:off x="1333500" y="4315480"/>
              <a:ext cx="4701390" cy="523220"/>
            </a:xfrm>
            <a:prstGeom prst="rect">
              <a:avLst/>
            </a:prstGeom>
            <a:noFill/>
          </p:spPr>
          <p:txBody>
            <a:bodyPr wrap="square" rtlCol="0">
              <a:spAutoFit/>
            </a:bodyPr>
            <a:lstStyle/>
            <a:p>
              <a:r>
                <a:rPr lang="en-VN" sz="2800" dirty="0">
                  <a:latin typeface="Cambria" panose="02040503050406030204" pitchFamily="18" charset="0"/>
                </a:rPr>
                <a:t>Lên kế hoạch</a:t>
              </a:r>
            </a:p>
          </p:txBody>
        </p:sp>
        <p:sp>
          <p:nvSpPr>
            <p:cNvPr id="23" name="TextBox 22">
              <a:extLst>
                <a:ext uri="{FF2B5EF4-FFF2-40B4-BE49-F238E27FC236}">
                  <a16:creationId xmlns:a16="http://schemas.microsoft.com/office/drawing/2014/main" id="{9844B182-C813-2B2E-3428-1D907765E8E4}"/>
                </a:ext>
              </a:extLst>
            </p:cNvPr>
            <p:cNvSpPr txBox="1"/>
            <p:nvPr/>
          </p:nvSpPr>
          <p:spPr>
            <a:xfrm>
              <a:off x="1333500" y="5039097"/>
              <a:ext cx="4701390" cy="523220"/>
            </a:xfrm>
            <a:prstGeom prst="rect">
              <a:avLst/>
            </a:prstGeom>
            <a:noFill/>
          </p:spPr>
          <p:txBody>
            <a:bodyPr wrap="square" rtlCol="0">
              <a:spAutoFit/>
            </a:bodyPr>
            <a:lstStyle/>
            <a:p>
              <a:r>
                <a:rPr lang="en-VN" sz="2800" dirty="0">
                  <a:latin typeface="Cambria" panose="02040503050406030204" pitchFamily="18" charset="0"/>
                </a:rPr>
                <a:t>Xem xét kế hoạch chi tiêu</a:t>
              </a:r>
            </a:p>
          </p:txBody>
        </p:sp>
        <p:sp>
          <p:nvSpPr>
            <p:cNvPr id="24" name="TextBox 23">
              <a:extLst>
                <a:ext uri="{FF2B5EF4-FFF2-40B4-BE49-F238E27FC236}">
                  <a16:creationId xmlns:a16="http://schemas.microsoft.com/office/drawing/2014/main" id="{5CC53B53-ADCD-C2A3-B640-8CA5F8DE68A4}"/>
                </a:ext>
              </a:extLst>
            </p:cNvPr>
            <p:cNvSpPr txBox="1"/>
            <p:nvPr/>
          </p:nvSpPr>
          <p:spPr>
            <a:xfrm>
              <a:off x="1333499" y="5766717"/>
              <a:ext cx="4701391" cy="523220"/>
            </a:xfrm>
            <a:prstGeom prst="rect">
              <a:avLst/>
            </a:prstGeom>
            <a:noFill/>
          </p:spPr>
          <p:txBody>
            <a:bodyPr wrap="square" rtlCol="0">
              <a:spAutoFit/>
            </a:bodyPr>
            <a:lstStyle/>
            <a:p>
              <a:r>
                <a:rPr lang="en-VN" sz="2800" dirty="0">
                  <a:latin typeface="Cambria" panose="02040503050406030204" pitchFamily="18" charset="0"/>
                </a:rPr>
                <a:t>Tạo nguyên tắc cho chi tiêu</a:t>
              </a:r>
            </a:p>
          </p:txBody>
        </p:sp>
      </p:grpSp>
    </p:spTree>
    <p:extLst>
      <p:ext uri="{BB962C8B-B14F-4D97-AF65-F5344CB8AC3E}">
        <p14:creationId xmlns:p14="http://schemas.microsoft.com/office/powerpoint/2010/main" val="2998858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Reference - Free education icons">
            <a:extLst>
              <a:ext uri="{FF2B5EF4-FFF2-40B4-BE49-F238E27FC236}">
                <a16:creationId xmlns:a16="http://schemas.microsoft.com/office/drawing/2014/main" id="{D08207F7-F8A1-009E-F841-EE6CDECB76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445" y="339371"/>
            <a:ext cx="1871892" cy="187189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63BBAAF-DD88-2534-AD79-89AC86DF77BE}"/>
              </a:ext>
            </a:extLst>
          </p:cNvPr>
          <p:cNvSpPr txBox="1"/>
          <p:nvPr/>
        </p:nvSpPr>
        <p:spPr>
          <a:xfrm>
            <a:off x="2686050" y="872995"/>
            <a:ext cx="4419438" cy="804644"/>
          </a:xfrm>
          <a:prstGeom prst="rect">
            <a:avLst/>
          </a:prstGeom>
          <a:noFill/>
        </p:spPr>
        <p:txBody>
          <a:bodyPr wrap="square" rtlCol="0">
            <a:spAutoFit/>
          </a:bodyPr>
          <a:lstStyle/>
          <a:p>
            <a:pPr lvl="0">
              <a:lnSpc>
                <a:spcPct val="115000"/>
              </a:lnSpc>
            </a:pPr>
            <a:r>
              <a:rPr lang="en-VN" sz="4400" b="1" kern="1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References</a:t>
            </a:r>
            <a:endParaRPr lang="en-VN" sz="7200" b="1" kern="1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0456B4C2-5EC3-96B4-D0D6-B7E7C32E8D4A}"/>
              </a:ext>
            </a:extLst>
          </p:cNvPr>
          <p:cNvSpPr txBox="1"/>
          <p:nvPr/>
        </p:nvSpPr>
        <p:spPr>
          <a:xfrm>
            <a:off x="394445" y="2371387"/>
            <a:ext cx="11290886" cy="1051442"/>
          </a:xfrm>
          <a:prstGeom prst="rect">
            <a:avLst/>
          </a:prstGeom>
          <a:noFill/>
        </p:spPr>
        <p:txBody>
          <a:bodyPr wrap="square">
            <a:spAutoFit/>
          </a:bodyPr>
          <a:lstStyle/>
          <a:p>
            <a:pPr lvl="0">
              <a:lnSpc>
                <a:spcPct val="115000"/>
              </a:lnSpc>
            </a:pPr>
            <a:r>
              <a:rPr lang="en-VN" sz="2800" kern="100" noProof="1">
                <a:effectLst/>
                <a:latin typeface="Cambria" panose="02040503050406030204" pitchFamily="18" charset="0"/>
                <a:ea typeface="Calibri" panose="020F0502020204030204" pitchFamily="34" charset="0"/>
                <a:cs typeface="Times New Roman" panose="02020603050405020304" pitchFamily="18" charset="0"/>
              </a:rPr>
              <a:t>1. </a:t>
            </a:r>
            <a:r>
              <a:rPr lang="en-VN" sz="2800" kern="100" noProof="1">
                <a:effectLst/>
                <a:latin typeface="Cambria" panose="02040503050406030204" pitchFamily="18" charset="0"/>
                <a:ea typeface="Calibri" panose="020F0502020204030204" pitchFamily="34" charset="0"/>
                <a:cs typeface="Times New Roman" panose="02020603050405020304" pitchFamily="18" charset="0"/>
                <a:hlinkClick r:id="rId3"/>
              </a:rPr>
              <a:t>The purpose of Money</a:t>
            </a:r>
            <a:r>
              <a:rPr lang="en-VN" sz="2800" kern="100" noProof="1">
                <a:effectLst/>
                <a:latin typeface="Cambria" panose="02040503050406030204" pitchFamily="18" charset="0"/>
                <a:ea typeface="Calibri" panose="020F0502020204030204" pitchFamily="34" charset="0"/>
                <a:cs typeface="Times New Roman" panose="02020603050405020304" pitchFamily="18" charset="0"/>
              </a:rPr>
              <a:t> – Taylor Martin Wise, Reformed Theological Seminary</a:t>
            </a:r>
            <a:endParaRPr lang="en-VN" sz="2800" kern="100" noProof="1">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68C8DD6C-9587-A1E5-868A-EAC61D54A17E}"/>
              </a:ext>
            </a:extLst>
          </p:cNvPr>
          <p:cNvSpPr txBox="1"/>
          <p:nvPr/>
        </p:nvSpPr>
        <p:spPr>
          <a:xfrm>
            <a:off x="394445" y="5815331"/>
            <a:ext cx="11290886" cy="589072"/>
          </a:xfrm>
          <a:prstGeom prst="rect">
            <a:avLst/>
          </a:prstGeom>
          <a:noFill/>
        </p:spPr>
        <p:txBody>
          <a:bodyPr wrap="square">
            <a:spAutoFit/>
          </a:bodyPr>
          <a:lstStyle/>
          <a:p>
            <a:pPr lvl="0" algn="just">
              <a:lnSpc>
                <a:spcPct val="115000"/>
              </a:lnSpc>
            </a:pPr>
            <a:r>
              <a:rPr lang="en-VN" sz="3000" kern="100" noProof="1">
                <a:effectLst/>
                <a:latin typeface="Cambria" panose="02040503050406030204" pitchFamily="18" charset="0"/>
                <a:ea typeface="Calibri" panose="020F0502020204030204" pitchFamily="34" charset="0"/>
                <a:cs typeface="Times New Roman" panose="02020603050405020304" pitchFamily="18" charset="0"/>
              </a:rPr>
              <a:t>4. Crypto Concurrencies – Dr Julian Hosp</a:t>
            </a:r>
            <a:endParaRPr lang="en-VN" sz="3000" kern="100" noProof="1">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75082D0D-B03F-C461-AD18-0059FA6E63C1}"/>
              </a:ext>
            </a:extLst>
          </p:cNvPr>
          <p:cNvSpPr txBox="1"/>
          <p:nvPr/>
        </p:nvSpPr>
        <p:spPr>
          <a:xfrm>
            <a:off x="394445" y="3827615"/>
            <a:ext cx="11290886" cy="589072"/>
          </a:xfrm>
          <a:prstGeom prst="rect">
            <a:avLst/>
          </a:prstGeom>
          <a:noFill/>
        </p:spPr>
        <p:txBody>
          <a:bodyPr wrap="square">
            <a:spAutoFit/>
          </a:bodyPr>
          <a:lstStyle/>
          <a:p>
            <a:pPr lvl="0" algn="just">
              <a:lnSpc>
                <a:spcPct val="115000"/>
              </a:lnSpc>
              <a:spcAft>
                <a:spcPts val="800"/>
              </a:spcAft>
            </a:pPr>
            <a:r>
              <a:rPr lang="en-VN" sz="3000" kern="100" noProof="1">
                <a:effectLst/>
                <a:latin typeface="Cambria" panose="02040503050406030204" pitchFamily="18" charset="0"/>
                <a:ea typeface="Calibri" panose="020F0502020204030204" pitchFamily="34" charset="0"/>
                <a:cs typeface="Times New Roman" panose="02020603050405020304" pitchFamily="18" charset="0"/>
              </a:rPr>
              <a:t>2. The Treasure Principle/Nguyên tắc của cải – Randy Alcorn</a:t>
            </a:r>
            <a:endParaRPr lang="en-VN" sz="3000" kern="100" noProof="1">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F161A400-EBF6-DAA5-2F00-6DBE3C9F86F2}"/>
              </a:ext>
            </a:extLst>
          </p:cNvPr>
          <p:cNvSpPr txBox="1"/>
          <p:nvPr/>
        </p:nvSpPr>
        <p:spPr>
          <a:xfrm>
            <a:off x="394445" y="4821473"/>
            <a:ext cx="11290886" cy="589072"/>
          </a:xfrm>
          <a:prstGeom prst="rect">
            <a:avLst/>
          </a:prstGeom>
          <a:noFill/>
        </p:spPr>
        <p:txBody>
          <a:bodyPr wrap="square">
            <a:spAutoFit/>
          </a:bodyPr>
          <a:lstStyle/>
          <a:p>
            <a:pPr lvl="0" algn="just">
              <a:lnSpc>
                <a:spcPct val="115000"/>
              </a:lnSpc>
            </a:pPr>
            <a:r>
              <a:rPr lang="en-VN" sz="3000" kern="100" noProof="1">
                <a:effectLst/>
                <a:latin typeface="Cambria" panose="02040503050406030204" pitchFamily="18" charset="0"/>
                <a:ea typeface="Calibri" panose="020F0502020204030204" pitchFamily="34" charset="0"/>
                <a:cs typeface="Times New Roman" panose="02020603050405020304" pitchFamily="18" charset="0"/>
              </a:rPr>
              <a:t>3. Spiritual Discipline – Donal S. Whitney</a:t>
            </a:r>
            <a:endParaRPr lang="en-VN" sz="3000" kern="100" noProof="1">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648632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4BD0B6E-4C15-29AA-963C-ACC09390DAA6}"/>
              </a:ext>
            </a:extLst>
          </p:cNvPr>
          <p:cNvPicPr>
            <a:picLocks noGrp="1" noChangeAspect="1"/>
          </p:cNvPicPr>
          <p:nvPr>
            <p:ph idx="1"/>
          </p:nvPr>
        </p:nvPicPr>
        <p:blipFill>
          <a:blip r:embed="rId2"/>
          <a:stretch>
            <a:fillRect/>
          </a:stretch>
        </p:blipFill>
        <p:spPr>
          <a:xfrm>
            <a:off x="3448050" y="1095087"/>
            <a:ext cx="5295900" cy="5208726"/>
          </a:xfrm>
        </p:spPr>
      </p:pic>
      <p:sp>
        <p:nvSpPr>
          <p:cNvPr id="6" name="TextBox 5">
            <a:extLst>
              <a:ext uri="{FF2B5EF4-FFF2-40B4-BE49-F238E27FC236}">
                <a16:creationId xmlns:a16="http://schemas.microsoft.com/office/drawing/2014/main" id="{7AA606F6-A566-BF83-44B9-ED77667056B5}"/>
              </a:ext>
            </a:extLst>
          </p:cNvPr>
          <p:cNvSpPr txBox="1"/>
          <p:nvPr/>
        </p:nvSpPr>
        <p:spPr>
          <a:xfrm>
            <a:off x="2274714" y="151865"/>
            <a:ext cx="7642572" cy="804644"/>
          </a:xfrm>
          <a:prstGeom prst="rect">
            <a:avLst/>
          </a:prstGeom>
          <a:noFill/>
        </p:spPr>
        <p:txBody>
          <a:bodyPr wrap="square" rtlCol="0">
            <a:spAutoFit/>
          </a:bodyPr>
          <a:lstStyle/>
          <a:p>
            <a:pPr lvl="0" algn="ctr">
              <a:lnSpc>
                <a:spcPct val="115000"/>
              </a:lnSpc>
            </a:pPr>
            <a:r>
              <a:rPr lang="en-US" sz="4400" b="1" kern="1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rPr>
              <a:t>Mục vụ hỗ trợ Mục Sư</a:t>
            </a:r>
            <a:endParaRPr lang="en-US" sz="7200" b="1" kern="100" noProof="1">
              <a:solidFill>
                <a:srgbClr val="FF0000"/>
              </a:solidFill>
              <a:effectLst/>
              <a:latin typeface="Cambria" panose="020405030504060302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721713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22924-E3CA-056E-F207-34070334F227}"/>
            </a:ext>
          </a:extLst>
        </p:cNvPr>
        <p:cNvGrpSpPr/>
        <p:nvPr/>
      </p:nvGrpSpPr>
      <p:grpSpPr>
        <a:xfrm>
          <a:off x="0" y="0"/>
          <a:ext cx="0" cy="0"/>
          <a:chOff x="0" y="0"/>
          <a:chExt cx="0" cy="0"/>
        </a:xfrm>
      </p:grpSpPr>
      <p:pic>
        <p:nvPicPr>
          <p:cNvPr id="48130" name="Picture 2" descr="Q&amp;a - Free education icons">
            <a:extLst>
              <a:ext uri="{FF2B5EF4-FFF2-40B4-BE49-F238E27FC236}">
                <a16:creationId xmlns:a16="http://schemas.microsoft.com/office/drawing/2014/main" id="{1DAD8B38-C542-CE62-2631-005344EDC5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4212" y="327212"/>
            <a:ext cx="6203576" cy="6203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2270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78193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4821</TotalTime>
  <Words>5545</Words>
  <Application>Microsoft Macintosh PowerPoint</Application>
  <PresentationFormat>Widescreen</PresentationFormat>
  <Paragraphs>385</Paragraphs>
  <Slides>45</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Arial</vt:lpstr>
      <vt:lpstr>Calibri</vt:lpstr>
      <vt:lpstr>Calibri Light</vt:lpstr>
      <vt:lpstr>Cambria</vt:lpstr>
      <vt:lpstr>Silom</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trieu.phan</dc:creator>
  <cp:lastModifiedBy>trieu.phan</cp:lastModifiedBy>
  <cp:revision>945</cp:revision>
  <dcterms:created xsi:type="dcterms:W3CDTF">2025-04-02T18:02:50Z</dcterms:created>
  <dcterms:modified xsi:type="dcterms:W3CDTF">2025-04-09T19:17:38Z</dcterms:modified>
</cp:coreProperties>
</file>