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6" r:id="rId3"/>
    <p:sldId id="263" r:id="rId4"/>
    <p:sldId id="274" r:id="rId5"/>
    <p:sldId id="275" r:id="rId6"/>
    <p:sldId id="282" r:id="rId7"/>
    <p:sldId id="279" r:id="rId8"/>
    <p:sldId id="281" r:id="rId9"/>
    <p:sldId id="280" r:id="rId10"/>
    <p:sldId id="278" r:id="rId11"/>
    <p:sldId id="265" r:id="rId12"/>
    <p:sldId id="276" r:id="rId13"/>
    <p:sldId id="266" r:id="rId14"/>
    <p:sldId id="267" r:id="rId15"/>
    <p:sldId id="257" r:id="rId16"/>
    <p:sldId id="273" r:id="rId17"/>
    <p:sldId id="259" r:id="rId18"/>
    <p:sldId id="261" r:id="rId19"/>
    <p:sldId id="262" r:id="rId20"/>
    <p:sldId id="285" r:id="rId21"/>
    <p:sldId id="270" r:id="rId22"/>
    <p:sldId id="271" r:id="rId23"/>
    <p:sldId id="269" r:id="rId24"/>
    <p:sldId id="277" r:id="rId25"/>
    <p:sldId id="268" r:id="rId26"/>
    <p:sldId id="264" r:id="rId27"/>
    <p:sldId id="272" r:id="rId28"/>
    <p:sldId id="283" r:id="rId29"/>
    <p:sldId id="260" r:id="rId30"/>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ckdrop" id="{B350BFEB-02CA-9D4E-9464-430DEB6FC3DC}">
          <p14:sldIdLst>
            <p14:sldId id="256"/>
          </p14:sldIdLst>
        </p14:section>
        <p14:section name="Game" id="{09FF1305-BE8C-C541-ADC0-6B6A58D320D8}">
          <p14:sldIdLst>
            <p14:sldId id="286"/>
          </p14:sldIdLst>
        </p14:section>
        <p14:section name="Historical" id="{DE832B26-8C06-2342-AC86-C5AEA2EA2398}">
          <p14:sldIdLst>
            <p14:sldId id="263"/>
            <p14:sldId id="274"/>
            <p14:sldId id="275"/>
            <p14:sldId id="282"/>
            <p14:sldId id="279"/>
            <p14:sldId id="281"/>
            <p14:sldId id="280"/>
            <p14:sldId id="278"/>
            <p14:sldId id="265"/>
            <p14:sldId id="276"/>
          </p14:sldIdLst>
        </p14:section>
        <p14:section name="Content" id="{A915D935-94A3-8241-8F4F-0101A326BA23}">
          <p14:sldIdLst>
            <p14:sldId id="266"/>
            <p14:sldId id="267"/>
            <p14:sldId id="257"/>
            <p14:sldId id="273"/>
            <p14:sldId id="259"/>
            <p14:sldId id="261"/>
            <p14:sldId id="262"/>
            <p14:sldId id="285"/>
            <p14:sldId id="270"/>
            <p14:sldId id="271"/>
            <p14:sldId id="269"/>
            <p14:sldId id="277"/>
            <p14:sldId id="268"/>
            <p14:sldId id="264"/>
            <p14:sldId id="272"/>
            <p14:sldId id="283"/>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85521"/>
  </p:normalViewPr>
  <p:slideViewPr>
    <p:cSldViewPr snapToGrid="0">
      <p:cViewPr varScale="1">
        <p:scale>
          <a:sx n="99" d="100"/>
          <a:sy n="99" d="100"/>
        </p:scale>
        <p:origin x="88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713AAD-358D-3544-9067-B5AEB0604B82}" type="datetimeFigureOut">
              <a:rPr lang="en-VN" smtClean="0"/>
              <a:t>31/3/25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EB51A-80AF-0C41-B771-FB32795D9467}" type="slidenum">
              <a:rPr lang="en-VN" smtClean="0"/>
              <a:t>‹#›</a:t>
            </a:fld>
            <a:endParaRPr lang="en-VN"/>
          </a:p>
        </p:txBody>
      </p:sp>
    </p:spTree>
    <p:extLst>
      <p:ext uri="{BB962C8B-B14F-4D97-AF65-F5344CB8AC3E}">
        <p14:creationId xmlns:p14="http://schemas.microsoft.com/office/powerpoint/2010/main" val="256186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Beach – Park practicings</a:t>
            </a:r>
          </a:p>
        </p:txBody>
      </p:sp>
      <p:sp>
        <p:nvSpPr>
          <p:cNvPr id="4" name="Slide Number Placeholder 3"/>
          <p:cNvSpPr>
            <a:spLocks noGrp="1"/>
          </p:cNvSpPr>
          <p:nvPr>
            <p:ph type="sldNum" sz="quarter" idx="5"/>
          </p:nvPr>
        </p:nvSpPr>
        <p:spPr/>
        <p:txBody>
          <a:bodyPr/>
          <a:lstStyle/>
          <a:p>
            <a:fld id="{667EB51A-80AF-0C41-B771-FB32795D9467}" type="slidenum">
              <a:rPr lang="en-VN" smtClean="0"/>
              <a:t>4</a:t>
            </a:fld>
            <a:endParaRPr lang="en-VN"/>
          </a:p>
        </p:txBody>
      </p:sp>
    </p:spTree>
    <p:extLst>
      <p:ext uri="{BB962C8B-B14F-4D97-AF65-F5344CB8AC3E}">
        <p14:creationId xmlns:p14="http://schemas.microsoft.com/office/powerpoint/2010/main" val="1949009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BBBFB-DCB8-7FCA-560E-E2C5ED4334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84E1D-6F82-37E2-0AAC-1F7433B4B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785AF-F321-2D61-E48C-CCC7F729F062}"/>
              </a:ext>
            </a:extLst>
          </p:cNvPr>
          <p:cNvSpPr>
            <a:spLocks noGrp="1"/>
          </p:cNvSpPr>
          <p:nvPr>
            <p:ph type="body" idx="1"/>
          </p:nvPr>
        </p:nvSpPr>
        <p:spPr/>
        <p:txBody>
          <a:bodyPr/>
          <a:lstStyle/>
          <a:p>
            <a:r>
              <a:rPr lang="en-VN" dirty="0"/>
              <a:t>Beach – Park practicings</a:t>
            </a:r>
          </a:p>
        </p:txBody>
      </p:sp>
      <p:sp>
        <p:nvSpPr>
          <p:cNvPr id="4" name="Slide Number Placeholder 3">
            <a:extLst>
              <a:ext uri="{FF2B5EF4-FFF2-40B4-BE49-F238E27FC236}">
                <a16:creationId xmlns:a16="http://schemas.microsoft.com/office/drawing/2014/main" id="{7FD5D7D3-317D-A58D-F2E1-B16477302C0B}"/>
              </a:ext>
            </a:extLst>
          </p:cNvPr>
          <p:cNvSpPr>
            <a:spLocks noGrp="1"/>
          </p:cNvSpPr>
          <p:nvPr>
            <p:ph type="sldNum" sz="quarter" idx="5"/>
          </p:nvPr>
        </p:nvSpPr>
        <p:spPr/>
        <p:txBody>
          <a:bodyPr/>
          <a:lstStyle/>
          <a:p>
            <a:fld id="{667EB51A-80AF-0C41-B771-FB32795D9467}" type="slidenum">
              <a:rPr lang="en-VN" smtClean="0"/>
              <a:t>10</a:t>
            </a:fld>
            <a:endParaRPr lang="en-VN"/>
          </a:p>
        </p:txBody>
      </p:sp>
    </p:spTree>
    <p:extLst>
      <p:ext uri="{BB962C8B-B14F-4D97-AF65-F5344CB8AC3E}">
        <p14:creationId xmlns:p14="http://schemas.microsoft.com/office/powerpoint/2010/main" val="3054053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00" dirty="0">
                <a:effectLst/>
                <a:latin typeface="Cambria" panose="02040503050406030204" pitchFamily="18" charset="0"/>
                <a:ea typeface="Calibri" panose="020F0502020204030204" pitchFamily="34" charset="0"/>
                <a:cs typeface="Times New Roman" panose="02020603050405020304" pitchFamily="18" charset="0"/>
              </a:rPr>
              <a:t>Logistics: </a:t>
            </a:r>
            <a:r>
              <a:rPr lang="en-US" sz="1200" kern="100" dirty="0" err="1">
                <a:effectLst/>
                <a:latin typeface="Cambria" panose="02040503050406030204" pitchFamily="18" charset="0"/>
                <a:ea typeface="Calibri" panose="020F0502020204030204" pitchFamily="34" charset="0"/>
                <a:cs typeface="Times New Roman" panose="02020603050405020304" pitchFamily="18" charset="0"/>
              </a:rPr>
              <a:t>hậu</a:t>
            </a:r>
            <a:r>
              <a:rPr lang="en-US" sz="1200" kern="100" dirty="0">
                <a:effectLst/>
                <a:latin typeface="Cambria" panose="02040503050406030204" pitchFamily="18" charset="0"/>
                <a:ea typeface="Calibri" panose="020F0502020204030204" pitchFamily="34" charset="0"/>
                <a:cs typeface="Times New Roman" panose="02020603050405020304" pitchFamily="18" charset="0"/>
              </a:rPr>
              <a:t> </a:t>
            </a:r>
            <a:r>
              <a:rPr lang="en-US" sz="1200" kern="100" dirty="0" err="1">
                <a:effectLst/>
                <a:latin typeface="Cambria" panose="02040503050406030204" pitchFamily="18" charset="0"/>
                <a:ea typeface="Calibri" panose="020F0502020204030204" pitchFamily="34" charset="0"/>
                <a:cs typeface="Times New Roman" panose="02020603050405020304" pitchFamily="18" charset="0"/>
              </a:rPr>
              <a:t>cần</a:t>
            </a:r>
            <a:endParaRPr lang="en-VN" dirty="0"/>
          </a:p>
        </p:txBody>
      </p:sp>
      <p:sp>
        <p:nvSpPr>
          <p:cNvPr id="4" name="Slide Number Placeholder 3"/>
          <p:cNvSpPr>
            <a:spLocks noGrp="1"/>
          </p:cNvSpPr>
          <p:nvPr>
            <p:ph type="sldNum" sz="quarter" idx="5"/>
          </p:nvPr>
        </p:nvSpPr>
        <p:spPr/>
        <p:txBody>
          <a:bodyPr/>
          <a:lstStyle/>
          <a:p>
            <a:fld id="{667EB51A-80AF-0C41-B771-FB32795D9467}" type="slidenum">
              <a:rPr lang="en-VN" smtClean="0"/>
              <a:t>18</a:t>
            </a:fld>
            <a:endParaRPr lang="en-VN"/>
          </a:p>
        </p:txBody>
      </p:sp>
    </p:spTree>
    <p:extLst>
      <p:ext uri="{BB962C8B-B14F-4D97-AF65-F5344CB8AC3E}">
        <p14:creationId xmlns:p14="http://schemas.microsoft.com/office/powerpoint/2010/main" val="1093741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CC726-B6AE-6BA3-922E-E3D91BA8E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F9A80-0F74-C3F7-0602-83E67FB40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85613-4BA7-B940-D331-3AC1D209FBF6}"/>
              </a:ext>
            </a:extLst>
          </p:cNvPr>
          <p:cNvSpPr>
            <a:spLocks noGrp="1"/>
          </p:cNvSpPr>
          <p:nvPr>
            <p:ph type="body" idx="1"/>
          </p:nvPr>
        </p:nvSpPr>
        <p:spPr/>
        <p:txBody>
          <a:bodyPr/>
          <a:lstStyle/>
          <a:p>
            <a:r>
              <a:rPr lang="en-US" sz="1200" kern="100" dirty="0">
                <a:effectLst/>
                <a:latin typeface="Cambria" panose="02040503050406030204" pitchFamily="18" charset="0"/>
                <a:ea typeface="Calibri" panose="020F0502020204030204" pitchFamily="34" charset="0"/>
                <a:cs typeface="Times New Roman" panose="02020603050405020304" pitchFamily="18" charset="0"/>
              </a:rPr>
              <a:t>Logistics: </a:t>
            </a:r>
            <a:r>
              <a:rPr lang="en-US" sz="1200" kern="100" dirty="0" err="1">
                <a:effectLst/>
                <a:latin typeface="Cambria" panose="02040503050406030204" pitchFamily="18" charset="0"/>
                <a:ea typeface="Calibri" panose="020F0502020204030204" pitchFamily="34" charset="0"/>
                <a:cs typeface="Times New Roman" panose="02020603050405020304" pitchFamily="18" charset="0"/>
              </a:rPr>
              <a:t>hậu</a:t>
            </a:r>
            <a:r>
              <a:rPr lang="en-US" sz="1200" kern="100" dirty="0">
                <a:effectLst/>
                <a:latin typeface="Cambria" panose="02040503050406030204" pitchFamily="18" charset="0"/>
                <a:ea typeface="Calibri" panose="020F0502020204030204" pitchFamily="34" charset="0"/>
                <a:cs typeface="Times New Roman" panose="02020603050405020304" pitchFamily="18" charset="0"/>
              </a:rPr>
              <a:t> </a:t>
            </a:r>
            <a:r>
              <a:rPr lang="en-US" sz="1200" kern="100" dirty="0" err="1">
                <a:effectLst/>
                <a:latin typeface="Cambria" panose="02040503050406030204" pitchFamily="18" charset="0"/>
                <a:ea typeface="Calibri" panose="020F0502020204030204" pitchFamily="34" charset="0"/>
                <a:cs typeface="Times New Roman" panose="02020603050405020304" pitchFamily="18" charset="0"/>
              </a:rPr>
              <a:t>cần</a:t>
            </a:r>
            <a:endParaRPr lang="en-VN" dirty="0"/>
          </a:p>
        </p:txBody>
      </p:sp>
      <p:sp>
        <p:nvSpPr>
          <p:cNvPr id="4" name="Slide Number Placeholder 3">
            <a:extLst>
              <a:ext uri="{FF2B5EF4-FFF2-40B4-BE49-F238E27FC236}">
                <a16:creationId xmlns:a16="http://schemas.microsoft.com/office/drawing/2014/main" id="{C3526ED2-90E5-6C7A-0744-AE811FFCF329}"/>
              </a:ext>
            </a:extLst>
          </p:cNvPr>
          <p:cNvSpPr>
            <a:spLocks noGrp="1"/>
          </p:cNvSpPr>
          <p:nvPr>
            <p:ph type="sldNum" sz="quarter" idx="5"/>
          </p:nvPr>
        </p:nvSpPr>
        <p:spPr/>
        <p:txBody>
          <a:bodyPr/>
          <a:lstStyle/>
          <a:p>
            <a:fld id="{667EB51A-80AF-0C41-B771-FB32795D9467}" type="slidenum">
              <a:rPr lang="en-VN" smtClean="0"/>
              <a:t>19</a:t>
            </a:fld>
            <a:endParaRPr lang="en-VN"/>
          </a:p>
        </p:txBody>
      </p:sp>
    </p:spTree>
    <p:extLst>
      <p:ext uri="{BB962C8B-B14F-4D97-AF65-F5344CB8AC3E}">
        <p14:creationId xmlns:p14="http://schemas.microsoft.com/office/powerpoint/2010/main" val="2821460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29685-66B2-02EA-FF49-13EE07CFB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811E0-8F05-7D4D-14D4-857BADA1F2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0F20C-F737-BD7B-3858-366D65309276}"/>
              </a:ext>
            </a:extLst>
          </p:cNvPr>
          <p:cNvSpPr>
            <a:spLocks noGrp="1"/>
          </p:cNvSpPr>
          <p:nvPr>
            <p:ph type="body" idx="1"/>
          </p:nvPr>
        </p:nvSpPr>
        <p:spPr/>
        <p:txBody>
          <a:bodyPr/>
          <a:lstStyle/>
          <a:p>
            <a:r>
              <a:rPr lang="en-US" sz="1200" kern="100" dirty="0">
                <a:effectLst/>
                <a:latin typeface="Cambria" panose="02040503050406030204" pitchFamily="18" charset="0"/>
                <a:ea typeface="Calibri" panose="020F0502020204030204" pitchFamily="34" charset="0"/>
                <a:cs typeface="Times New Roman" panose="02020603050405020304" pitchFamily="18" charset="0"/>
              </a:rPr>
              <a:t>Logistics: </a:t>
            </a:r>
            <a:r>
              <a:rPr lang="en-US" sz="1200" kern="100" dirty="0" err="1">
                <a:effectLst/>
                <a:latin typeface="Cambria" panose="02040503050406030204" pitchFamily="18" charset="0"/>
                <a:ea typeface="Calibri" panose="020F0502020204030204" pitchFamily="34" charset="0"/>
                <a:cs typeface="Times New Roman" panose="02020603050405020304" pitchFamily="18" charset="0"/>
              </a:rPr>
              <a:t>hậu</a:t>
            </a:r>
            <a:r>
              <a:rPr lang="en-US" sz="1200" kern="100" dirty="0">
                <a:effectLst/>
                <a:latin typeface="Cambria" panose="02040503050406030204" pitchFamily="18" charset="0"/>
                <a:ea typeface="Calibri" panose="020F0502020204030204" pitchFamily="34" charset="0"/>
                <a:cs typeface="Times New Roman" panose="02020603050405020304" pitchFamily="18" charset="0"/>
              </a:rPr>
              <a:t> </a:t>
            </a:r>
            <a:r>
              <a:rPr lang="en-US" sz="1200" kern="100" dirty="0" err="1">
                <a:effectLst/>
                <a:latin typeface="Cambria" panose="02040503050406030204" pitchFamily="18" charset="0"/>
                <a:ea typeface="Calibri" panose="020F0502020204030204" pitchFamily="34" charset="0"/>
                <a:cs typeface="Times New Roman" panose="02020603050405020304" pitchFamily="18" charset="0"/>
              </a:rPr>
              <a:t>cần</a:t>
            </a:r>
            <a:endParaRPr lang="en-VN" dirty="0"/>
          </a:p>
        </p:txBody>
      </p:sp>
      <p:sp>
        <p:nvSpPr>
          <p:cNvPr id="4" name="Slide Number Placeholder 3">
            <a:extLst>
              <a:ext uri="{FF2B5EF4-FFF2-40B4-BE49-F238E27FC236}">
                <a16:creationId xmlns:a16="http://schemas.microsoft.com/office/drawing/2014/main" id="{1DF31C3B-341A-0F47-B5AE-7CE8223249C9}"/>
              </a:ext>
            </a:extLst>
          </p:cNvPr>
          <p:cNvSpPr>
            <a:spLocks noGrp="1"/>
          </p:cNvSpPr>
          <p:nvPr>
            <p:ph type="sldNum" sz="quarter" idx="5"/>
          </p:nvPr>
        </p:nvSpPr>
        <p:spPr/>
        <p:txBody>
          <a:bodyPr/>
          <a:lstStyle/>
          <a:p>
            <a:fld id="{667EB51A-80AF-0C41-B771-FB32795D9467}" type="slidenum">
              <a:rPr lang="en-VN" smtClean="0"/>
              <a:t>20</a:t>
            </a:fld>
            <a:endParaRPr lang="en-VN"/>
          </a:p>
        </p:txBody>
      </p:sp>
    </p:spTree>
    <p:extLst>
      <p:ext uri="{BB962C8B-B14F-4D97-AF65-F5344CB8AC3E}">
        <p14:creationId xmlns:p14="http://schemas.microsoft.com/office/powerpoint/2010/main" val="1787151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Friendship would be the on top one</a:t>
            </a:r>
          </a:p>
          <a:p>
            <a:endParaRPr lang="en-VN" dirty="0"/>
          </a:p>
        </p:txBody>
      </p:sp>
      <p:sp>
        <p:nvSpPr>
          <p:cNvPr id="4" name="Slide Number Placeholder 3"/>
          <p:cNvSpPr>
            <a:spLocks noGrp="1"/>
          </p:cNvSpPr>
          <p:nvPr>
            <p:ph type="sldNum" sz="quarter" idx="5"/>
          </p:nvPr>
        </p:nvSpPr>
        <p:spPr/>
        <p:txBody>
          <a:bodyPr/>
          <a:lstStyle/>
          <a:p>
            <a:fld id="{667EB51A-80AF-0C41-B771-FB32795D9467}" type="slidenum">
              <a:rPr lang="en-VN" smtClean="0"/>
              <a:t>22</a:t>
            </a:fld>
            <a:endParaRPr lang="en-VN"/>
          </a:p>
        </p:txBody>
      </p:sp>
    </p:spTree>
    <p:extLst>
      <p:ext uri="{BB962C8B-B14F-4D97-AF65-F5344CB8AC3E}">
        <p14:creationId xmlns:p14="http://schemas.microsoft.com/office/powerpoint/2010/main" val="2833948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6694-1EED-4788-1451-50D972D39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34099-7459-4E49-9230-37A3B44F19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5AA4B-595F-EC5D-11D8-3D35B6D16C3A}"/>
              </a:ext>
            </a:extLst>
          </p:cNvPr>
          <p:cNvSpPr>
            <a:spLocks noGrp="1"/>
          </p:cNvSpPr>
          <p:nvPr>
            <p:ph type="body" idx="1"/>
          </p:nvPr>
        </p:nvSpPr>
        <p:spPr/>
        <p:txBody>
          <a:bodyPr/>
          <a:lstStyle/>
          <a:p>
            <a:r>
              <a:rPr lang="en-VN" dirty="0"/>
              <a:t>Friendship would be the on top one</a:t>
            </a:r>
          </a:p>
          <a:p>
            <a:endParaRPr lang="en-VN" dirty="0"/>
          </a:p>
        </p:txBody>
      </p:sp>
      <p:sp>
        <p:nvSpPr>
          <p:cNvPr id="4" name="Slide Number Placeholder 3">
            <a:extLst>
              <a:ext uri="{FF2B5EF4-FFF2-40B4-BE49-F238E27FC236}">
                <a16:creationId xmlns:a16="http://schemas.microsoft.com/office/drawing/2014/main" id="{A337AF56-0424-9130-CDAF-5A728F067F5A}"/>
              </a:ext>
            </a:extLst>
          </p:cNvPr>
          <p:cNvSpPr>
            <a:spLocks noGrp="1"/>
          </p:cNvSpPr>
          <p:nvPr>
            <p:ph type="sldNum" sz="quarter" idx="5"/>
          </p:nvPr>
        </p:nvSpPr>
        <p:spPr/>
        <p:txBody>
          <a:bodyPr/>
          <a:lstStyle/>
          <a:p>
            <a:fld id="{667EB51A-80AF-0C41-B771-FB32795D9467}" type="slidenum">
              <a:rPr lang="en-VN" smtClean="0"/>
              <a:t>24</a:t>
            </a:fld>
            <a:endParaRPr lang="en-VN"/>
          </a:p>
        </p:txBody>
      </p:sp>
    </p:spTree>
    <p:extLst>
      <p:ext uri="{BB962C8B-B14F-4D97-AF65-F5344CB8AC3E}">
        <p14:creationId xmlns:p14="http://schemas.microsoft.com/office/powerpoint/2010/main" val="1003489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PUS: pre-university student</a:t>
            </a:r>
          </a:p>
        </p:txBody>
      </p:sp>
      <p:sp>
        <p:nvSpPr>
          <p:cNvPr id="4" name="Slide Number Placeholder 3"/>
          <p:cNvSpPr>
            <a:spLocks noGrp="1"/>
          </p:cNvSpPr>
          <p:nvPr>
            <p:ph type="sldNum" sz="quarter" idx="5"/>
          </p:nvPr>
        </p:nvSpPr>
        <p:spPr/>
        <p:txBody>
          <a:bodyPr/>
          <a:lstStyle/>
          <a:p>
            <a:fld id="{667EB51A-80AF-0C41-B771-FB32795D9467}" type="slidenum">
              <a:rPr lang="en-VN" smtClean="0"/>
              <a:t>26</a:t>
            </a:fld>
            <a:endParaRPr lang="en-VN"/>
          </a:p>
        </p:txBody>
      </p:sp>
    </p:spTree>
    <p:extLst>
      <p:ext uri="{BB962C8B-B14F-4D97-AF65-F5344CB8AC3E}">
        <p14:creationId xmlns:p14="http://schemas.microsoft.com/office/powerpoint/2010/main" val="1411961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C9E85-5BF9-36BF-2F31-AD8690B72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78AE3-9EAE-222A-4379-3AD56209C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ECC3B-4C23-DEE8-8788-05B7A742981E}"/>
              </a:ext>
            </a:extLst>
          </p:cNvPr>
          <p:cNvSpPr>
            <a:spLocks noGrp="1"/>
          </p:cNvSpPr>
          <p:nvPr>
            <p:ph type="body" idx="1"/>
          </p:nvPr>
        </p:nvSpPr>
        <p:spPr/>
        <p:txBody>
          <a:bodyPr/>
          <a:lstStyle/>
          <a:p>
            <a:r>
              <a:rPr lang="en-VN" dirty="0"/>
              <a:t>Friendship would be the on top one</a:t>
            </a:r>
          </a:p>
          <a:p>
            <a:endParaRPr lang="en-VN" dirty="0"/>
          </a:p>
        </p:txBody>
      </p:sp>
      <p:sp>
        <p:nvSpPr>
          <p:cNvPr id="4" name="Slide Number Placeholder 3">
            <a:extLst>
              <a:ext uri="{FF2B5EF4-FFF2-40B4-BE49-F238E27FC236}">
                <a16:creationId xmlns:a16="http://schemas.microsoft.com/office/drawing/2014/main" id="{97833F50-2343-829B-1283-5CEF4732859F}"/>
              </a:ext>
            </a:extLst>
          </p:cNvPr>
          <p:cNvSpPr>
            <a:spLocks noGrp="1"/>
          </p:cNvSpPr>
          <p:nvPr>
            <p:ph type="sldNum" sz="quarter" idx="5"/>
          </p:nvPr>
        </p:nvSpPr>
        <p:spPr/>
        <p:txBody>
          <a:bodyPr/>
          <a:lstStyle/>
          <a:p>
            <a:fld id="{667EB51A-80AF-0C41-B771-FB32795D9467}" type="slidenum">
              <a:rPr lang="en-VN" smtClean="0"/>
              <a:t>28</a:t>
            </a:fld>
            <a:endParaRPr lang="en-VN"/>
          </a:p>
        </p:txBody>
      </p:sp>
    </p:spTree>
    <p:extLst>
      <p:ext uri="{BB962C8B-B14F-4D97-AF65-F5344CB8AC3E}">
        <p14:creationId xmlns:p14="http://schemas.microsoft.com/office/powerpoint/2010/main" val="3398624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7AA46-1D9B-55A4-C4C1-FEE3CBFD9A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7E258D5D-17EC-B977-9669-5FFED19164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09383B0A-62F3-C029-F10F-19D0D89CA871}"/>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5" name="Footer Placeholder 4">
            <a:extLst>
              <a:ext uri="{FF2B5EF4-FFF2-40B4-BE49-F238E27FC236}">
                <a16:creationId xmlns:a16="http://schemas.microsoft.com/office/drawing/2014/main" id="{B6E076F4-5B5F-2017-3EBE-FBC9AC64FD1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B76B11B-34EC-A265-E4E3-5ED5B50804C6}"/>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1078024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F966-0420-9DA5-0164-957F2FDCEAB8}"/>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56864D9B-6332-9218-ABF9-99DA9283AE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5A6CD296-7DD7-1933-0662-9A9543111D5A}"/>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5" name="Footer Placeholder 4">
            <a:extLst>
              <a:ext uri="{FF2B5EF4-FFF2-40B4-BE49-F238E27FC236}">
                <a16:creationId xmlns:a16="http://schemas.microsoft.com/office/drawing/2014/main" id="{1FFA3267-ACC3-5055-7DB0-F50D8A4B494E}"/>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B0450A01-56A1-2F4E-752E-EDA95BFE9CD6}"/>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12506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11C8C-B939-5143-9F9C-47F554785F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3C3AC4CD-2798-7407-6015-5FFD309E87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AEAE25-2EB9-1EE4-8DD2-AF6D88748013}"/>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5" name="Footer Placeholder 4">
            <a:extLst>
              <a:ext uri="{FF2B5EF4-FFF2-40B4-BE49-F238E27FC236}">
                <a16:creationId xmlns:a16="http://schemas.microsoft.com/office/drawing/2014/main" id="{72CF78E6-57C7-B5D3-90EF-DCAC57ED60D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1A15C3CB-D573-1479-DFD2-246E9D4DC8BB}"/>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2640006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ABDB0-0C1F-9AF3-2FC8-3FBC965CCAEC}"/>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F0C83D6D-CE9B-492D-BD93-226CBF8857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C556EC91-96CB-334E-FD64-5E64663D33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EF0F0AD1-B9F9-79D4-1A82-C13C6B69CF3D}"/>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6" name="Footer Placeholder 5">
            <a:extLst>
              <a:ext uri="{FF2B5EF4-FFF2-40B4-BE49-F238E27FC236}">
                <a16:creationId xmlns:a16="http://schemas.microsoft.com/office/drawing/2014/main" id="{3DBC9F22-B722-0EBF-38DD-1FF4497E150B}"/>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828D814D-B622-03F5-5E6D-E56C020A30B2}"/>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2719886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0250C-3A49-9513-488D-D510B2C7CD2C}"/>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C792DB6B-C471-7F78-CF23-2A2A00F80A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3E302E-B23F-2E2A-80C2-6E55DDB513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4745F332-F151-053A-0A98-91D1C9C9BD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A2076D-E771-7AAA-ED48-9AB8D2EFF6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86766D25-5AF6-641A-82F2-482488E083CD}"/>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8" name="Footer Placeholder 7">
            <a:extLst>
              <a:ext uri="{FF2B5EF4-FFF2-40B4-BE49-F238E27FC236}">
                <a16:creationId xmlns:a16="http://schemas.microsoft.com/office/drawing/2014/main" id="{3A4C4116-B1D4-C0DB-B495-8D1CB68192D6}"/>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E9918FFF-F853-1B43-11D1-54D1D459DCFD}"/>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1944395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A477-0C7B-AFC9-C224-7C2687C0AE98}"/>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7C8ED533-95A0-65DC-3B73-C76AA9D217C9}"/>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4" name="Footer Placeholder 3">
            <a:extLst>
              <a:ext uri="{FF2B5EF4-FFF2-40B4-BE49-F238E27FC236}">
                <a16:creationId xmlns:a16="http://schemas.microsoft.com/office/drawing/2014/main" id="{E8D6270A-3309-AC81-1BFB-C619E46E8187}"/>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2C9A7F79-0229-D1E6-96D8-9ED504368544}"/>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3469669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22FB57-AA0A-3222-B9CE-1DC3ECB60FC7}"/>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3" name="Footer Placeholder 2">
            <a:extLst>
              <a:ext uri="{FF2B5EF4-FFF2-40B4-BE49-F238E27FC236}">
                <a16:creationId xmlns:a16="http://schemas.microsoft.com/office/drawing/2014/main" id="{45ECCD9F-6C55-A97C-EF51-8EAF8932644A}"/>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AC61C41D-8D4C-03E7-B86B-A9AAB045AA14}"/>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301698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B2DC-CDA9-994C-F601-A0449716D0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40FB724D-416A-9486-DFF4-DBB622CE99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EC93A434-6794-E773-F7C5-CD58D9B8AE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699F6F-4AD7-9B55-0B55-4D414AE87C1D}"/>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6" name="Footer Placeholder 5">
            <a:extLst>
              <a:ext uri="{FF2B5EF4-FFF2-40B4-BE49-F238E27FC236}">
                <a16:creationId xmlns:a16="http://schemas.microsoft.com/office/drawing/2014/main" id="{784A37FE-8117-06FF-0A56-41AE7F2AEF2E}"/>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064D3EE-13D2-CC71-591D-F34742F26B2D}"/>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3418441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ECD3-1652-0C30-7EEE-6E917DA6F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51C56CBF-F8EF-E248-A8BE-838A2BF961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0F305FDD-C988-F063-8D93-281286ABD4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ABDEEA-34B1-50C3-8099-9919FEFA612A}"/>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6" name="Footer Placeholder 5">
            <a:extLst>
              <a:ext uri="{FF2B5EF4-FFF2-40B4-BE49-F238E27FC236}">
                <a16:creationId xmlns:a16="http://schemas.microsoft.com/office/drawing/2014/main" id="{8D187C47-13BB-C051-583A-F7F04F57566A}"/>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CC431C10-B4F8-2107-5932-A51F419E6913}"/>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3452156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243C7-F609-E2E5-7FEA-C1E4E0C3B2F7}"/>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6969227-A1E8-4199-9A01-BF0EEBC62A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57154043-979F-13E6-AF92-0388E48E36F9}"/>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5" name="Footer Placeholder 4">
            <a:extLst>
              <a:ext uri="{FF2B5EF4-FFF2-40B4-BE49-F238E27FC236}">
                <a16:creationId xmlns:a16="http://schemas.microsoft.com/office/drawing/2014/main" id="{88236B5C-3B89-A39A-B6B7-095A34E197C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1584ADE1-93F1-88B1-1845-04F39DB48585}"/>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257808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C104E1-C41D-87F1-85F2-3DFBD4733E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5328C531-D3F3-BAD3-BF52-E18015A49C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5C743968-4E1E-D122-6F5C-111754F4A45A}"/>
              </a:ext>
            </a:extLst>
          </p:cNvPr>
          <p:cNvSpPr>
            <a:spLocks noGrp="1"/>
          </p:cNvSpPr>
          <p:nvPr>
            <p:ph type="dt" sz="half" idx="10"/>
          </p:nvPr>
        </p:nvSpPr>
        <p:spPr/>
        <p:txBody>
          <a:bodyPr/>
          <a:lstStyle/>
          <a:p>
            <a:fld id="{C20EE97F-F697-9B40-A1AF-3CB466CDD70D}" type="datetimeFigureOut">
              <a:rPr lang="en-VN" smtClean="0"/>
              <a:t>31/3/25</a:t>
            </a:fld>
            <a:endParaRPr lang="en-VN"/>
          </a:p>
        </p:txBody>
      </p:sp>
      <p:sp>
        <p:nvSpPr>
          <p:cNvPr id="5" name="Footer Placeholder 4">
            <a:extLst>
              <a:ext uri="{FF2B5EF4-FFF2-40B4-BE49-F238E27FC236}">
                <a16:creationId xmlns:a16="http://schemas.microsoft.com/office/drawing/2014/main" id="{A1476FAE-93FC-51CF-3C41-2ECD0095AC9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86588253-5652-1844-97C6-4690F383A606}"/>
              </a:ext>
            </a:extLst>
          </p:cNvPr>
          <p:cNvSpPr>
            <a:spLocks noGrp="1"/>
          </p:cNvSpPr>
          <p:nvPr>
            <p:ph type="sldNum" sz="quarter" idx="12"/>
          </p:nvPr>
        </p:nvSpPr>
        <p:spPr/>
        <p:txBody>
          <a:bodyPr/>
          <a:lstStyle/>
          <a:p>
            <a:fld id="{AE0FCAE0-FAEF-7E49-8446-B4658EDECFB6}" type="slidenum">
              <a:rPr lang="en-VN" smtClean="0"/>
              <a:t>‹#›</a:t>
            </a:fld>
            <a:endParaRPr lang="en-VN"/>
          </a:p>
        </p:txBody>
      </p:sp>
    </p:spTree>
    <p:extLst>
      <p:ext uri="{BB962C8B-B14F-4D97-AF65-F5344CB8AC3E}">
        <p14:creationId xmlns:p14="http://schemas.microsoft.com/office/powerpoint/2010/main" val="425044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24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8FC5C6-2A05-C930-D538-465D0B7AC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2C430684-0A2F-E411-E47E-056ABC598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03B6269F-8512-EC10-9665-9B0D76CDE7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0EE97F-F697-9B40-A1AF-3CB466CDD70D}" type="datetimeFigureOut">
              <a:rPr lang="en-VN" smtClean="0"/>
              <a:t>31/3/25</a:t>
            </a:fld>
            <a:endParaRPr lang="en-VN"/>
          </a:p>
        </p:txBody>
      </p:sp>
      <p:sp>
        <p:nvSpPr>
          <p:cNvPr id="5" name="Footer Placeholder 4">
            <a:extLst>
              <a:ext uri="{FF2B5EF4-FFF2-40B4-BE49-F238E27FC236}">
                <a16:creationId xmlns:a16="http://schemas.microsoft.com/office/drawing/2014/main" id="{C2E23D94-5053-4D76-9D1C-BF39437871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FD09FB5F-4838-1367-2880-4B437603E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0FCAE0-FAEF-7E49-8446-B4658EDECFB6}" type="slidenum">
              <a:rPr lang="en-VN" smtClean="0"/>
              <a:t>‹#›</a:t>
            </a:fld>
            <a:endParaRPr lang="en-VN"/>
          </a:p>
        </p:txBody>
      </p:sp>
    </p:spTree>
    <p:extLst>
      <p:ext uri="{BB962C8B-B14F-4D97-AF65-F5344CB8AC3E}">
        <p14:creationId xmlns:p14="http://schemas.microsoft.com/office/powerpoint/2010/main" val="4135080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3.jpeg"/><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g"/><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6104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205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6263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97FC6E-98F6-B5EB-111A-424215C3E46C}"/>
              </a:ext>
            </a:extLst>
          </p:cNvPr>
          <p:cNvPicPr>
            <a:picLocks noChangeAspect="1"/>
          </p:cNvPicPr>
          <p:nvPr/>
        </p:nvPicPr>
        <p:blipFill>
          <a:blip r:embed="rId3"/>
          <a:srcRect t="43333"/>
          <a:stretch/>
        </p:blipFill>
        <p:spPr>
          <a:xfrm>
            <a:off x="552451" y="1707777"/>
            <a:ext cx="5588438" cy="4222376"/>
          </a:xfrm>
          <a:prstGeom prst="rect">
            <a:avLst/>
          </a:prstGeom>
        </p:spPr>
      </p:pic>
      <p:sp>
        <p:nvSpPr>
          <p:cNvPr id="6" name="TextBox 5">
            <a:extLst>
              <a:ext uri="{FF2B5EF4-FFF2-40B4-BE49-F238E27FC236}">
                <a16:creationId xmlns:a16="http://schemas.microsoft.com/office/drawing/2014/main" id="{A5501F36-6315-FC40-61CB-916201881B0C}"/>
              </a:ext>
            </a:extLst>
          </p:cNvPr>
          <p:cNvSpPr txBox="1"/>
          <p:nvPr/>
        </p:nvSpPr>
        <p:spPr>
          <a:xfrm>
            <a:off x="552451" y="573904"/>
            <a:ext cx="4482509" cy="707886"/>
          </a:xfrm>
          <a:prstGeom prst="rect">
            <a:avLst/>
          </a:prstGeom>
          <a:noFill/>
        </p:spPr>
        <p:txBody>
          <a:bodyPr wrap="none" rtlCol="0">
            <a:spAutoFit/>
          </a:bodyPr>
          <a:lstStyle/>
          <a:p>
            <a:r>
              <a:rPr lang="en-VN" sz="4000" b="1" dirty="0">
                <a:latin typeface="Britannic Bold" panose="020B0903060703020204" pitchFamily="34" charset="77"/>
              </a:rPr>
              <a:t>Core Members: 4T</a:t>
            </a:r>
          </a:p>
        </p:txBody>
      </p:sp>
      <p:sp>
        <p:nvSpPr>
          <p:cNvPr id="7" name="TextBox 6">
            <a:extLst>
              <a:ext uri="{FF2B5EF4-FFF2-40B4-BE49-F238E27FC236}">
                <a16:creationId xmlns:a16="http://schemas.microsoft.com/office/drawing/2014/main" id="{885D4B69-3250-31F1-E5CD-C3EE6138118C}"/>
              </a:ext>
            </a:extLst>
          </p:cNvPr>
          <p:cNvSpPr txBox="1"/>
          <p:nvPr/>
        </p:nvSpPr>
        <p:spPr>
          <a:xfrm>
            <a:off x="6985711" y="927847"/>
            <a:ext cx="4653838" cy="707886"/>
          </a:xfrm>
          <a:prstGeom prst="rect">
            <a:avLst/>
          </a:prstGeom>
          <a:noFill/>
        </p:spPr>
        <p:txBody>
          <a:bodyPr wrap="none" rtlCol="0">
            <a:spAutoFit/>
          </a:bodyPr>
          <a:lstStyle/>
          <a:p>
            <a:r>
              <a:rPr lang="en-VN" sz="4000" dirty="0">
                <a:latin typeface="Britannic Bold" panose="020B0903060703020204" pitchFamily="34" charset="77"/>
              </a:rPr>
              <a:t>Captain: Ngoc Trieu</a:t>
            </a:r>
          </a:p>
        </p:txBody>
      </p:sp>
      <p:sp>
        <p:nvSpPr>
          <p:cNvPr id="8" name="TextBox 7">
            <a:extLst>
              <a:ext uri="{FF2B5EF4-FFF2-40B4-BE49-F238E27FC236}">
                <a16:creationId xmlns:a16="http://schemas.microsoft.com/office/drawing/2014/main" id="{53D2EA96-4921-E572-4238-4FEF6135E096}"/>
              </a:ext>
            </a:extLst>
          </p:cNvPr>
          <p:cNvSpPr txBox="1"/>
          <p:nvPr/>
        </p:nvSpPr>
        <p:spPr>
          <a:xfrm>
            <a:off x="6985711" y="2477301"/>
            <a:ext cx="4653838" cy="707886"/>
          </a:xfrm>
          <a:prstGeom prst="rect">
            <a:avLst/>
          </a:prstGeom>
          <a:noFill/>
        </p:spPr>
        <p:txBody>
          <a:bodyPr wrap="square" rtlCol="0">
            <a:spAutoFit/>
          </a:bodyPr>
          <a:lstStyle/>
          <a:p>
            <a:r>
              <a:rPr lang="en-VN" sz="4000" dirty="0">
                <a:latin typeface="Britannic Bold" panose="020B0903060703020204" pitchFamily="34" charset="77"/>
              </a:rPr>
              <a:t>Coach: Xuan Trang</a:t>
            </a:r>
          </a:p>
        </p:txBody>
      </p:sp>
      <p:sp>
        <p:nvSpPr>
          <p:cNvPr id="9" name="TextBox 8">
            <a:extLst>
              <a:ext uri="{FF2B5EF4-FFF2-40B4-BE49-F238E27FC236}">
                <a16:creationId xmlns:a16="http://schemas.microsoft.com/office/drawing/2014/main" id="{3DB000AF-2D2F-C84D-4E5A-1D90FA9C7AC9}"/>
              </a:ext>
            </a:extLst>
          </p:cNvPr>
          <p:cNvSpPr txBox="1"/>
          <p:nvPr/>
        </p:nvSpPr>
        <p:spPr>
          <a:xfrm>
            <a:off x="6985711" y="4026755"/>
            <a:ext cx="4653838" cy="707886"/>
          </a:xfrm>
          <a:prstGeom prst="rect">
            <a:avLst/>
          </a:prstGeom>
          <a:noFill/>
        </p:spPr>
        <p:txBody>
          <a:bodyPr wrap="square" rtlCol="0">
            <a:spAutoFit/>
          </a:bodyPr>
          <a:lstStyle/>
          <a:p>
            <a:r>
              <a:rPr lang="en-VN" sz="4000" dirty="0">
                <a:latin typeface="Britannic Bold" panose="020B0903060703020204" pitchFamily="34" charset="77"/>
              </a:rPr>
              <a:t>Media: Anh Tuan</a:t>
            </a:r>
          </a:p>
        </p:txBody>
      </p:sp>
      <p:sp>
        <p:nvSpPr>
          <p:cNvPr id="10" name="TextBox 9">
            <a:extLst>
              <a:ext uri="{FF2B5EF4-FFF2-40B4-BE49-F238E27FC236}">
                <a16:creationId xmlns:a16="http://schemas.microsoft.com/office/drawing/2014/main" id="{6E2746FA-5579-EBF9-7BFF-7D4732161B97}"/>
              </a:ext>
            </a:extLst>
          </p:cNvPr>
          <p:cNvSpPr txBox="1"/>
          <p:nvPr/>
        </p:nvSpPr>
        <p:spPr>
          <a:xfrm>
            <a:off x="6985711" y="5576210"/>
            <a:ext cx="4653838" cy="707886"/>
          </a:xfrm>
          <a:prstGeom prst="rect">
            <a:avLst/>
          </a:prstGeom>
          <a:noFill/>
        </p:spPr>
        <p:txBody>
          <a:bodyPr wrap="square" rtlCol="0">
            <a:spAutoFit/>
          </a:bodyPr>
          <a:lstStyle/>
          <a:p>
            <a:r>
              <a:rPr lang="en-VN" sz="4000" dirty="0">
                <a:latin typeface="Britannic Bold" panose="020B0903060703020204" pitchFamily="34" charset="77"/>
              </a:rPr>
              <a:t>Huddle: Viet Tan</a:t>
            </a:r>
          </a:p>
        </p:txBody>
      </p:sp>
    </p:spTree>
    <p:extLst>
      <p:ext uri="{BB962C8B-B14F-4D97-AF65-F5344CB8AC3E}">
        <p14:creationId xmlns:p14="http://schemas.microsoft.com/office/powerpoint/2010/main" val="15782345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04B7021-E7BE-0CA5-88ED-FF841F105488}"/>
              </a:ext>
            </a:extLst>
          </p:cNvPr>
          <p:cNvSpPr/>
          <p:nvPr/>
        </p:nvSpPr>
        <p:spPr>
          <a:xfrm>
            <a:off x="242045" y="2299447"/>
            <a:ext cx="2259106" cy="225910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VN" sz="6000" dirty="0">
                <a:latin typeface="Britannic Bold" panose="020B0903060703020204" pitchFamily="34" charset="77"/>
              </a:rPr>
              <a:t>NTC</a:t>
            </a:r>
          </a:p>
        </p:txBody>
      </p:sp>
      <p:sp>
        <p:nvSpPr>
          <p:cNvPr id="5" name="Oval 4">
            <a:extLst>
              <a:ext uri="{FF2B5EF4-FFF2-40B4-BE49-F238E27FC236}">
                <a16:creationId xmlns:a16="http://schemas.microsoft.com/office/drawing/2014/main" id="{EE4CC08D-7163-C74F-1FAF-D3B07FFC855D}"/>
              </a:ext>
            </a:extLst>
          </p:cNvPr>
          <p:cNvSpPr/>
          <p:nvPr/>
        </p:nvSpPr>
        <p:spPr>
          <a:xfrm>
            <a:off x="3157816" y="2021541"/>
            <a:ext cx="2814918" cy="281491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VN" sz="5000" dirty="0">
                <a:latin typeface="Britannic Bold" panose="020B0903060703020204" pitchFamily="34" charset="77"/>
              </a:rPr>
              <a:t>Every</a:t>
            </a:r>
          </a:p>
          <a:p>
            <a:pPr algn="ctr"/>
            <a:r>
              <a:rPr lang="en-VN" sz="5000" dirty="0">
                <a:latin typeface="Britannic Bold" panose="020B0903060703020204" pitchFamily="34" charset="77"/>
              </a:rPr>
              <a:t>Camp</a:t>
            </a:r>
          </a:p>
        </p:txBody>
      </p:sp>
      <p:sp>
        <p:nvSpPr>
          <p:cNvPr id="6" name="Oval 5">
            <a:extLst>
              <a:ext uri="{FF2B5EF4-FFF2-40B4-BE49-F238E27FC236}">
                <a16:creationId xmlns:a16="http://schemas.microsoft.com/office/drawing/2014/main" id="{71C93389-F35E-6739-057E-6FF40836D974}"/>
              </a:ext>
            </a:extLst>
          </p:cNvPr>
          <p:cNvSpPr/>
          <p:nvPr/>
        </p:nvSpPr>
        <p:spPr>
          <a:xfrm>
            <a:off x="6629400" y="434787"/>
            <a:ext cx="2259106" cy="225910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VN" sz="4400" dirty="0">
                <a:latin typeface="Britannic Bold" panose="020B0903060703020204" pitchFamily="34" charset="77"/>
              </a:rPr>
              <a:t>NTC</a:t>
            </a:r>
          </a:p>
        </p:txBody>
      </p:sp>
      <p:sp>
        <p:nvSpPr>
          <p:cNvPr id="7" name="Oval 6">
            <a:extLst>
              <a:ext uri="{FF2B5EF4-FFF2-40B4-BE49-F238E27FC236}">
                <a16:creationId xmlns:a16="http://schemas.microsoft.com/office/drawing/2014/main" id="{32F7836C-E0C3-4B6E-3D7A-A05A5A03F1CD}"/>
              </a:ext>
            </a:extLst>
          </p:cNvPr>
          <p:cNvSpPr/>
          <p:nvPr/>
        </p:nvSpPr>
        <p:spPr>
          <a:xfrm>
            <a:off x="6629400" y="4164107"/>
            <a:ext cx="2259106" cy="22591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4400" dirty="0">
                <a:latin typeface="Britannic Bold" panose="020B0903060703020204" pitchFamily="34" charset="77"/>
              </a:rPr>
              <a:t>4T</a:t>
            </a:r>
          </a:p>
        </p:txBody>
      </p:sp>
      <p:sp>
        <p:nvSpPr>
          <p:cNvPr id="8" name="Oval 7">
            <a:extLst>
              <a:ext uri="{FF2B5EF4-FFF2-40B4-BE49-F238E27FC236}">
                <a16:creationId xmlns:a16="http://schemas.microsoft.com/office/drawing/2014/main" id="{0F51AEDC-5AF9-A07F-BE15-4F409DFAEF73}"/>
              </a:ext>
            </a:extLst>
          </p:cNvPr>
          <p:cNvSpPr/>
          <p:nvPr/>
        </p:nvSpPr>
        <p:spPr>
          <a:xfrm>
            <a:off x="9545172" y="4164107"/>
            <a:ext cx="2259106" cy="225910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4400" dirty="0">
                <a:latin typeface="Britannic Bold" panose="020B0903060703020204" pitchFamily="34" charset="77"/>
              </a:rPr>
              <a:t>Spirit</a:t>
            </a:r>
          </a:p>
        </p:txBody>
      </p:sp>
      <p:cxnSp>
        <p:nvCxnSpPr>
          <p:cNvPr id="10" name="Straight Connector 9">
            <a:extLst>
              <a:ext uri="{FF2B5EF4-FFF2-40B4-BE49-F238E27FC236}">
                <a16:creationId xmlns:a16="http://schemas.microsoft.com/office/drawing/2014/main" id="{89EDB58D-FCEB-0AE0-82D7-710656A1EE0D}"/>
              </a:ext>
            </a:extLst>
          </p:cNvPr>
          <p:cNvCxnSpPr>
            <a:stCxn id="4" idx="6"/>
            <a:endCxn id="5" idx="2"/>
          </p:cNvCxnSpPr>
          <p:nvPr/>
        </p:nvCxnSpPr>
        <p:spPr>
          <a:xfrm>
            <a:off x="2501151" y="3429000"/>
            <a:ext cx="65666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E1AFC0D-A71D-6193-9191-C8624F16587C}"/>
              </a:ext>
            </a:extLst>
          </p:cNvPr>
          <p:cNvCxnSpPr>
            <a:cxnSpLocks/>
            <a:stCxn id="6" idx="3"/>
            <a:endCxn id="5" idx="6"/>
          </p:cNvCxnSpPr>
          <p:nvPr/>
        </p:nvCxnSpPr>
        <p:spPr>
          <a:xfrm flipH="1">
            <a:off x="5972734" y="2363055"/>
            <a:ext cx="987504" cy="10659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BC2831F-2C4D-E595-33BE-5857D9DCB160}"/>
              </a:ext>
            </a:extLst>
          </p:cNvPr>
          <p:cNvCxnSpPr>
            <a:cxnSpLocks/>
            <a:stCxn id="7" idx="1"/>
            <a:endCxn id="5" idx="6"/>
          </p:cNvCxnSpPr>
          <p:nvPr/>
        </p:nvCxnSpPr>
        <p:spPr>
          <a:xfrm flipH="1" flipV="1">
            <a:off x="5972734" y="3429000"/>
            <a:ext cx="987504" cy="10659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5C7FFD9-7D98-AAB4-F86F-020D68F6B3C4}"/>
              </a:ext>
            </a:extLst>
          </p:cNvPr>
          <p:cNvCxnSpPr>
            <a:cxnSpLocks/>
            <a:stCxn id="7" idx="6"/>
            <a:endCxn id="8" idx="2"/>
          </p:cNvCxnSpPr>
          <p:nvPr/>
        </p:nvCxnSpPr>
        <p:spPr>
          <a:xfrm>
            <a:off x="8888506" y="5293660"/>
            <a:ext cx="65666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367C604-89C2-56A9-EE20-EED3CD0D38F3}"/>
              </a:ext>
            </a:extLst>
          </p:cNvPr>
          <p:cNvSpPr txBox="1"/>
          <p:nvPr/>
        </p:nvSpPr>
        <p:spPr>
          <a:xfrm>
            <a:off x="241173" y="428703"/>
            <a:ext cx="2310248" cy="707886"/>
          </a:xfrm>
          <a:prstGeom prst="rect">
            <a:avLst/>
          </a:prstGeom>
          <a:noFill/>
        </p:spPr>
        <p:txBody>
          <a:bodyPr wrap="none" rtlCol="0">
            <a:spAutoFit/>
          </a:bodyPr>
          <a:lstStyle/>
          <a:p>
            <a:r>
              <a:rPr lang="en-VN" sz="4000" b="1" dirty="0">
                <a:latin typeface="Britannic Bold" panose="020B0903060703020204" pitchFamily="34" charset="77"/>
              </a:rPr>
              <a:t>Progress</a:t>
            </a:r>
          </a:p>
        </p:txBody>
      </p:sp>
    </p:spTree>
    <p:extLst>
      <p:ext uri="{BB962C8B-B14F-4D97-AF65-F5344CB8AC3E}">
        <p14:creationId xmlns:p14="http://schemas.microsoft.com/office/powerpoint/2010/main" val="1050038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ppt_y</p:attrName>
                                        </p:attrNameLst>
                                      </p:cBhvr>
                                      <p:tavLst>
                                        <p:tav tm="0">
                                          <p:val>
                                            <p:strVal val="#ppt_y+#ppt_h*1.125000"/>
                                          </p:val>
                                        </p:tav>
                                        <p:tav tm="100000">
                                          <p:val>
                                            <p:strVal val="#ppt_y"/>
                                          </p:val>
                                        </p:tav>
                                      </p:tavLst>
                                    </p:anim>
                                    <p:animEffect transition="in" filter="wipe(up)">
                                      <p:cBhvr>
                                        <p:cTn id="8" dur="500"/>
                                        <p:tgtEl>
                                          <p:spTgt spid="21"/>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checkerboard(across)">
                                      <p:cBhvr>
                                        <p:cTn id="25" dur="500"/>
                                        <p:tgtEl>
                                          <p:spTgt spid="11"/>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checkerboard(across)">
                                      <p:cBhvr>
                                        <p:cTn id="28" dur="500"/>
                                        <p:tgtEl>
                                          <p:spTgt spid="6"/>
                                        </p:tgtEl>
                                      </p:cBhvr>
                                    </p:animEffect>
                                  </p:childTnLst>
                                </p:cTn>
                              </p:par>
                              <p:par>
                                <p:cTn id="29" presetID="5" presetClass="entr" presetSubtype="1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heckerboard(across)">
                                      <p:cBhvr>
                                        <p:cTn id="31" dur="500"/>
                                        <p:tgtEl>
                                          <p:spTgt spid="14"/>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checkerboard(across)">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blinds(horizontal)">
                                      <p:cBhvr>
                                        <p:cTn id="39" dur="500"/>
                                        <p:tgtEl>
                                          <p:spTgt spid="8"/>
                                        </p:tgtEl>
                                      </p:cBhvr>
                                    </p:animEffect>
                                  </p:childTnLst>
                                </p:cTn>
                              </p:par>
                              <p:par>
                                <p:cTn id="40" presetID="3" presetClass="entr" presetSubtype="1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linds(horizontal)">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4F29F4-0E32-C176-6248-B2EA0938D830}"/>
              </a:ext>
            </a:extLst>
          </p:cNvPr>
          <p:cNvSpPr/>
          <p:nvPr/>
        </p:nvSpPr>
        <p:spPr>
          <a:xfrm>
            <a:off x="1716574" y="124784"/>
            <a:ext cx="8758852" cy="923330"/>
          </a:xfrm>
          <a:prstGeom prst="rect">
            <a:avLst/>
          </a:prstGeom>
          <a:noFill/>
        </p:spPr>
        <p:txBody>
          <a:bodyPr wrap="square" rtlCol="0">
            <a:spAutoFit/>
          </a:bodyPr>
          <a:lstStyle/>
          <a:p>
            <a:pPr algn="ctr"/>
            <a:r>
              <a:rPr lang="en-US" sz="5400" dirty="0">
                <a:latin typeface="Britannic Bold" panose="020B0903060703020204" pitchFamily="34" charset="77"/>
              </a:rPr>
              <a:t>Why Spirit?</a:t>
            </a:r>
          </a:p>
        </p:txBody>
      </p:sp>
      <p:sp>
        <p:nvSpPr>
          <p:cNvPr id="7" name="TextBox 6">
            <a:extLst>
              <a:ext uri="{FF2B5EF4-FFF2-40B4-BE49-F238E27FC236}">
                <a16:creationId xmlns:a16="http://schemas.microsoft.com/office/drawing/2014/main" id="{27D17B8D-5746-4709-8ACF-131B5E966F92}"/>
              </a:ext>
            </a:extLst>
          </p:cNvPr>
          <p:cNvSpPr txBox="1"/>
          <p:nvPr/>
        </p:nvSpPr>
        <p:spPr>
          <a:xfrm>
            <a:off x="620486" y="1481800"/>
            <a:ext cx="10951028" cy="3894399"/>
          </a:xfrm>
          <a:prstGeom prst="rect">
            <a:avLst/>
          </a:prstGeom>
          <a:noFill/>
        </p:spPr>
        <p:txBody>
          <a:bodyPr wrap="square" rtlCol="0">
            <a:spAutoFit/>
          </a:bodyPr>
          <a:lstStyle/>
          <a:p>
            <a:pPr algn="just">
              <a:lnSpc>
                <a:spcPct val="150000"/>
              </a:lnSpc>
            </a:pPr>
            <a:r>
              <a:rPr lang="vi-VN" sz="2800" dirty="0">
                <a:latin typeface="Calisto MT" panose="02040603050505030304" pitchFamily="18" charset="77"/>
              </a:rPr>
              <a:t>‘Spirit’ relates to the Christianity Community, we are Christians who believe in Jesus Christ and is led by the Holy Spirit so the fundamental values from us based on the teaching of Jesus Christ</a:t>
            </a:r>
            <a:endParaRPr lang="en-US" sz="2800" dirty="0">
              <a:latin typeface="Calisto MT" panose="02040603050505030304" pitchFamily="18" charset="77"/>
            </a:endParaRPr>
          </a:p>
          <a:p>
            <a:pPr algn="just">
              <a:lnSpc>
                <a:spcPct val="150000"/>
              </a:lnSpc>
            </a:pPr>
            <a:endParaRPr lang="vi-VN" sz="2800" dirty="0">
              <a:latin typeface="Calisto MT" panose="02040603050505030304" pitchFamily="18" charset="77"/>
            </a:endParaRPr>
          </a:p>
          <a:p>
            <a:pPr algn="just">
              <a:lnSpc>
                <a:spcPct val="150000"/>
              </a:lnSpc>
            </a:pPr>
            <a:r>
              <a:rPr lang="vi-VN" sz="2800" dirty="0">
                <a:latin typeface="Calisto MT" panose="02040603050505030304" pitchFamily="18" charset="77"/>
              </a:rPr>
              <a:t>‘Spirit’ means for the spirit of the game – most priority while participating in the game – fairness, integrity, peace and friendly.</a:t>
            </a:r>
            <a:endParaRPr lang="en-US" sz="2800" dirty="0">
              <a:latin typeface="Calisto MT" panose="02040603050505030304" pitchFamily="18" charset="77"/>
            </a:endParaRPr>
          </a:p>
        </p:txBody>
      </p:sp>
    </p:spTree>
    <p:extLst>
      <p:ext uri="{BB962C8B-B14F-4D97-AF65-F5344CB8AC3E}">
        <p14:creationId xmlns:p14="http://schemas.microsoft.com/office/powerpoint/2010/main" val="3316693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63BD47-D1CA-600A-EEC8-CDFEC2275D53}"/>
              </a:ext>
            </a:extLst>
          </p:cNvPr>
          <p:cNvPicPr>
            <a:picLocks noChangeAspect="1"/>
          </p:cNvPicPr>
          <p:nvPr/>
        </p:nvPicPr>
        <p:blipFill>
          <a:blip r:embed="rId2"/>
          <a:stretch>
            <a:fillRect/>
          </a:stretch>
        </p:blipFill>
        <p:spPr>
          <a:xfrm>
            <a:off x="315685" y="979714"/>
            <a:ext cx="4898572" cy="4898572"/>
          </a:xfrm>
          <a:prstGeom prst="rect">
            <a:avLst/>
          </a:prstGeom>
        </p:spPr>
      </p:pic>
      <p:pic>
        <p:nvPicPr>
          <p:cNvPr id="7" name="Picture 6">
            <a:extLst>
              <a:ext uri="{FF2B5EF4-FFF2-40B4-BE49-F238E27FC236}">
                <a16:creationId xmlns:a16="http://schemas.microsoft.com/office/drawing/2014/main" id="{0CB82D68-6052-BF60-B29E-DAAC324876FE}"/>
              </a:ext>
            </a:extLst>
          </p:cNvPr>
          <p:cNvPicPr>
            <a:picLocks noChangeAspect="1"/>
          </p:cNvPicPr>
          <p:nvPr/>
        </p:nvPicPr>
        <p:blipFill>
          <a:blip r:embed="rId3"/>
          <a:srcRect l="14699" r="14378"/>
          <a:stretch/>
        </p:blipFill>
        <p:spPr>
          <a:xfrm>
            <a:off x="6667500" y="979714"/>
            <a:ext cx="5208815" cy="4898572"/>
          </a:xfrm>
          <a:prstGeom prst="rect">
            <a:avLst/>
          </a:prstGeom>
        </p:spPr>
      </p:pic>
    </p:spTree>
    <p:extLst>
      <p:ext uri="{BB962C8B-B14F-4D97-AF65-F5344CB8AC3E}">
        <p14:creationId xmlns:p14="http://schemas.microsoft.com/office/powerpoint/2010/main" val="2145521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C449-F495-2ADA-0008-6561B58E19C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769BFAB-D1B2-9375-36AB-C690E718B6EE}"/>
              </a:ext>
            </a:extLst>
          </p:cNvPr>
          <p:cNvPicPr>
            <a:picLocks noChangeAspect="1"/>
          </p:cNvPicPr>
          <p:nvPr/>
        </p:nvPicPr>
        <p:blipFill>
          <a:blip r:embed="rId2"/>
          <a:stretch>
            <a:fillRect/>
          </a:stretch>
        </p:blipFill>
        <p:spPr>
          <a:xfrm>
            <a:off x="2928257" y="261257"/>
            <a:ext cx="6335486" cy="6335486"/>
          </a:xfrm>
          <a:prstGeom prst="rect">
            <a:avLst/>
          </a:prstGeom>
        </p:spPr>
      </p:pic>
    </p:spTree>
    <p:extLst>
      <p:ext uri="{BB962C8B-B14F-4D97-AF65-F5344CB8AC3E}">
        <p14:creationId xmlns:p14="http://schemas.microsoft.com/office/powerpoint/2010/main" val="3619109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2CCB-6412-14E4-D16C-480FAFDFD84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3CC454-AB80-8BAA-9238-A36E715BA330}"/>
              </a:ext>
            </a:extLst>
          </p:cNvPr>
          <p:cNvPicPr>
            <a:picLocks noChangeAspect="1"/>
          </p:cNvPicPr>
          <p:nvPr/>
        </p:nvPicPr>
        <p:blipFill>
          <a:blip r:embed="rId2"/>
          <a:stretch>
            <a:fillRect/>
          </a:stretch>
        </p:blipFill>
        <p:spPr>
          <a:xfrm>
            <a:off x="299259" y="3197567"/>
            <a:ext cx="11593482" cy="3461658"/>
          </a:xfrm>
          <a:prstGeom prst="rect">
            <a:avLst/>
          </a:prstGeom>
        </p:spPr>
      </p:pic>
      <p:pic>
        <p:nvPicPr>
          <p:cNvPr id="6" name="Picture 5">
            <a:extLst>
              <a:ext uri="{FF2B5EF4-FFF2-40B4-BE49-F238E27FC236}">
                <a16:creationId xmlns:a16="http://schemas.microsoft.com/office/drawing/2014/main" id="{7CC9C4D6-F5A2-B7EE-AA65-F3D26656FBE4}"/>
              </a:ext>
            </a:extLst>
          </p:cNvPr>
          <p:cNvPicPr>
            <a:picLocks noChangeAspect="1"/>
          </p:cNvPicPr>
          <p:nvPr/>
        </p:nvPicPr>
        <p:blipFill>
          <a:blip r:embed="rId3"/>
          <a:srcRect t="35476" b="35422"/>
          <a:stretch/>
        </p:blipFill>
        <p:spPr>
          <a:xfrm>
            <a:off x="3767207" y="198775"/>
            <a:ext cx="4657586" cy="2933478"/>
          </a:xfrm>
          <a:prstGeom prst="rect">
            <a:avLst/>
          </a:prstGeom>
        </p:spPr>
      </p:pic>
    </p:spTree>
    <p:extLst>
      <p:ext uri="{BB962C8B-B14F-4D97-AF65-F5344CB8AC3E}">
        <p14:creationId xmlns:p14="http://schemas.microsoft.com/office/powerpoint/2010/main" val="216981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B6C97-1F9D-7DC9-8F7F-E3D625EA66F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89B9CD9-4BFB-A6CC-FB9C-8BE6678C956F}"/>
              </a:ext>
            </a:extLst>
          </p:cNvPr>
          <p:cNvPicPr>
            <a:picLocks noChangeAspect="1"/>
          </p:cNvPicPr>
          <p:nvPr/>
        </p:nvPicPr>
        <p:blipFill>
          <a:blip r:embed="rId3"/>
          <a:stretch>
            <a:fillRect/>
          </a:stretch>
        </p:blipFill>
        <p:spPr>
          <a:xfrm>
            <a:off x="6192572" y="1355272"/>
            <a:ext cx="5708840" cy="3902528"/>
          </a:xfrm>
          <a:prstGeom prst="rect">
            <a:avLst/>
          </a:prstGeom>
        </p:spPr>
      </p:pic>
      <p:pic>
        <p:nvPicPr>
          <p:cNvPr id="13" name="Picture 12">
            <a:extLst>
              <a:ext uri="{FF2B5EF4-FFF2-40B4-BE49-F238E27FC236}">
                <a16:creationId xmlns:a16="http://schemas.microsoft.com/office/drawing/2014/main" id="{03E1100B-3B35-047A-1916-29C4D4E729BD}"/>
              </a:ext>
            </a:extLst>
          </p:cNvPr>
          <p:cNvPicPr>
            <a:picLocks noChangeAspect="1"/>
          </p:cNvPicPr>
          <p:nvPr/>
        </p:nvPicPr>
        <p:blipFill>
          <a:blip r:embed="rId4"/>
          <a:stretch>
            <a:fillRect/>
          </a:stretch>
        </p:blipFill>
        <p:spPr>
          <a:xfrm>
            <a:off x="290588" y="653143"/>
            <a:ext cx="5551714" cy="5551714"/>
          </a:xfrm>
          <a:prstGeom prst="rect">
            <a:avLst/>
          </a:prstGeom>
        </p:spPr>
      </p:pic>
    </p:spTree>
    <p:extLst>
      <p:ext uri="{BB962C8B-B14F-4D97-AF65-F5344CB8AC3E}">
        <p14:creationId xmlns:p14="http://schemas.microsoft.com/office/powerpoint/2010/main" val="1362944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E1B98-FAF0-B693-D33F-2CA36AF2472B}"/>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50919C71-ADB4-6FF5-8B86-1D24EE4C6160}"/>
              </a:ext>
            </a:extLst>
          </p:cNvPr>
          <p:cNvSpPr/>
          <p:nvPr/>
        </p:nvSpPr>
        <p:spPr>
          <a:xfrm>
            <a:off x="1716574" y="124784"/>
            <a:ext cx="8758852" cy="923330"/>
          </a:xfrm>
          <a:prstGeom prst="rect">
            <a:avLst/>
          </a:prstGeom>
          <a:noFill/>
        </p:spPr>
        <p:txBody>
          <a:bodyPr wrap="square" rtlCol="0">
            <a:spAutoFit/>
          </a:bodyPr>
          <a:lstStyle/>
          <a:p>
            <a:pPr algn="ctr"/>
            <a:r>
              <a:rPr lang="en-US" sz="5400" dirty="0">
                <a:latin typeface="Britannic Bold" panose="020B0903060703020204" pitchFamily="34" charset="77"/>
              </a:rPr>
              <a:t>Timeline</a:t>
            </a:r>
          </a:p>
        </p:txBody>
      </p:sp>
      <p:cxnSp>
        <p:nvCxnSpPr>
          <p:cNvPr id="9" name="Straight Connector 8">
            <a:extLst>
              <a:ext uri="{FF2B5EF4-FFF2-40B4-BE49-F238E27FC236}">
                <a16:creationId xmlns:a16="http://schemas.microsoft.com/office/drawing/2014/main" id="{D3E9748C-FAE1-6324-FACD-5CB94ADFCFFF}"/>
              </a:ext>
            </a:extLst>
          </p:cNvPr>
          <p:cNvCxnSpPr>
            <a:cxnSpLocks/>
          </p:cNvCxnSpPr>
          <p:nvPr/>
        </p:nvCxnSpPr>
        <p:spPr>
          <a:xfrm>
            <a:off x="489397" y="3846834"/>
            <a:ext cx="11307651" cy="0"/>
          </a:xfrm>
          <a:prstGeom prst="line">
            <a:avLst/>
          </a:prstGeom>
          <a:ln w="317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9E28507-FADB-AD34-23E7-73CA0BCB3B56}"/>
              </a:ext>
            </a:extLst>
          </p:cNvPr>
          <p:cNvCxnSpPr>
            <a:cxnSpLocks/>
            <a:stCxn id="26" idx="2"/>
          </p:cNvCxnSpPr>
          <p:nvPr/>
        </p:nvCxnSpPr>
        <p:spPr>
          <a:xfrm>
            <a:off x="931476" y="3007860"/>
            <a:ext cx="0" cy="83321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171845D-EB88-C070-88E7-5168B488492F}"/>
              </a:ext>
            </a:extLst>
          </p:cNvPr>
          <p:cNvCxnSpPr/>
          <p:nvPr/>
        </p:nvCxnSpPr>
        <p:spPr>
          <a:xfrm>
            <a:off x="1571223" y="3654330"/>
            <a:ext cx="0" cy="373487"/>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8C00FF-B441-BBEB-8E3E-A98B5486DBB8}"/>
              </a:ext>
            </a:extLst>
          </p:cNvPr>
          <p:cNvCxnSpPr/>
          <p:nvPr/>
        </p:nvCxnSpPr>
        <p:spPr>
          <a:xfrm>
            <a:off x="5508223" y="3656374"/>
            <a:ext cx="0" cy="373487"/>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1B41E56-AA89-F9AB-10F0-D0DD7D01F4A6}"/>
              </a:ext>
            </a:extLst>
          </p:cNvPr>
          <p:cNvCxnSpPr/>
          <p:nvPr/>
        </p:nvCxnSpPr>
        <p:spPr>
          <a:xfrm>
            <a:off x="9445223" y="3654330"/>
            <a:ext cx="0" cy="373487"/>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9944238-E5DE-2F9F-0858-ADCA43F5B182}"/>
              </a:ext>
            </a:extLst>
          </p:cNvPr>
          <p:cNvSpPr txBox="1"/>
          <p:nvPr/>
        </p:nvSpPr>
        <p:spPr>
          <a:xfrm>
            <a:off x="1244851" y="4140325"/>
            <a:ext cx="652743" cy="369332"/>
          </a:xfrm>
          <a:prstGeom prst="rect">
            <a:avLst/>
          </a:prstGeom>
          <a:noFill/>
        </p:spPr>
        <p:txBody>
          <a:bodyPr wrap="none" rtlCol="0">
            <a:spAutoFit/>
          </a:bodyPr>
          <a:lstStyle/>
          <a:p>
            <a:r>
              <a:rPr lang="en-VN" b="1" dirty="0"/>
              <a:t>2023</a:t>
            </a:r>
          </a:p>
        </p:txBody>
      </p:sp>
      <p:sp>
        <p:nvSpPr>
          <p:cNvPr id="23" name="TextBox 22">
            <a:extLst>
              <a:ext uri="{FF2B5EF4-FFF2-40B4-BE49-F238E27FC236}">
                <a16:creationId xmlns:a16="http://schemas.microsoft.com/office/drawing/2014/main" id="{B418E0E0-595A-E111-8331-7238B75F3780}"/>
              </a:ext>
            </a:extLst>
          </p:cNvPr>
          <p:cNvSpPr txBox="1"/>
          <p:nvPr/>
        </p:nvSpPr>
        <p:spPr>
          <a:xfrm>
            <a:off x="5181851" y="4140325"/>
            <a:ext cx="652743" cy="369332"/>
          </a:xfrm>
          <a:prstGeom prst="rect">
            <a:avLst/>
          </a:prstGeom>
          <a:noFill/>
        </p:spPr>
        <p:txBody>
          <a:bodyPr wrap="none" rtlCol="0">
            <a:spAutoFit/>
          </a:bodyPr>
          <a:lstStyle/>
          <a:p>
            <a:r>
              <a:rPr lang="en-VN" b="1" dirty="0"/>
              <a:t>2024</a:t>
            </a:r>
          </a:p>
        </p:txBody>
      </p:sp>
      <p:sp>
        <p:nvSpPr>
          <p:cNvPr id="25" name="TextBox 24">
            <a:extLst>
              <a:ext uri="{FF2B5EF4-FFF2-40B4-BE49-F238E27FC236}">
                <a16:creationId xmlns:a16="http://schemas.microsoft.com/office/drawing/2014/main" id="{CF7A5D44-3178-3839-B9E2-A41964951959}"/>
              </a:ext>
            </a:extLst>
          </p:cNvPr>
          <p:cNvSpPr txBox="1"/>
          <p:nvPr/>
        </p:nvSpPr>
        <p:spPr>
          <a:xfrm>
            <a:off x="9118851" y="4140325"/>
            <a:ext cx="652743" cy="369332"/>
          </a:xfrm>
          <a:prstGeom prst="rect">
            <a:avLst/>
          </a:prstGeom>
          <a:noFill/>
        </p:spPr>
        <p:txBody>
          <a:bodyPr wrap="none" rtlCol="0">
            <a:spAutoFit/>
          </a:bodyPr>
          <a:lstStyle/>
          <a:p>
            <a:r>
              <a:rPr lang="en-VN" b="1" dirty="0"/>
              <a:t>2025</a:t>
            </a:r>
          </a:p>
        </p:txBody>
      </p:sp>
      <p:sp>
        <p:nvSpPr>
          <p:cNvPr id="26" name="Rounded Rectangle 25">
            <a:extLst>
              <a:ext uri="{FF2B5EF4-FFF2-40B4-BE49-F238E27FC236}">
                <a16:creationId xmlns:a16="http://schemas.microsoft.com/office/drawing/2014/main" id="{DA116283-5014-064F-BFF4-EA61142D16A3}"/>
              </a:ext>
            </a:extLst>
          </p:cNvPr>
          <p:cNvSpPr/>
          <p:nvPr/>
        </p:nvSpPr>
        <p:spPr>
          <a:xfrm>
            <a:off x="291728" y="2427490"/>
            <a:ext cx="1279495" cy="58037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11/2022</a:t>
            </a:r>
          </a:p>
          <a:p>
            <a:pPr algn="ctr"/>
            <a:r>
              <a:rPr lang="en-VN" dirty="0">
                <a:latin typeface="Cambria" panose="02040503050406030204" pitchFamily="18" charset="0"/>
              </a:rPr>
              <a:t>Founded</a:t>
            </a:r>
          </a:p>
        </p:txBody>
      </p:sp>
      <p:sp>
        <p:nvSpPr>
          <p:cNvPr id="31" name="Rounded Rectangle 30">
            <a:extLst>
              <a:ext uri="{FF2B5EF4-FFF2-40B4-BE49-F238E27FC236}">
                <a16:creationId xmlns:a16="http://schemas.microsoft.com/office/drawing/2014/main" id="{8A2AF4BD-E061-2CB7-FCFD-EF095AE89905}"/>
              </a:ext>
            </a:extLst>
          </p:cNvPr>
          <p:cNvSpPr/>
          <p:nvPr/>
        </p:nvSpPr>
        <p:spPr>
          <a:xfrm>
            <a:off x="1093743" y="4732901"/>
            <a:ext cx="1497235" cy="70185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January</a:t>
            </a:r>
          </a:p>
          <a:p>
            <a:pPr algn="ctr"/>
            <a:r>
              <a:rPr lang="en-VN" dirty="0">
                <a:latin typeface="Cambria" panose="02040503050406030204" pitchFamily="18" charset="0"/>
              </a:rPr>
              <a:t>DaNa HAT 1</a:t>
            </a:r>
          </a:p>
        </p:txBody>
      </p:sp>
      <p:cxnSp>
        <p:nvCxnSpPr>
          <p:cNvPr id="32" name="Straight Connector 31">
            <a:extLst>
              <a:ext uri="{FF2B5EF4-FFF2-40B4-BE49-F238E27FC236}">
                <a16:creationId xmlns:a16="http://schemas.microsoft.com/office/drawing/2014/main" id="{A455A137-CDB1-F1C4-16B5-3210D171D6CA}"/>
              </a:ext>
            </a:extLst>
          </p:cNvPr>
          <p:cNvCxnSpPr>
            <a:cxnSpLocks/>
            <a:endCxn id="31" idx="0"/>
          </p:cNvCxnSpPr>
          <p:nvPr/>
        </p:nvCxnSpPr>
        <p:spPr>
          <a:xfrm>
            <a:off x="1842361" y="3841073"/>
            <a:ext cx="0" cy="89182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Rounded Rectangle 43">
            <a:extLst>
              <a:ext uri="{FF2B5EF4-FFF2-40B4-BE49-F238E27FC236}">
                <a16:creationId xmlns:a16="http://schemas.microsoft.com/office/drawing/2014/main" id="{D967C952-CAB6-BE9E-3F5C-416EC0C444CF}"/>
              </a:ext>
            </a:extLst>
          </p:cNvPr>
          <p:cNvSpPr/>
          <p:nvPr/>
        </p:nvSpPr>
        <p:spPr>
          <a:xfrm>
            <a:off x="704120" y="1071713"/>
            <a:ext cx="2276481" cy="62733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solidFill>
                  <a:srgbClr val="FF0000"/>
                </a:solidFill>
                <a:latin typeface="Cambria" panose="02040503050406030204" pitchFamily="18" charset="0"/>
              </a:rPr>
              <a:t>January</a:t>
            </a:r>
          </a:p>
          <a:p>
            <a:pPr algn="ctr"/>
            <a:r>
              <a:rPr lang="en-VN" dirty="0">
                <a:solidFill>
                  <a:srgbClr val="FF0000"/>
                </a:solidFill>
                <a:latin typeface="Cambria" panose="02040503050406030204" pitchFamily="18" charset="0"/>
              </a:rPr>
              <a:t>Frist commitments</a:t>
            </a:r>
          </a:p>
        </p:txBody>
      </p:sp>
      <p:cxnSp>
        <p:nvCxnSpPr>
          <p:cNvPr id="47" name="Straight Connector 46">
            <a:extLst>
              <a:ext uri="{FF2B5EF4-FFF2-40B4-BE49-F238E27FC236}">
                <a16:creationId xmlns:a16="http://schemas.microsoft.com/office/drawing/2014/main" id="{38B9A7BE-0D5D-AD3A-9EAF-52BF03034988}"/>
              </a:ext>
            </a:extLst>
          </p:cNvPr>
          <p:cNvCxnSpPr>
            <a:cxnSpLocks/>
            <a:stCxn id="44" idx="2"/>
          </p:cNvCxnSpPr>
          <p:nvPr/>
        </p:nvCxnSpPr>
        <p:spPr>
          <a:xfrm>
            <a:off x="1842361" y="1699043"/>
            <a:ext cx="0" cy="214203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2" name="Rounded Rectangle 51">
            <a:extLst>
              <a:ext uri="{FF2B5EF4-FFF2-40B4-BE49-F238E27FC236}">
                <a16:creationId xmlns:a16="http://schemas.microsoft.com/office/drawing/2014/main" id="{C2F47F27-2E17-D70F-496B-7FFE45F5357D}"/>
              </a:ext>
            </a:extLst>
          </p:cNvPr>
          <p:cNvSpPr/>
          <p:nvPr/>
        </p:nvSpPr>
        <p:spPr>
          <a:xfrm>
            <a:off x="7506712" y="1341604"/>
            <a:ext cx="2276481" cy="76208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August– September</a:t>
            </a:r>
          </a:p>
          <a:p>
            <a:pPr algn="ctr"/>
            <a:r>
              <a:rPr lang="en-VN" dirty="0">
                <a:latin typeface="Cambria" panose="02040503050406030204" pitchFamily="18" charset="0"/>
              </a:rPr>
              <a:t>SeaCup 3</a:t>
            </a:r>
          </a:p>
        </p:txBody>
      </p:sp>
      <p:cxnSp>
        <p:nvCxnSpPr>
          <p:cNvPr id="53" name="Straight Connector 52">
            <a:extLst>
              <a:ext uri="{FF2B5EF4-FFF2-40B4-BE49-F238E27FC236}">
                <a16:creationId xmlns:a16="http://schemas.microsoft.com/office/drawing/2014/main" id="{4BCFCB88-21FB-B80C-6470-FB206658439F}"/>
              </a:ext>
            </a:extLst>
          </p:cNvPr>
          <p:cNvCxnSpPr>
            <a:cxnSpLocks/>
            <a:stCxn id="52" idx="2"/>
          </p:cNvCxnSpPr>
          <p:nvPr/>
        </p:nvCxnSpPr>
        <p:spPr>
          <a:xfrm flipH="1">
            <a:off x="8644952" y="2103686"/>
            <a:ext cx="1" cy="173739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Rounded Rectangle 55">
            <a:extLst>
              <a:ext uri="{FF2B5EF4-FFF2-40B4-BE49-F238E27FC236}">
                <a16:creationId xmlns:a16="http://schemas.microsoft.com/office/drawing/2014/main" id="{17C877C4-9523-07F1-0FF3-BCAFF91BF43A}"/>
              </a:ext>
            </a:extLst>
          </p:cNvPr>
          <p:cNvSpPr/>
          <p:nvPr/>
        </p:nvSpPr>
        <p:spPr>
          <a:xfrm>
            <a:off x="4493120" y="5150229"/>
            <a:ext cx="1497235" cy="58891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December</a:t>
            </a:r>
          </a:p>
          <a:p>
            <a:pPr algn="ctr"/>
            <a:r>
              <a:rPr lang="en-VN" dirty="0">
                <a:latin typeface="Cambria" panose="02040503050406030204" pitchFamily="18" charset="0"/>
              </a:rPr>
              <a:t>Christmas</a:t>
            </a:r>
          </a:p>
        </p:txBody>
      </p:sp>
      <p:cxnSp>
        <p:nvCxnSpPr>
          <p:cNvPr id="57" name="Straight Connector 56">
            <a:extLst>
              <a:ext uri="{FF2B5EF4-FFF2-40B4-BE49-F238E27FC236}">
                <a16:creationId xmlns:a16="http://schemas.microsoft.com/office/drawing/2014/main" id="{B8B1B045-4247-AAFE-0FF7-46CC1E5AA728}"/>
              </a:ext>
            </a:extLst>
          </p:cNvPr>
          <p:cNvCxnSpPr>
            <a:cxnSpLocks/>
            <a:endCxn id="56" idx="0"/>
          </p:cNvCxnSpPr>
          <p:nvPr/>
        </p:nvCxnSpPr>
        <p:spPr>
          <a:xfrm>
            <a:off x="5241737" y="3841073"/>
            <a:ext cx="1" cy="130915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1994E4AE-F65A-A310-6B44-89432E21EE30}"/>
              </a:ext>
            </a:extLst>
          </p:cNvPr>
          <p:cNvSpPr/>
          <p:nvPr/>
        </p:nvSpPr>
        <p:spPr>
          <a:xfrm>
            <a:off x="1655095" y="2689135"/>
            <a:ext cx="1591893" cy="70226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February</a:t>
            </a:r>
          </a:p>
          <a:p>
            <a:pPr algn="ctr"/>
            <a:r>
              <a:rPr lang="en-VN" dirty="0">
                <a:latin typeface="Cambria" panose="02040503050406030204" pitchFamily="18" charset="0"/>
              </a:rPr>
              <a:t>Support NTC</a:t>
            </a:r>
          </a:p>
        </p:txBody>
      </p:sp>
      <p:cxnSp>
        <p:nvCxnSpPr>
          <p:cNvPr id="62" name="Straight Connector 61">
            <a:extLst>
              <a:ext uri="{FF2B5EF4-FFF2-40B4-BE49-F238E27FC236}">
                <a16:creationId xmlns:a16="http://schemas.microsoft.com/office/drawing/2014/main" id="{D22AB0E5-AF81-B7BF-E626-962A9844C929}"/>
              </a:ext>
            </a:extLst>
          </p:cNvPr>
          <p:cNvCxnSpPr>
            <a:cxnSpLocks/>
            <a:stCxn id="61" idx="2"/>
          </p:cNvCxnSpPr>
          <p:nvPr/>
        </p:nvCxnSpPr>
        <p:spPr>
          <a:xfrm>
            <a:off x="2451042" y="3391403"/>
            <a:ext cx="0" cy="46256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6" name="Rounded Rectangle 65">
            <a:extLst>
              <a:ext uri="{FF2B5EF4-FFF2-40B4-BE49-F238E27FC236}">
                <a16:creationId xmlns:a16="http://schemas.microsoft.com/office/drawing/2014/main" id="{8F6AEDAE-FA2B-F9BD-5B94-E4A5A31EB0BB}"/>
              </a:ext>
            </a:extLst>
          </p:cNvPr>
          <p:cNvSpPr/>
          <p:nvPr/>
        </p:nvSpPr>
        <p:spPr>
          <a:xfrm>
            <a:off x="8425958" y="4998773"/>
            <a:ext cx="1497235" cy="64104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December</a:t>
            </a:r>
          </a:p>
          <a:p>
            <a:pPr algn="ctr"/>
            <a:r>
              <a:rPr lang="en-VN" dirty="0">
                <a:latin typeface="Cambria" panose="02040503050406030204" pitchFamily="18" charset="0"/>
              </a:rPr>
              <a:t>Christmas</a:t>
            </a:r>
          </a:p>
        </p:txBody>
      </p:sp>
      <p:cxnSp>
        <p:nvCxnSpPr>
          <p:cNvPr id="67" name="Straight Connector 66">
            <a:extLst>
              <a:ext uri="{FF2B5EF4-FFF2-40B4-BE49-F238E27FC236}">
                <a16:creationId xmlns:a16="http://schemas.microsoft.com/office/drawing/2014/main" id="{A9ACAD20-3893-34AA-8711-74AB93A2A915}"/>
              </a:ext>
            </a:extLst>
          </p:cNvPr>
          <p:cNvCxnSpPr>
            <a:cxnSpLocks/>
            <a:endCxn id="66" idx="0"/>
          </p:cNvCxnSpPr>
          <p:nvPr/>
        </p:nvCxnSpPr>
        <p:spPr>
          <a:xfrm>
            <a:off x="9174576" y="3841072"/>
            <a:ext cx="0" cy="1157701"/>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8" name="Rounded Rectangle 67">
            <a:extLst>
              <a:ext uri="{FF2B5EF4-FFF2-40B4-BE49-F238E27FC236}">
                <a16:creationId xmlns:a16="http://schemas.microsoft.com/office/drawing/2014/main" id="{9042238C-9CC3-6F80-B68A-4A4E9669B927}"/>
              </a:ext>
            </a:extLst>
          </p:cNvPr>
          <p:cNvSpPr/>
          <p:nvPr/>
        </p:nvSpPr>
        <p:spPr>
          <a:xfrm>
            <a:off x="3747920" y="1073134"/>
            <a:ext cx="1441555" cy="627330"/>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NTC Hue Pickup</a:t>
            </a:r>
          </a:p>
        </p:txBody>
      </p:sp>
      <p:cxnSp>
        <p:nvCxnSpPr>
          <p:cNvPr id="69" name="Straight Connector 68">
            <a:extLst>
              <a:ext uri="{FF2B5EF4-FFF2-40B4-BE49-F238E27FC236}">
                <a16:creationId xmlns:a16="http://schemas.microsoft.com/office/drawing/2014/main" id="{8C2D2055-534B-4F51-0724-4619096B18BC}"/>
              </a:ext>
            </a:extLst>
          </p:cNvPr>
          <p:cNvCxnSpPr>
            <a:cxnSpLocks/>
            <a:stCxn id="68" idx="2"/>
          </p:cNvCxnSpPr>
          <p:nvPr/>
        </p:nvCxnSpPr>
        <p:spPr>
          <a:xfrm flipH="1">
            <a:off x="4468302" y="1700464"/>
            <a:ext cx="396" cy="216288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0" name="Rounded Rectangle 69">
            <a:extLst>
              <a:ext uri="{FF2B5EF4-FFF2-40B4-BE49-F238E27FC236}">
                <a16:creationId xmlns:a16="http://schemas.microsoft.com/office/drawing/2014/main" id="{D7F1C165-44BF-FA04-4F74-C361F5EB51F4}"/>
              </a:ext>
            </a:extLst>
          </p:cNvPr>
          <p:cNvSpPr/>
          <p:nvPr/>
        </p:nvSpPr>
        <p:spPr>
          <a:xfrm>
            <a:off x="3260435" y="4286987"/>
            <a:ext cx="1441555" cy="71178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NTC QN Training</a:t>
            </a:r>
          </a:p>
        </p:txBody>
      </p:sp>
      <p:cxnSp>
        <p:nvCxnSpPr>
          <p:cNvPr id="76" name="Straight Connector 75">
            <a:extLst>
              <a:ext uri="{FF2B5EF4-FFF2-40B4-BE49-F238E27FC236}">
                <a16:creationId xmlns:a16="http://schemas.microsoft.com/office/drawing/2014/main" id="{0053420A-A062-CFF2-1A21-89D22550E6AE}"/>
              </a:ext>
            </a:extLst>
          </p:cNvPr>
          <p:cNvCxnSpPr>
            <a:cxnSpLocks/>
          </p:cNvCxnSpPr>
          <p:nvPr/>
        </p:nvCxnSpPr>
        <p:spPr>
          <a:xfrm>
            <a:off x="3981212" y="3841072"/>
            <a:ext cx="0" cy="44591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0" name="Rounded Rectangle 79">
            <a:extLst>
              <a:ext uri="{FF2B5EF4-FFF2-40B4-BE49-F238E27FC236}">
                <a16:creationId xmlns:a16="http://schemas.microsoft.com/office/drawing/2014/main" id="{DC6DF5EC-A7C4-D731-29AA-56B9A9C20A9C}"/>
              </a:ext>
            </a:extLst>
          </p:cNvPr>
          <p:cNvSpPr/>
          <p:nvPr/>
        </p:nvSpPr>
        <p:spPr>
          <a:xfrm>
            <a:off x="5655197" y="4509657"/>
            <a:ext cx="1497235" cy="48864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latin typeface="Cambria" panose="02040503050406030204" pitchFamily="18" charset="0"/>
              </a:rPr>
              <a:t>3in1 HAT</a:t>
            </a:r>
          </a:p>
        </p:txBody>
      </p:sp>
      <p:cxnSp>
        <p:nvCxnSpPr>
          <p:cNvPr id="81" name="Straight Connector 80">
            <a:extLst>
              <a:ext uri="{FF2B5EF4-FFF2-40B4-BE49-F238E27FC236}">
                <a16:creationId xmlns:a16="http://schemas.microsoft.com/office/drawing/2014/main" id="{E7D85684-58AF-F33B-CFDA-ED0287245BD3}"/>
              </a:ext>
            </a:extLst>
          </p:cNvPr>
          <p:cNvCxnSpPr>
            <a:cxnSpLocks/>
            <a:endCxn id="80" idx="0"/>
          </p:cNvCxnSpPr>
          <p:nvPr/>
        </p:nvCxnSpPr>
        <p:spPr>
          <a:xfrm>
            <a:off x="6403815" y="3831744"/>
            <a:ext cx="0" cy="67791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6" name="Rounded Rectangle 85">
            <a:extLst>
              <a:ext uri="{FF2B5EF4-FFF2-40B4-BE49-F238E27FC236}">
                <a16:creationId xmlns:a16="http://schemas.microsoft.com/office/drawing/2014/main" id="{EE4B4A5E-628C-BDCE-DA67-B4CA4ACD9859}"/>
              </a:ext>
            </a:extLst>
          </p:cNvPr>
          <p:cNvSpPr/>
          <p:nvPr/>
        </p:nvSpPr>
        <p:spPr>
          <a:xfrm>
            <a:off x="3150505" y="1947977"/>
            <a:ext cx="2632651" cy="47763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solidFill>
                  <a:srgbClr val="FF0000"/>
                </a:solidFill>
                <a:latin typeface="Cambria" panose="02040503050406030204" pitchFamily="18" charset="0"/>
              </a:rPr>
              <a:t>MekongCup - Tuan</a:t>
            </a:r>
          </a:p>
        </p:txBody>
      </p:sp>
      <p:sp>
        <p:nvSpPr>
          <p:cNvPr id="90" name="Rounded Rectangle 89">
            <a:extLst>
              <a:ext uri="{FF2B5EF4-FFF2-40B4-BE49-F238E27FC236}">
                <a16:creationId xmlns:a16="http://schemas.microsoft.com/office/drawing/2014/main" id="{E9F142A0-527E-39BD-95AC-9D6DEAF104E0}"/>
              </a:ext>
            </a:extLst>
          </p:cNvPr>
          <p:cNvSpPr/>
          <p:nvPr/>
        </p:nvSpPr>
        <p:spPr>
          <a:xfrm>
            <a:off x="5590400" y="2480845"/>
            <a:ext cx="2276481" cy="292094"/>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dirty="0">
                <a:solidFill>
                  <a:srgbClr val="FF0000"/>
                </a:solidFill>
                <a:latin typeface="Cambria" panose="02040503050406030204" pitchFamily="18" charset="0"/>
              </a:rPr>
              <a:t>FCA Member</a:t>
            </a:r>
          </a:p>
        </p:txBody>
      </p:sp>
      <p:cxnSp>
        <p:nvCxnSpPr>
          <p:cNvPr id="91" name="Straight Connector 90">
            <a:extLst>
              <a:ext uri="{FF2B5EF4-FFF2-40B4-BE49-F238E27FC236}">
                <a16:creationId xmlns:a16="http://schemas.microsoft.com/office/drawing/2014/main" id="{59AA2773-8A4F-1BA0-543A-5707BCEC319D}"/>
              </a:ext>
            </a:extLst>
          </p:cNvPr>
          <p:cNvCxnSpPr>
            <a:cxnSpLocks/>
            <a:stCxn id="90" idx="2"/>
          </p:cNvCxnSpPr>
          <p:nvPr/>
        </p:nvCxnSpPr>
        <p:spPr>
          <a:xfrm>
            <a:off x="6728641" y="2772939"/>
            <a:ext cx="0" cy="104981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4" name="Rounded Rectangle 93">
            <a:extLst>
              <a:ext uri="{FF2B5EF4-FFF2-40B4-BE49-F238E27FC236}">
                <a16:creationId xmlns:a16="http://schemas.microsoft.com/office/drawing/2014/main" id="{BB11F81B-F903-FE2E-A694-E10C1E275106}"/>
              </a:ext>
            </a:extLst>
          </p:cNvPr>
          <p:cNvSpPr/>
          <p:nvPr/>
        </p:nvSpPr>
        <p:spPr>
          <a:xfrm>
            <a:off x="2184654" y="5724493"/>
            <a:ext cx="1591893" cy="702268"/>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VN" b="1" dirty="0">
                <a:solidFill>
                  <a:srgbClr val="FF0000"/>
                </a:solidFill>
                <a:latin typeface="Cambria" panose="02040503050406030204" pitchFamily="18" charset="0"/>
              </a:rPr>
              <a:t>May</a:t>
            </a:r>
          </a:p>
          <a:p>
            <a:pPr algn="ctr"/>
            <a:r>
              <a:rPr lang="en-VN" b="1" dirty="0">
                <a:solidFill>
                  <a:srgbClr val="FF0000"/>
                </a:solidFill>
                <a:latin typeface="Cambria" panose="02040503050406030204" pitchFamily="18" charset="0"/>
              </a:rPr>
              <a:t>Spirit</a:t>
            </a:r>
          </a:p>
        </p:txBody>
      </p:sp>
      <p:cxnSp>
        <p:nvCxnSpPr>
          <p:cNvPr id="95" name="Straight Connector 94">
            <a:extLst>
              <a:ext uri="{FF2B5EF4-FFF2-40B4-BE49-F238E27FC236}">
                <a16:creationId xmlns:a16="http://schemas.microsoft.com/office/drawing/2014/main" id="{34936329-0220-C720-A867-7E4A09CD1CD4}"/>
              </a:ext>
            </a:extLst>
          </p:cNvPr>
          <p:cNvCxnSpPr>
            <a:cxnSpLocks/>
            <a:endCxn id="94" idx="0"/>
          </p:cNvCxnSpPr>
          <p:nvPr/>
        </p:nvCxnSpPr>
        <p:spPr>
          <a:xfrm flipH="1">
            <a:off x="2980601" y="3870920"/>
            <a:ext cx="8696" cy="1853573"/>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340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246249-4DE3-1BCC-5F92-8123AF348EB4}"/>
              </a:ext>
            </a:extLst>
          </p:cNvPr>
          <p:cNvGraphicFramePr>
            <a:graphicFrameLocks noGrp="1"/>
          </p:cNvGraphicFramePr>
          <p:nvPr>
            <p:extLst>
              <p:ext uri="{D42A27DB-BD31-4B8C-83A1-F6EECF244321}">
                <p14:modId xmlns:p14="http://schemas.microsoft.com/office/powerpoint/2010/main" val="1307364662"/>
              </p:ext>
            </p:extLst>
          </p:nvPr>
        </p:nvGraphicFramePr>
        <p:xfrm>
          <a:off x="689260" y="1690008"/>
          <a:ext cx="10813479" cy="1738992"/>
        </p:xfrm>
        <a:graphic>
          <a:graphicData uri="http://schemas.openxmlformats.org/drawingml/2006/table">
            <a:tbl>
              <a:tblPr firstRow="1" bandRow="1">
                <a:tableStyleId>{5C22544A-7EE6-4342-B048-85BDC9FD1C3A}</a:tableStyleId>
              </a:tblPr>
              <a:tblGrid>
                <a:gridCol w="3604493">
                  <a:extLst>
                    <a:ext uri="{9D8B030D-6E8A-4147-A177-3AD203B41FA5}">
                      <a16:colId xmlns:a16="http://schemas.microsoft.com/office/drawing/2014/main" val="804525689"/>
                    </a:ext>
                  </a:extLst>
                </a:gridCol>
                <a:gridCol w="3604493">
                  <a:extLst>
                    <a:ext uri="{9D8B030D-6E8A-4147-A177-3AD203B41FA5}">
                      <a16:colId xmlns:a16="http://schemas.microsoft.com/office/drawing/2014/main" val="7251576"/>
                    </a:ext>
                  </a:extLst>
                </a:gridCol>
                <a:gridCol w="3604493">
                  <a:extLst>
                    <a:ext uri="{9D8B030D-6E8A-4147-A177-3AD203B41FA5}">
                      <a16:colId xmlns:a16="http://schemas.microsoft.com/office/drawing/2014/main" val="1817902272"/>
                    </a:ext>
                  </a:extLst>
                </a:gridCol>
              </a:tblGrid>
              <a:tr h="620485">
                <a:tc>
                  <a:txBody>
                    <a:bodyPr/>
                    <a:lstStyle/>
                    <a:p>
                      <a:pPr algn="ctr"/>
                      <a:r>
                        <a:rPr lang="en-VN" sz="2400" dirty="0">
                          <a:latin typeface="Cambria" panose="02040503050406030204" pitchFamily="18" charset="0"/>
                        </a:rPr>
                        <a:t>11-12/2023</a:t>
                      </a:r>
                    </a:p>
                  </a:txBody>
                  <a:tcPr marL="121652" marR="121652" marT="60826" marB="60826" anchor="ctr"/>
                </a:tc>
                <a:tc>
                  <a:txBody>
                    <a:bodyPr/>
                    <a:lstStyle/>
                    <a:p>
                      <a:pPr algn="ctr"/>
                      <a:r>
                        <a:rPr lang="en-VN" sz="2400" dirty="0">
                          <a:latin typeface="Cambria" panose="02040503050406030204" pitchFamily="18" charset="0"/>
                        </a:rPr>
                        <a:t>2024</a:t>
                      </a:r>
                    </a:p>
                  </a:txBody>
                  <a:tcPr marL="121652" marR="121652" marT="60826" marB="60826" anchor="ctr"/>
                </a:tc>
                <a:tc>
                  <a:txBody>
                    <a:bodyPr/>
                    <a:lstStyle/>
                    <a:p>
                      <a:pPr algn="ctr"/>
                      <a:r>
                        <a:rPr lang="en-VN" sz="2400" dirty="0">
                          <a:latin typeface="Cambria" panose="02040503050406030204" pitchFamily="18" charset="0"/>
                        </a:rPr>
                        <a:t>2025</a:t>
                      </a:r>
                    </a:p>
                  </a:txBody>
                  <a:tcPr marL="121652" marR="121652" marT="60826" marB="60826" anchor="ctr"/>
                </a:tc>
                <a:extLst>
                  <a:ext uri="{0D108BD9-81ED-4DB2-BD59-A6C34878D82A}">
                    <a16:rowId xmlns:a16="http://schemas.microsoft.com/office/drawing/2014/main" val="4202941957"/>
                  </a:ext>
                </a:extLst>
              </a:tr>
              <a:tr h="1118507">
                <a:tc>
                  <a:txBody>
                    <a:bodyPr/>
                    <a:lstStyle/>
                    <a:p>
                      <a:pPr algn="ctr"/>
                      <a:r>
                        <a:rPr lang="en-VN" sz="2400" dirty="0">
                          <a:latin typeface="Cambria" panose="02040503050406030204" pitchFamily="18" charset="0"/>
                        </a:rPr>
                        <a:t>[5-10] people</a:t>
                      </a:r>
                    </a:p>
                  </a:txBody>
                  <a:tcPr marL="121652" marR="121652" marT="60826" marB="60826" anchor="ctr"/>
                </a:tc>
                <a:tc>
                  <a:txBody>
                    <a:bodyPr/>
                    <a:lstStyle/>
                    <a:p>
                      <a:pPr algn="ctr"/>
                      <a:r>
                        <a:rPr lang="en-VN" sz="2400" dirty="0">
                          <a:latin typeface="Cambria" panose="02040503050406030204" pitchFamily="18" charset="0"/>
                        </a:rPr>
                        <a:t>[13-19] people</a:t>
                      </a:r>
                    </a:p>
                  </a:txBody>
                  <a:tcPr marL="121652" marR="121652" marT="60826" marB="60826" anchor="ctr"/>
                </a:tc>
                <a:tc>
                  <a:txBody>
                    <a:bodyPr/>
                    <a:lstStyle/>
                    <a:p>
                      <a:pPr algn="ctr"/>
                      <a:r>
                        <a:rPr lang="en-VN" sz="2400" dirty="0">
                          <a:latin typeface="Cambria" panose="02040503050406030204" pitchFamily="18" charset="0"/>
                        </a:rPr>
                        <a:t>[16-26] people</a:t>
                      </a:r>
                    </a:p>
                  </a:txBody>
                  <a:tcPr marL="121652" marR="121652" marT="60826" marB="60826" anchor="ctr"/>
                </a:tc>
                <a:extLst>
                  <a:ext uri="{0D108BD9-81ED-4DB2-BD59-A6C34878D82A}">
                    <a16:rowId xmlns:a16="http://schemas.microsoft.com/office/drawing/2014/main" val="2101191052"/>
                  </a:ext>
                </a:extLst>
              </a:tr>
            </a:tbl>
          </a:graphicData>
        </a:graphic>
      </p:graphicFrame>
      <p:sp>
        <p:nvSpPr>
          <p:cNvPr id="6" name="Rectangle 5">
            <a:extLst>
              <a:ext uri="{FF2B5EF4-FFF2-40B4-BE49-F238E27FC236}">
                <a16:creationId xmlns:a16="http://schemas.microsoft.com/office/drawing/2014/main" id="{10A1E84E-113F-9D31-0EF3-38CFEF5F602B}"/>
              </a:ext>
            </a:extLst>
          </p:cNvPr>
          <p:cNvSpPr/>
          <p:nvPr/>
        </p:nvSpPr>
        <p:spPr>
          <a:xfrm>
            <a:off x="1716574" y="124784"/>
            <a:ext cx="8758852" cy="923330"/>
          </a:xfrm>
          <a:prstGeom prst="rect">
            <a:avLst/>
          </a:prstGeom>
          <a:noFill/>
        </p:spPr>
        <p:txBody>
          <a:bodyPr wrap="square" rtlCol="0">
            <a:spAutoFit/>
          </a:bodyPr>
          <a:lstStyle/>
          <a:p>
            <a:pPr algn="ctr"/>
            <a:r>
              <a:rPr lang="en-US" sz="5400" dirty="0">
                <a:latin typeface="Britannic Bold" panose="020B0903060703020204" pitchFamily="34" charset="77"/>
              </a:rPr>
              <a:t>Participants</a:t>
            </a:r>
          </a:p>
        </p:txBody>
      </p:sp>
    </p:spTree>
    <p:extLst>
      <p:ext uri="{BB962C8B-B14F-4D97-AF65-F5344CB8AC3E}">
        <p14:creationId xmlns:p14="http://schemas.microsoft.com/office/powerpoint/2010/main" val="22696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B5CF5-979A-EF56-5CB8-36914AC82DA7}"/>
              </a:ext>
            </a:extLst>
          </p:cNvPr>
          <p:cNvSpPr>
            <a:spLocks noGrp="1"/>
          </p:cNvSpPr>
          <p:nvPr>
            <p:ph type="title"/>
          </p:nvPr>
        </p:nvSpPr>
        <p:spPr>
          <a:xfrm>
            <a:off x="838200" y="2103437"/>
            <a:ext cx="10515600" cy="1325563"/>
          </a:xfrm>
        </p:spPr>
        <p:txBody>
          <a:bodyPr>
            <a:normAutofit fontScale="90000"/>
          </a:bodyPr>
          <a:lstStyle/>
          <a:p>
            <a:pPr algn="ctr"/>
            <a:r>
              <a:rPr lang="en-VN" sz="8800" dirty="0">
                <a:solidFill>
                  <a:srgbClr val="FF0000"/>
                </a:solidFill>
                <a:latin typeface="Britannic Bold" panose="020B0903060703020204" pitchFamily="34" charset="77"/>
              </a:rPr>
              <a:t>SUC - </a:t>
            </a:r>
            <a:r>
              <a:rPr lang="en-US" sz="8800" dirty="0">
                <a:solidFill>
                  <a:srgbClr val="FF0000"/>
                </a:solidFill>
                <a:latin typeface="Britannic Bold" panose="020B0903060703020204" pitchFamily="34" charset="77"/>
              </a:rPr>
              <a:t>C</a:t>
            </a:r>
            <a:r>
              <a:rPr lang="en-VN" sz="8800" dirty="0">
                <a:solidFill>
                  <a:srgbClr val="FF0000"/>
                </a:solidFill>
                <a:latin typeface="Britannic Bold" panose="020B0903060703020204" pitchFamily="34" charset="77"/>
              </a:rPr>
              <a:t>hanges in 2025</a:t>
            </a:r>
          </a:p>
        </p:txBody>
      </p:sp>
    </p:spTree>
    <p:extLst>
      <p:ext uri="{BB962C8B-B14F-4D97-AF65-F5344CB8AC3E}">
        <p14:creationId xmlns:p14="http://schemas.microsoft.com/office/powerpoint/2010/main" val="3426602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8523D-AF4A-773B-120B-AD0453F51B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E0665-7608-3648-8B6D-7C920DC73DF6}"/>
              </a:ext>
            </a:extLst>
          </p:cNvPr>
          <p:cNvSpPr>
            <a:spLocks noGrp="1"/>
          </p:cNvSpPr>
          <p:nvPr>
            <p:ph type="title"/>
          </p:nvPr>
        </p:nvSpPr>
        <p:spPr>
          <a:xfrm>
            <a:off x="838200" y="2103437"/>
            <a:ext cx="10515600" cy="1325563"/>
          </a:xfrm>
        </p:spPr>
        <p:txBody>
          <a:bodyPr>
            <a:normAutofit/>
          </a:bodyPr>
          <a:lstStyle/>
          <a:p>
            <a:pPr algn="ctr"/>
            <a:r>
              <a:rPr lang="en-US" sz="8800" dirty="0">
                <a:latin typeface="Britannic Bold" panose="020B0903060703020204" pitchFamily="34" charset="77"/>
              </a:rPr>
              <a:t>Staffs in SUC</a:t>
            </a:r>
            <a:endParaRPr lang="en-VN" sz="8800" dirty="0">
              <a:latin typeface="Britannic Bold" panose="020B0903060703020204" pitchFamily="34" charset="77"/>
            </a:endParaRPr>
          </a:p>
        </p:txBody>
      </p:sp>
    </p:spTree>
    <p:extLst>
      <p:ext uri="{BB962C8B-B14F-4D97-AF65-F5344CB8AC3E}">
        <p14:creationId xmlns:p14="http://schemas.microsoft.com/office/powerpoint/2010/main" val="2977023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37C94DC3-5F4D-55FF-3194-A3958CE15AAF}"/>
              </a:ext>
            </a:extLst>
          </p:cNvPr>
          <p:cNvPicPr>
            <a:picLocks noChangeAspect="1"/>
          </p:cNvPicPr>
          <p:nvPr/>
        </p:nvPicPr>
        <p:blipFill>
          <a:blip r:embed="rId2"/>
          <a:srcRect l="13038" t="26076" r="13038"/>
          <a:stretch>
            <a:fillRect/>
          </a:stretch>
        </p:blipFill>
        <p:spPr>
          <a:xfrm>
            <a:off x="4646017" y="3429000"/>
            <a:ext cx="2216908" cy="2216908"/>
          </a:xfrm>
          <a:custGeom>
            <a:avLst/>
            <a:gdLst>
              <a:gd name="connsiteX0" fmla="*/ 2534856 w 5069712"/>
              <a:gd name="connsiteY0" fmla="*/ 0 h 5069712"/>
              <a:gd name="connsiteX1" fmla="*/ 5069712 w 5069712"/>
              <a:gd name="connsiteY1" fmla="*/ 2534856 h 5069712"/>
              <a:gd name="connsiteX2" fmla="*/ 2534856 w 5069712"/>
              <a:gd name="connsiteY2" fmla="*/ 5069712 h 5069712"/>
              <a:gd name="connsiteX3" fmla="*/ 0 w 5069712"/>
              <a:gd name="connsiteY3" fmla="*/ 2534856 h 5069712"/>
              <a:gd name="connsiteX4" fmla="*/ 2534856 w 5069712"/>
              <a:gd name="connsiteY4" fmla="*/ 0 h 5069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712" h="5069712">
                <a:moveTo>
                  <a:pt x="2534856" y="0"/>
                </a:moveTo>
                <a:cubicBezTo>
                  <a:pt x="3934818" y="0"/>
                  <a:pt x="5069712" y="1134894"/>
                  <a:pt x="5069712" y="2534856"/>
                </a:cubicBezTo>
                <a:cubicBezTo>
                  <a:pt x="5069712" y="3934818"/>
                  <a:pt x="3934818" y="5069712"/>
                  <a:pt x="2534856" y="5069712"/>
                </a:cubicBezTo>
                <a:cubicBezTo>
                  <a:pt x="1134894" y="5069712"/>
                  <a:pt x="0" y="3934818"/>
                  <a:pt x="0" y="2534856"/>
                </a:cubicBezTo>
                <a:cubicBezTo>
                  <a:pt x="0" y="1134894"/>
                  <a:pt x="1134894" y="0"/>
                  <a:pt x="2534856" y="0"/>
                </a:cubicBezTo>
                <a:close/>
              </a:path>
            </a:pathLst>
          </a:custGeom>
        </p:spPr>
      </p:pic>
      <p:pic>
        <p:nvPicPr>
          <p:cNvPr id="15" name="Picture 14">
            <a:extLst>
              <a:ext uri="{FF2B5EF4-FFF2-40B4-BE49-F238E27FC236}">
                <a16:creationId xmlns:a16="http://schemas.microsoft.com/office/drawing/2014/main" id="{28442300-71A7-BF2B-9560-A413326E3E79}"/>
              </a:ext>
            </a:extLst>
          </p:cNvPr>
          <p:cNvPicPr>
            <a:picLocks noChangeAspect="1"/>
          </p:cNvPicPr>
          <p:nvPr/>
        </p:nvPicPr>
        <p:blipFill>
          <a:blip r:embed="rId3"/>
          <a:srcRect l="760" b="1894"/>
          <a:stretch>
            <a:fillRect/>
          </a:stretch>
        </p:blipFill>
        <p:spPr>
          <a:xfrm>
            <a:off x="324784" y="3576581"/>
            <a:ext cx="1987012" cy="1956118"/>
          </a:xfrm>
          <a:custGeom>
            <a:avLst/>
            <a:gdLst>
              <a:gd name="connsiteX0" fmla="*/ 2173991 w 6049700"/>
              <a:gd name="connsiteY0" fmla="*/ 0 h 5955638"/>
              <a:gd name="connsiteX1" fmla="*/ 3875709 w 6049700"/>
              <a:gd name="connsiteY1" fmla="*/ 0 h 5955638"/>
              <a:gd name="connsiteX2" fmla="*/ 3924348 w 6049700"/>
              <a:gd name="connsiteY2" fmla="*/ 12568 h 5955638"/>
              <a:gd name="connsiteX3" fmla="*/ 6049700 w 6049700"/>
              <a:gd name="connsiteY3" fmla="*/ 2915770 h 5955638"/>
              <a:gd name="connsiteX4" fmla="*/ 3024850 w 6049700"/>
              <a:gd name="connsiteY4" fmla="*/ 5955638 h 5955638"/>
              <a:gd name="connsiteX5" fmla="*/ 0 w 6049700"/>
              <a:gd name="connsiteY5" fmla="*/ 2915770 h 5955638"/>
              <a:gd name="connsiteX6" fmla="*/ 2125352 w 6049700"/>
              <a:gd name="connsiteY6" fmla="*/ 12568 h 59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49700" h="5955638">
                <a:moveTo>
                  <a:pt x="2173991" y="0"/>
                </a:moveTo>
                <a:lnTo>
                  <a:pt x="3875709" y="0"/>
                </a:lnTo>
                <a:lnTo>
                  <a:pt x="3924348" y="12568"/>
                </a:lnTo>
                <a:cubicBezTo>
                  <a:pt x="5155670" y="397451"/>
                  <a:pt x="6049700" y="1551686"/>
                  <a:pt x="6049700" y="2915770"/>
                </a:cubicBezTo>
                <a:cubicBezTo>
                  <a:pt x="6049700" y="4594643"/>
                  <a:pt x="4695429" y="5955638"/>
                  <a:pt x="3024850" y="5955638"/>
                </a:cubicBezTo>
                <a:cubicBezTo>
                  <a:pt x="1354271" y="5955638"/>
                  <a:pt x="0" y="4594643"/>
                  <a:pt x="0" y="2915770"/>
                </a:cubicBezTo>
                <a:cubicBezTo>
                  <a:pt x="0" y="1551686"/>
                  <a:pt x="894031" y="397451"/>
                  <a:pt x="2125352" y="12568"/>
                </a:cubicBezTo>
                <a:close/>
              </a:path>
            </a:pathLst>
          </a:custGeom>
        </p:spPr>
      </p:pic>
      <p:pic>
        <p:nvPicPr>
          <p:cNvPr id="7" name="Picture 6">
            <a:extLst>
              <a:ext uri="{FF2B5EF4-FFF2-40B4-BE49-F238E27FC236}">
                <a16:creationId xmlns:a16="http://schemas.microsoft.com/office/drawing/2014/main" id="{4332D866-4595-1C4A-F3BC-7E95F14D7A11}"/>
              </a:ext>
            </a:extLst>
          </p:cNvPr>
          <p:cNvPicPr>
            <a:picLocks noChangeAspect="1"/>
          </p:cNvPicPr>
          <p:nvPr/>
        </p:nvPicPr>
        <p:blipFill>
          <a:blip r:embed="rId4"/>
          <a:srcRect l="1191" t="29312" r="45793"/>
          <a:stretch>
            <a:fillRect/>
          </a:stretch>
        </p:blipFill>
        <p:spPr>
          <a:xfrm>
            <a:off x="4796666" y="387751"/>
            <a:ext cx="1915610" cy="1915610"/>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pic>
        <p:nvPicPr>
          <p:cNvPr id="24" name="Picture 23">
            <a:extLst>
              <a:ext uri="{FF2B5EF4-FFF2-40B4-BE49-F238E27FC236}">
                <a16:creationId xmlns:a16="http://schemas.microsoft.com/office/drawing/2014/main" id="{E3B760D5-820A-4D1D-1F61-CE36FEBE522D}"/>
              </a:ext>
            </a:extLst>
          </p:cNvPr>
          <p:cNvPicPr>
            <a:picLocks noChangeAspect="1"/>
          </p:cNvPicPr>
          <p:nvPr/>
        </p:nvPicPr>
        <p:blipFill>
          <a:blip r:embed="rId5"/>
          <a:srcRect l="6211" t="9088" r="6211" b="4246"/>
          <a:stretch>
            <a:fillRect/>
          </a:stretch>
        </p:blipFill>
        <p:spPr>
          <a:xfrm>
            <a:off x="9197146" y="3398608"/>
            <a:ext cx="2261814" cy="2261814"/>
          </a:xfrm>
          <a:custGeom>
            <a:avLst/>
            <a:gdLst>
              <a:gd name="connsiteX0" fmla="*/ 2641600 w 5283200"/>
              <a:gd name="connsiteY0" fmla="*/ 0 h 5283200"/>
              <a:gd name="connsiteX1" fmla="*/ 5283200 w 5283200"/>
              <a:gd name="connsiteY1" fmla="*/ 2641600 h 5283200"/>
              <a:gd name="connsiteX2" fmla="*/ 2641600 w 5283200"/>
              <a:gd name="connsiteY2" fmla="*/ 5283200 h 5283200"/>
              <a:gd name="connsiteX3" fmla="*/ 0 w 5283200"/>
              <a:gd name="connsiteY3" fmla="*/ 2641600 h 5283200"/>
              <a:gd name="connsiteX4" fmla="*/ 2641600 w 5283200"/>
              <a:gd name="connsiteY4" fmla="*/ 0 h 528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0" h="5283200">
                <a:moveTo>
                  <a:pt x="2641600" y="0"/>
                </a:moveTo>
                <a:cubicBezTo>
                  <a:pt x="4100515" y="0"/>
                  <a:pt x="5283200" y="1182685"/>
                  <a:pt x="5283200" y="2641600"/>
                </a:cubicBezTo>
                <a:cubicBezTo>
                  <a:pt x="5283200" y="4100515"/>
                  <a:pt x="4100515" y="5283200"/>
                  <a:pt x="2641600" y="5283200"/>
                </a:cubicBezTo>
                <a:cubicBezTo>
                  <a:pt x="1182685" y="5283200"/>
                  <a:pt x="0" y="4100515"/>
                  <a:pt x="0" y="2641600"/>
                </a:cubicBezTo>
                <a:cubicBezTo>
                  <a:pt x="0" y="1182685"/>
                  <a:pt x="1182685" y="0"/>
                  <a:pt x="2641600" y="0"/>
                </a:cubicBezTo>
                <a:close/>
              </a:path>
            </a:pathLst>
          </a:custGeom>
        </p:spPr>
      </p:pic>
      <p:cxnSp>
        <p:nvCxnSpPr>
          <p:cNvPr id="28" name="Straight Connector 27">
            <a:extLst>
              <a:ext uri="{FF2B5EF4-FFF2-40B4-BE49-F238E27FC236}">
                <a16:creationId xmlns:a16="http://schemas.microsoft.com/office/drawing/2014/main" id="{DA409FC8-BF2C-A0EC-A56A-2BBA0592FAAB}"/>
              </a:ext>
            </a:extLst>
          </p:cNvPr>
          <p:cNvCxnSpPr>
            <a:stCxn id="15" idx="3"/>
            <a:endCxn id="19" idx="3"/>
          </p:cNvCxnSpPr>
          <p:nvPr/>
        </p:nvCxnSpPr>
        <p:spPr>
          <a:xfrm>
            <a:off x="2311796" y="4534260"/>
            <a:ext cx="2334221" cy="31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D8ADF85-0FFB-DEAA-AE5E-558B59241B88}"/>
              </a:ext>
            </a:extLst>
          </p:cNvPr>
          <p:cNvCxnSpPr>
            <a:stCxn id="19" idx="1"/>
            <a:endCxn id="24" idx="3"/>
          </p:cNvCxnSpPr>
          <p:nvPr/>
        </p:nvCxnSpPr>
        <p:spPr>
          <a:xfrm flipV="1">
            <a:off x="6862925" y="4529515"/>
            <a:ext cx="2334221" cy="793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201B288A-288E-BFA8-ADB7-316E7B506A77}"/>
              </a:ext>
            </a:extLst>
          </p:cNvPr>
          <p:cNvSpPr/>
          <p:nvPr/>
        </p:nvSpPr>
        <p:spPr>
          <a:xfrm>
            <a:off x="155824" y="5645908"/>
            <a:ext cx="2324932" cy="923330"/>
          </a:xfrm>
          <a:prstGeom prst="rect">
            <a:avLst/>
          </a:prstGeom>
          <a:noFill/>
        </p:spPr>
        <p:txBody>
          <a:bodyPr wrap="none" rtlCol="0">
            <a:spAutoFit/>
          </a:bodyPr>
          <a:lstStyle/>
          <a:p>
            <a:r>
              <a:rPr lang="en-US" sz="5400" dirty="0">
                <a:latin typeface="Cooper Black" panose="0208090404030B020404" pitchFamily="18" charset="77"/>
              </a:rPr>
              <a:t>Coach</a:t>
            </a:r>
          </a:p>
        </p:txBody>
      </p:sp>
      <p:cxnSp>
        <p:nvCxnSpPr>
          <p:cNvPr id="38" name="Straight Connector 37">
            <a:extLst>
              <a:ext uri="{FF2B5EF4-FFF2-40B4-BE49-F238E27FC236}">
                <a16:creationId xmlns:a16="http://schemas.microsoft.com/office/drawing/2014/main" id="{E6BBF50C-64DF-E1C6-270F-D017ED3D38E9}"/>
              </a:ext>
            </a:extLst>
          </p:cNvPr>
          <p:cNvCxnSpPr>
            <a:cxnSpLocks/>
            <a:stCxn id="7" idx="2"/>
            <a:endCxn id="19" idx="0"/>
          </p:cNvCxnSpPr>
          <p:nvPr/>
        </p:nvCxnSpPr>
        <p:spPr>
          <a:xfrm>
            <a:off x="5754471" y="2303361"/>
            <a:ext cx="0" cy="112563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4DAE552A-53BC-3B42-7BE9-BD1A27602CBC}"/>
              </a:ext>
            </a:extLst>
          </p:cNvPr>
          <p:cNvSpPr/>
          <p:nvPr/>
        </p:nvSpPr>
        <p:spPr>
          <a:xfrm>
            <a:off x="3913293" y="5668361"/>
            <a:ext cx="3682355" cy="923330"/>
          </a:xfrm>
          <a:prstGeom prst="rect">
            <a:avLst/>
          </a:prstGeom>
          <a:noFill/>
        </p:spPr>
        <p:txBody>
          <a:bodyPr wrap="none" rtlCol="0">
            <a:spAutoFit/>
          </a:bodyPr>
          <a:lstStyle/>
          <a:p>
            <a:r>
              <a:rPr lang="en-US" sz="5400" dirty="0">
                <a:latin typeface="Cooper Black" panose="0208090404030B020404" pitchFamily="18" charset="77"/>
              </a:rPr>
              <a:t>Treasurer</a:t>
            </a:r>
          </a:p>
        </p:txBody>
      </p:sp>
      <p:sp>
        <p:nvSpPr>
          <p:cNvPr id="42" name="Rectangle 41">
            <a:extLst>
              <a:ext uri="{FF2B5EF4-FFF2-40B4-BE49-F238E27FC236}">
                <a16:creationId xmlns:a16="http://schemas.microsoft.com/office/drawing/2014/main" id="{64CE4F9E-4DEF-18E8-6F45-13A47DD3924D}"/>
              </a:ext>
            </a:extLst>
          </p:cNvPr>
          <p:cNvSpPr/>
          <p:nvPr/>
        </p:nvSpPr>
        <p:spPr>
          <a:xfrm>
            <a:off x="8990236" y="5668361"/>
            <a:ext cx="2675634" cy="923330"/>
          </a:xfrm>
          <a:prstGeom prst="rect">
            <a:avLst/>
          </a:prstGeom>
          <a:noFill/>
        </p:spPr>
        <p:txBody>
          <a:bodyPr wrap="square" lIns="91440" tIns="45720" rIns="91440" bIns="45720">
            <a:spAutoFit/>
          </a:bodyPr>
          <a:lstStyle/>
          <a:p>
            <a:pPr algn="ctr"/>
            <a:r>
              <a:rPr lang="en-US" sz="5400" dirty="0">
                <a:latin typeface="Cooper Black" panose="0208090404030B020404" pitchFamily="18" charset="77"/>
              </a:rPr>
              <a:t>Media</a:t>
            </a:r>
          </a:p>
        </p:txBody>
      </p:sp>
      <p:sp>
        <p:nvSpPr>
          <p:cNvPr id="43" name="TextBox 42">
            <a:extLst>
              <a:ext uri="{FF2B5EF4-FFF2-40B4-BE49-F238E27FC236}">
                <a16:creationId xmlns:a16="http://schemas.microsoft.com/office/drawing/2014/main" id="{F9C9EFB6-E516-2DB8-F791-67254BF03813}"/>
              </a:ext>
            </a:extLst>
          </p:cNvPr>
          <p:cNvSpPr txBox="1"/>
          <p:nvPr/>
        </p:nvSpPr>
        <p:spPr>
          <a:xfrm>
            <a:off x="6862925" y="791558"/>
            <a:ext cx="3575018" cy="1107996"/>
          </a:xfrm>
          <a:prstGeom prst="rect">
            <a:avLst/>
          </a:prstGeom>
          <a:noFill/>
        </p:spPr>
        <p:txBody>
          <a:bodyPr wrap="none" rtlCol="0">
            <a:spAutoFit/>
          </a:bodyPr>
          <a:lstStyle>
            <a:defPPr>
              <a:defRPr lang="en-VN"/>
            </a:defPPr>
            <a:lvl1pPr>
              <a:defRPr sz="6600">
                <a:latin typeface="Cooper Black" panose="0208090404030B020404" pitchFamily="18" charset="77"/>
              </a:defRPr>
            </a:lvl1pPr>
          </a:lstStyle>
          <a:p>
            <a:r>
              <a:rPr lang="en-VN" dirty="0"/>
              <a:t>Captain</a:t>
            </a:r>
          </a:p>
        </p:txBody>
      </p:sp>
      <p:sp>
        <p:nvSpPr>
          <p:cNvPr id="44" name="Title 1">
            <a:extLst>
              <a:ext uri="{FF2B5EF4-FFF2-40B4-BE49-F238E27FC236}">
                <a16:creationId xmlns:a16="http://schemas.microsoft.com/office/drawing/2014/main" id="{0A898611-A5B1-D624-F9DC-3DADEE43FDE0}"/>
              </a:ext>
            </a:extLst>
          </p:cNvPr>
          <p:cNvSpPr>
            <a:spLocks noGrp="1"/>
          </p:cNvSpPr>
          <p:nvPr>
            <p:ph type="title"/>
          </p:nvPr>
        </p:nvSpPr>
        <p:spPr>
          <a:xfrm>
            <a:off x="150529" y="158224"/>
            <a:ext cx="2703916" cy="1012026"/>
          </a:xfrm>
        </p:spPr>
        <p:txBody>
          <a:bodyPr>
            <a:normAutofit/>
          </a:bodyPr>
          <a:lstStyle/>
          <a:p>
            <a:pPr algn="ctr"/>
            <a:r>
              <a:rPr lang="en-US" sz="3200" dirty="0">
                <a:latin typeface="Britannic Bold" panose="020B0903060703020204" pitchFamily="34" charset="77"/>
              </a:rPr>
              <a:t>Staffs in SUC</a:t>
            </a:r>
            <a:endParaRPr lang="en-VN" sz="3200" dirty="0">
              <a:latin typeface="Britannic Bold" panose="020B0903060703020204" pitchFamily="34" charset="77"/>
            </a:endParaRPr>
          </a:p>
        </p:txBody>
      </p:sp>
    </p:spTree>
    <p:extLst>
      <p:ext uri="{BB962C8B-B14F-4D97-AF65-F5344CB8AC3E}">
        <p14:creationId xmlns:p14="http://schemas.microsoft.com/office/powerpoint/2010/main" val="4208276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E2EC3-CA5A-65AA-0C88-15F6A680FF2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4F0FDBF-D079-70A1-7B0D-C6A373510C4A}"/>
              </a:ext>
            </a:extLst>
          </p:cNvPr>
          <p:cNvPicPr>
            <a:picLocks noChangeAspect="1"/>
          </p:cNvPicPr>
          <p:nvPr/>
        </p:nvPicPr>
        <p:blipFill>
          <a:blip r:embed="rId2"/>
          <a:srcRect l="1191" t="29312" r="45793"/>
          <a:stretch>
            <a:fillRect/>
          </a:stretch>
        </p:blipFill>
        <p:spPr>
          <a:xfrm>
            <a:off x="1048562" y="669698"/>
            <a:ext cx="1987012" cy="1987012"/>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pic>
        <p:nvPicPr>
          <p:cNvPr id="19" name="Picture 18">
            <a:extLst>
              <a:ext uri="{FF2B5EF4-FFF2-40B4-BE49-F238E27FC236}">
                <a16:creationId xmlns:a16="http://schemas.microsoft.com/office/drawing/2014/main" id="{86F5F23C-59C9-2614-CDC6-7BAB9EC375D2}"/>
              </a:ext>
            </a:extLst>
          </p:cNvPr>
          <p:cNvPicPr>
            <a:picLocks noChangeAspect="1"/>
          </p:cNvPicPr>
          <p:nvPr/>
        </p:nvPicPr>
        <p:blipFill>
          <a:blip r:embed="rId3">
            <a:alphaModFix amt="30000"/>
          </a:blip>
          <a:srcRect l="13038" t="26076" r="13038"/>
          <a:stretch>
            <a:fillRect/>
          </a:stretch>
        </p:blipFill>
        <p:spPr>
          <a:xfrm>
            <a:off x="2193729" y="5272492"/>
            <a:ext cx="1183698" cy="1183698"/>
          </a:xfrm>
          <a:custGeom>
            <a:avLst/>
            <a:gdLst>
              <a:gd name="connsiteX0" fmla="*/ 2534856 w 5069712"/>
              <a:gd name="connsiteY0" fmla="*/ 0 h 5069712"/>
              <a:gd name="connsiteX1" fmla="*/ 5069712 w 5069712"/>
              <a:gd name="connsiteY1" fmla="*/ 2534856 h 5069712"/>
              <a:gd name="connsiteX2" fmla="*/ 2534856 w 5069712"/>
              <a:gd name="connsiteY2" fmla="*/ 5069712 h 5069712"/>
              <a:gd name="connsiteX3" fmla="*/ 0 w 5069712"/>
              <a:gd name="connsiteY3" fmla="*/ 2534856 h 5069712"/>
              <a:gd name="connsiteX4" fmla="*/ 2534856 w 5069712"/>
              <a:gd name="connsiteY4" fmla="*/ 0 h 5069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712" h="5069712">
                <a:moveTo>
                  <a:pt x="2534856" y="0"/>
                </a:moveTo>
                <a:cubicBezTo>
                  <a:pt x="3934818" y="0"/>
                  <a:pt x="5069712" y="1134894"/>
                  <a:pt x="5069712" y="2534856"/>
                </a:cubicBezTo>
                <a:cubicBezTo>
                  <a:pt x="5069712" y="3934818"/>
                  <a:pt x="3934818" y="5069712"/>
                  <a:pt x="2534856" y="5069712"/>
                </a:cubicBezTo>
                <a:cubicBezTo>
                  <a:pt x="1134894" y="5069712"/>
                  <a:pt x="0" y="3934818"/>
                  <a:pt x="0" y="2534856"/>
                </a:cubicBezTo>
                <a:cubicBezTo>
                  <a:pt x="0" y="1134894"/>
                  <a:pt x="1134894" y="0"/>
                  <a:pt x="2534856" y="0"/>
                </a:cubicBezTo>
                <a:close/>
              </a:path>
            </a:pathLst>
          </a:custGeom>
        </p:spPr>
      </p:pic>
      <p:pic>
        <p:nvPicPr>
          <p:cNvPr id="7" name="Picture 6">
            <a:extLst>
              <a:ext uri="{FF2B5EF4-FFF2-40B4-BE49-F238E27FC236}">
                <a16:creationId xmlns:a16="http://schemas.microsoft.com/office/drawing/2014/main" id="{B1DF764F-F7CF-B9BC-70C9-B33FF5DF8001}"/>
              </a:ext>
            </a:extLst>
          </p:cNvPr>
          <p:cNvPicPr>
            <a:picLocks noChangeAspect="1"/>
          </p:cNvPicPr>
          <p:nvPr/>
        </p:nvPicPr>
        <p:blipFill>
          <a:blip r:embed="rId2">
            <a:alphaModFix amt="30000"/>
          </a:blip>
          <a:srcRect l="1191" t="29312" r="45793"/>
          <a:stretch>
            <a:fillRect/>
          </a:stretch>
        </p:blipFill>
        <p:spPr>
          <a:xfrm>
            <a:off x="680458" y="5272492"/>
            <a:ext cx="1183066" cy="1183066"/>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pic>
        <p:nvPicPr>
          <p:cNvPr id="24" name="Picture 23">
            <a:extLst>
              <a:ext uri="{FF2B5EF4-FFF2-40B4-BE49-F238E27FC236}">
                <a16:creationId xmlns:a16="http://schemas.microsoft.com/office/drawing/2014/main" id="{82379741-0800-BAE4-BB51-A238CC0495DE}"/>
              </a:ext>
            </a:extLst>
          </p:cNvPr>
          <p:cNvPicPr>
            <a:picLocks noChangeAspect="1"/>
          </p:cNvPicPr>
          <p:nvPr/>
        </p:nvPicPr>
        <p:blipFill>
          <a:blip r:embed="rId4">
            <a:alphaModFix amt="30000"/>
          </a:blip>
          <a:srcRect l="6211" t="9088" r="6211" b="4246"/>
          <a:stretch>
            <a:fillRect/>
          </a:stretch>
        </p:blipFill>
        <p:spPr>
          <a:xfrm>
            <a:off x="3707632" y="5230853"/>
            <a:ext cx="1266344" cy="1266344"/>
          </a:xfrm>
          <a:custGeom>
            <a:avLst/>
            <a:gdLst>
              <a:gd name="connsiteX0" fmla="*/ 2641600 w 5283200"/>
              <a:gd name="connsiteY0" fmla="*/ 0 h 5283200"/>
              <a:gd name="connsiteX1" fmla="*/ 5283200 w 5283200"/>
              <a:gd name="connsiteY1" fmla="*/ 2641600 h 5283200"/>
              <a:gd name="connsiteX2" fmla="*/ 2641600 w 5283200"/>
              <a:gd name="connsiteY2" fmla="*/ 5283200 h 5283200"/>
              <a:gd name="connsiteX3" fmla="*/ 0 w 5283200"/>
              <a:gd name="connsiteY3" fmla="*/ 2641600 h 5283200"/>
              <a:gd name="connsiteX4" fmla="*/ 2641600 w 5283200"/>
              <a:gd name="connsiteY4" fmla="*/ 0 h 528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0" h="5283200">
                <a:moveTo>
                  <a:pt x="2641600" y="0"/>
                </a:moveTo>
                <a:cubicBezTo>
                  <a:pt x="4100515" y="0"/>
                  <a:pt x="5283200" y="1182685"/>
                  <a:pt x="5283200" y="2641600"/>
                </a:cubicBezTo>
                <a:cubicBezTo>
                  <a:pt x="5283200" y="4100515"/>
                  <a:pt x="4100515" y="5283200"/>
                  <a:pt x="2641600" y="5283200"/>
                </a:cubicBezTo>
                <a:cubicBezTo>
                  <a:pt x="1182685" y="5283200"/>
                  <a:pt x="0" y="4100515"/>
                  <a:pt x="0" y="2641600"/>
                </a:cubicBezTo>
                <a:cubicBezTo>
                  <a:pt x="0" y="1182685"/>
                  <a:pt x="1182685" y="0"/>
                  <a:pt x="2641600" y="0"/>
                </a:cubicBezTo>
                <a:close/>
              </a:path>
            </a:pathLst>
          </a:custGeom>
        </p:spPr>
      </p:pic>
      <p:sp>
        <p:nvSpPr>
          <p:cNvPr id="34" name="Rectangle 33">
            <a:extLst>
              <a:ext uri="{FF2B5EF4-FFF2-40B4-BE49-F238E27FC236}">
                <a16:creationId xmlns:a16="http://schemas.microsoft.com/office/drawing/2014/main" id="{D82FA4B3-64A5-BDB1-53C8-450B833009FA}"/>
              </a:ext>
            </a:extLst>
          </p:cNvPr>
          <p:cNvSpPr/>
          <p:nvPr/>
        </p:nvSpPr>
        <p:spPr>
          <a:xfrm>
            <a:off x="634121" y="2641263"/>
            <a:ext cx="2962671" cy="923330"/>
          </a:xfrm>
          <a:prstGeom prst="rect">
            <a:avLst/>
          </a:prstGeom>
          <a:noFill/>
        </p:spPr>
        <p:txBody>
          <a:bodyPr wrap="none" rtlCol="0">
            <a:spAutoFit/>
          </a:bodyPr>
          <a:lstStyle/>
          <a:p>
            <a:pPr algn="ctr"/>
            <a:r>
              <a:rPr lang="en-US" sz="5400" dirty="0">
                <a:latin typeface="Cooper Black" panose="0208090404030B020404" pitchFamily="18" charset="77"/>
              </a:rPr>
              <a:t>Captain</a:t>
            </a:r>
          </a:p>
        </p:txBody>
      </p:sp>
      <p:sp>
        <p:nvSpPr>
          <p:cNvPr id="9" name="TextBox 8">
            <a:extLst>
              <a:ext uri="{FF2B5EF4-FFF2-40B4-BE49-F238E27FC236}">
                <a16:creationId xmlns:a16="http://schemas.microsoft.com/office/drawing/2014/main" id="{CF5C4F0D-0F7F-BC86-4885-243999F05C12}"/>
              </a:ext>
            </a:extLst>
          </p:cNvPr>
          <p:cNvSpPr txBox="1"/>
          <p:nvPr/>
        </p:nvSpPr>
        <p:spPr>
          <a:xfrm>
            <a:off x="3725126" y="331202"/>
            <a:ext cx="4048031" cy="707886"/>
          </a:xfrm>
          <a:prstGeom prst="rect">
            <a:avLst/>
          </a:prstGeom>
          <a:noFill/>
        </p:spPr>
        <p:txBody>
          <a:bodyPr wrap="none" rtlCol="0">
            <a:spAutoFit/>
          </a:bodyPr>
          <a:lstStyle/>
          <a:p>
            <a:r>
              <a:rPr lang="en-VN" sz="4000" b="1" dirty="0">
                <a:latin typeface="Cambria" panose="02040503050406030204" pitchFamily="18" charset="0"/>
              </a:rPr>
              <a:t>Phan Ngọc Triều</a:t>
            </a:r>
          </a:p>
        </p:txBody>
      </p:sp>
      <p:sp>
        <p:nvSpPr>
          <p:cNvPr id="10" name="TextBox 9">
            <a:extLst>
              <a:ext uri="{FF2B5EF4-FFF2-40B4-BE49-F238E27FC236}">
                <a16:creationId xmlns:a16="http://schemas.microsoft.com/office/drawing/2014/main" id="{3B6BB863-9A21-C22B-1883-40B7D636B846}"/>
              </a:ext>
            </a:extLst>
          </p:cNvPr>
          <p:cNvSpPr txBox="1"/>
          <p:nvPr/>
        </p:nvSpPr>
        <p:spPr>
          <a:xfrm>
            <a:off x="3942000" y="1238400"/>
            <a:ext cx="7915330" cy="3900235"/>
          </a:xfrm>
          <a:prstGeom prst="rect">
            <a:avLst/>
          </a:prstGeom>
          <a:noFill/>
        </p:spPr>
        <p:txBody>
          <a:bodyPr wrap="square" rtlCol="0">
            <a:spAutoFit/>
          </a:bodyPr>
          <a:lstStyle/>
          <a:p>
            <a:pPr marL="44450" lvl="2">
              <a:lnSpc>
                <a:spcPct val="150000"/>
              </a:lnSpc>
            </a:pPr>
            <a:r>
              <a:rPr lang="en-US" sz="2400" b="1" kern="100" dirty="0">
                <a:effectLst/>
                <a:latin typeface="Lucida Bright" panose="02040602050505020304" pitchFamily="18" charset="77"/>
                <a:ea typeface="Calibri" panose="020F0502020204030204" pitchFamily="34" charset="0"/>
                <a:cs typeface="Times New Roman" panose="02020603050405020304" pitchFamily="18" charset="0"/>
              </a:rPr>
              <a:t>Role</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a:t>
            </a:r>
          </a:p>
          <a:p>
            <a:pPr marL="44450" lvl="2">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Be responsible for any things which relate to SUC</a:t>
            </a:r>
          </a:p>
          <a:p>
            <a:pPr marL="44450" lvl="2">
              <a:lnSpc>
                <a:spcPct val="150000"/>
              </a:lnSpc>
            </a:pPr>
            <a:r>
              <a:rPr lang="en-VN" sz="2400" kern="100" dirty="0">
                <a:effectLst/>
                <a:latin typeface="Lucida Bright" panose="02040602050505020304" pitchFamily="18" charset="77"/>
                <a:ea typeface="Calibri" panose="020F0502020204030204" pitchFamily="34" charset="0"/>
                <a:cs typeface="Times New Roman" panose="02020603050405020304" pitchFamily="18" charset="0"/>
              </a:rPr>
              <a:t>- Helping new nembers to know about SUC and frisbee community</a:t>
            </a:r>
          </a:p>
          <a:p>
            <a:pPr marL="44450" lvl="2">
              <a:lnSpc>
                <a:spcPct val="150000"/>
              </a:lnSpc>
            </a:pPr>
            <a:r>
              <a:rPr lang="en-VN" sz="2400" kern="100" dirty="0">
                <a:effectLst/>
                <a:latin typeface="Lucida Bright" panose="02040602050505020304" pitchFamily="18" charset="77"/>
                <a:ea typeface="Calibri" panose="020F0502020204030204" pitchFamily="34" charset="0"/>
                <a:cs typeface="Times New Roman" panose="02020603050405020304" pitchFamily="18" charset="0"/>
              </a:rPr>
              <a:t>- Collecting responses from members and giving the corresponding ways for SUC</a:t>
            </a:r>
          </a:p>
          <a:p>
            <a:pPr marL="44450" lvl="2">
              <a:lnSpc>
                <a:spcPct val="150000"/>
              </a:lnSpc>
            </a:pPr>
            <a:endParaRPr lang="en-VN" sz="2400" kern="100" dirty="0">
              <a:effectLst/>
              <a:latin typeface="Lucida Bright" panose="02040602050505020304" pitchFamily="18" charset="77"/>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36061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BB613-7048-82A1-8C0D-280AE65490FF}"/>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ADBD094A-345C-BF0C-AFC7-F7862C465BE2}"/>
              </a:ext>
            </a:extLst>
          </p:cNvPr>
          <p:cNvPicPr>
            <a:picLocks noChangeAspect="1"/>
          </p:cNvPicPr>
          <p:nvPr/>
        </p:nvPicPr>
        <p:blipFill>
          <a:blip r:embed="rId2">
            <a:alphaModFix amt="30000"/>
          </a:blip>
          <a:srcRect l="13038" t="26076" r="13038"/>
          <a:stretch>
            <a:fillRect/>
          </a:stretch>
        </p:blipFill>
        <p:spPr>
          <a:xfrm>
            <a:off x="2193729" y="5272492"/>
            <a:ext cx="1183698" cy="1183698"/>
          </a:xfrm>
          <a:custGeom>
            <a:avLst/>
            <a:gdLst>
              <a:gd name="connsiteX0" fmla="*/ 2534856 w 5069712"/>
              <a:gd name="connsiteY0" fmla="*/ 0 h 5069712"/>
              <a:gd name="connsiteX1" fmla="*/ 5069712 w 5069712"/>
              <a:gd name="connsiteY1" fmla="*/ 2534856 h 5069712"/>
              <a:gd name="connsiteX2" fmla="*/ 2534856 w 5069712"/>
              <a:gd name="connsiteY2" fmla="*/ 5069712 h 5069712"/>
              <a:gd name="connsiteX3" fmla="*/ 0 w 5069712"/>
              <a:gd name="connsiteY3" fmla="*/ 2534856 h 5069712"/>
              <a:gd name="connsiteX4" fmla="*/ 2534856 w 5069712"/>
              <a:gd name="connsiteY4" fmla="*/ 0 h 5069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712" h="5069712">
                <a:moveTo>
                  <a:pt x="2534856" y="0"/>
                </a:moveTo>
                <a:cubicBezTo>
                  <a:pt x="3934818" y="0"/>
                  <a:pt x="5069712" y="1134894"/>
                  <a:pt x="5069712" y="2534856"/>
                </a:cubicBezTo>
                <a:cubicBezTo>
                  <a:pt x="5069712" y="3934818"/>
                  <a:pt x="3934818" y="5069712"/>
                  <a:pt x="2534856" y="5069712"/>
                </a:cubicBezTo>
                <a:cubicBezTo>
                  <a:pt x="1134894" y="5069712"/>
                  <a:pt x="0" y="3934818"/>
                  <a:pt x="0" y="2534856"/>
                </a:cubicBezTo>
                <a:cubicBezTo>
                  <a:pt x="0" y="1134894"/>
                  <a:pt x="1134894" y="0"/>
                  <a:pt x="2534856" y="0"/>
                </a:cubicBezTo>
                <a:close/>
              </a:path>
            </a:pathLst>
          </a:custGeom>
        </p:spPr>
      </p:pic>
      <p:pic>
        <p:nvPicPr>
          <p:cNvPr id="15" name="Picture 14">
            <a:extLst>
              <a:ext uri="{FF2B5EF4-FFF2-40B4-BE49-F238E27FC236}">
                <a16:creationId xmlns:a16="http://schemas.microsoft.com/office/drawing/2014/main" id="{0D602573-E8E7-35E6-7C5B-26250C9F596E}"/>
              </a:ext>
            </a:extLst>
          </p:cNvPr>
          <p:cNvPicPr>
            <a:picLocks noChangeAspect="1"/>
          </p:cNvPicPr>
          <p:nvPr/>
        </p:nvPicPr>
        <p:blipFill>
          <a:blip r:embed="rId3"/>
          <a:srcRect l="760" b="1894"/>
          <a:stretch>
            <a:fillRect/>
          </a:stretch>
        </p:blipFill>
        <p:spPr>
          <a:xfrm>
            <a:off x="1048562" y="685145"/>
            <a:ext cx="1987012" cy="1956118"/>
          </a:xfrm>
          <a:custGeom>
            <a:avLst/>
            <a:gdLst>
              <a:gd name="connsiteX0" fmla="*/ 2173991 w 6049700"/>
              <a:gd name="connsiteY0" fmla="*/ 0 h 5955638"/>
              <a:gd name="connsiteX1" fmla="*/ 3875709 w 6049700"/>
              <a:gd name="connsiteY1" fmla="*/ 0 h 5955638"/>
              <a:gd name="connsiteX2" fmla="*/ 3924348 w 6049700"/>
              <a:gd name="connsiteY2" fmla="*/ 12568 h 5955638"/>
              <a:gd name="connsiteX3" fmla="*/ 6049700 w 6049700"/>
              <a:gd name="connsiteY3" fmla="*/ 2915770 h 5955638"/>
              <a:gd name="connsiteX4" fmla="*/ 3024850 w 6049700"/>
              <a:gd name="connsiteY4" fmla="*/ 5955638 h 5955638"/>
              <a:gd name="connsiteX5" fmla="*/ 0 w 6049700"/>
              <a:gd name="connsiteY5" fmla="*/ 2915770 h 5955638"/>
              <a:gd name="connsiteX6" fmla="*/ 2125352 w 6049700"/>
              <a:gd name="connsiteY6" fmla="*/ 12568 h 59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49700" h="5955638">
                <a:moveTo>
                  <a:pt x="2173991" y="0"/>
                </a:moveTo>
                <a:lnTo>
                  <a:pt x="3875709" y="0"/>
                </a:lnTo>
                <a:lnTo>
                  <a:pt x="3924348" y="12568"/>
                </a:lnTo>
                <a:cubicBezTo>
                  <a:pt x="5155670" y="397451"/>
                  <a:pt x="6049700" y="1551686"/>
                  <a:pt x="6049700" y="2915770"/>
                </a:cubicBezTo>
                <a:cubicBezTo>
                  <a:pt x="6049700" y="4594643"/>
                  <a:pt x="4695429" y="5955638"/>
                  <a:pt x="3024850" y="5955638"/>
                </a:cubicBezTo>
                <a:cubicBezTo>
                  <a:pt x="1354271" y="5955638"/>
                  <a:pt x="0" y="4594643"/>
                  <a:pt x="0" y="2915770"/>
                </a:cubicBezTo>
                <a:cubicBezTo>
                  <a:pt x="0" y="1551686"/>
                  <a:pt x="894031" y="397451"/>
                  <a:pt x="2125352" y="12568"/>
                </a:cubicBezTo>
                <a:close/>
              </a:path>
            </a:pathLst>
          </a:custGeom>
        </p:spPr>
      </p:pic>
      <p:pic>
        <p:nvPicPr>
          <p:cNvPr id="7" name="Picture 6">
            <a:extLst>
              <a:ext uri="{FF2B5EF4-FFF2-40B4-BE49-F238E27FC236}">
                <a16:creationId xmlns:a16="http://schemas.microsoft.com/office/drawing/2014/main" id="{5AA63E37-C8C5-219A-8FB2-2C3CC91AF73C}"/>
              </a:ext>
            </a:extLst>
          </p:cNvPr>
          <p:cNvPicPr>
            <a:picLocks noChangeAspect="1"/>
          </p:cNvPicPr>
          <p:nvPr/>
        </p:nvPicPr>
        <p:blipFill>
          <a:blip r:embed="rId4">
            <a:alphaModFix amt="30000"/>
          </a:blip>
          <a:srcRect l="1191" t="29312" r="45793"/>
          <a:stretch>
            <a:fillRect/>
          </a:stretch>
        </p:blipFill>
        <p:spPr>
          <a:xfrm>
            <a:off x="680458" y="5272492"/>
            <a:ext cx="1183066" cy="1183066"/>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pic>
        <p:nvPicPr>
          <p:cNvPr id="24" name="Picture 23">
            <a:extLst>
              <a:ext uri="{FF2B5EF4-FFF2-40B4-BE49-F238E27FC236}">
                <a16:creationId xmlns:a16="http://schemas.microsoft.com/office/drawing/2014/main" id="{4B7FC3EC-F938-68F7-1E4B-3DCD9AB4A584}"/>
              </a:ext>
            </a:extLst>
          </p:cNvPr>
          <p:cNvPicPr>
            <a:picLocks noChangeAspect="1"/>
          </p:cNvPicPr>
          <p:nvPr/>
        </p:nvPicPr>
        <p:blipFill>
          <a:blip r:embed="rId5">
            <a:alphaModFix amt="30000"/>
          </a:blip>
          <a:srcRect l="6211" t="9088" r="6211" b="4246"/>
          <a:stretch>
            <a:fillRect/>
          </a:stretch>
        </p:blipFill>
        <p:spPr>
          <a:xfrm>
            <a:off x="3707632" y="5230853"/>
            <a:ext cx="1266344" cy="1266344"/>
          </a:xfrm>
          <a:custGeom>
            <a:avLst/>
            <a:gdLst>
              <a:gd name="connsiteX0" fmla="*/ 2641600 w 5283200"/>
              <a:gd name="connsiteY0" fmla="*/ 0 h 5283200"/>
              <a:gd name="connsiteX1" fmla="*/ 5283200 w 5283200"/>
              <a:gd name="connsiteY1" fmla="*/ 2641600 h 5283200"/>
              <a:gd name="connsiteX2" fmla="*/ 2641600 w 5283200"/>
              <a:gd name="connsiteY2" fmla="*/ 5283200 h 5283200"/>
              <a:gd name="connsiteX3" fmla="*/ 0 w 5283200"/>
              <a:gd name="connsiteY3" fmla="*/ 2641600 h 5283200"/>
              <a:gd name="connsiteX4" fmla="*/ 2641600 w 5283200"/>
              <a:gd name="connsiteY4" fmla="*/ 0 h 528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0" h="5283200">
                <a:moveTo>
                  <a:pt x="2641600" y="0"/>
                </a:moveTo>
                <a:cubicBezTo>
                  <a:pt x="4100515" y="0"/>
                  <a:pt x="5283200" y="1182685"/>
                  <a:pt x="5283200" y="2641600"/>
                </a:cubicBezTo>
                <a:cubicBezTo>
                  <a:pt x="5283200" y="4100515"/>
                  <a:pt x="4100515" y="5283200"/>
                  <a:pt x="2641600" y="5283200"/>
                </a:cubicBezTo>
                <a:cubicBezTo>
                  <a:pt x="1182685" y="5283200"/>
                  <a:pt x="0" y="4100515"/>
                  <a:pt x="0" y="2641600"/>
                </a:cubicBezTo>
                <a:cubicBezTo>
                  <a:pt x="0" y="1182685"/>
                  <a:pt x="1182685" y="0"/>
                  <a:pt x="2641600" y="0"/>
                </a:cubicBezTo>
                <a:close/>
              </a:path>
            </a:pathLst>
          </a:custGeom>
        </p:spPr>
      </p:pic>
      <p:sp>
        <p:nvSpPr>
          <p:cNvPr id="34" name="Rectangle 33">
            <a:extLst>
              <a:ext uri="{FF2B5EF4-FFF2-40B4-BE49-F238E27FC236}">
                <a16:creationId xmlns:a16="http://schemas.microsoft.com/office/drawing/2014/main" id="{CE3081D6-36F3-5510-9696-F65C6CF1FE5F}"/>
              </a:ext>
            </a:extLst>
          </p:cNvPr>
          <p:cNvSpPr/>
          <p:nvPr/>
        </p:nvSpPr>
        <p:spPr>
          <a:xfrm>
            <a:off x="952988" y="2641263"/>
            <a:ext cx="2324932" cy="923330"/>
          </a:xfrm>
          <a:prstGeom prst="rect">
            <a:avLst/>
          </a:prstGeom>
          <a:noFill/>
        </p:spPr>
        <p:txBody>
          <a:bodyPr wrap="none" rtlCol="0">
            <a:spAutoFit/>
          </a:bodyPr>
          <a:lstStyle/>
          <a:p>
            <a:pPr algn="ctr"/>
            <a:r>
              <a:rPr lang="en-US" sz="5400" dirty="0">
                <a:latin typeface="Cooper Black" panose="0208090404030B020404" pitchFamily="18" charset="77"/>
              </a:rPr>
              <a:t>Coach</a:t>
            </a:r>
          </a:p>
        </p:txBody>
      </p:sp>
      <p:sp>
        <p:nvSpPr>
          <p:cNvPr id="9" name="TextBox 8">
            <a:extLst>
              <a:ext uri="{FF2B5EF4-FFF2-40B4-BE49-F238E27FC236}">
                <a16:creationId xmlns:a16="http://schemas.microsoft.com/office/drawing/2014/main" id="{722FFE44-E59C-9975-8A8E-421BB326C9C2}"/>
              </a:ext>
            </a:extLst>
          </p:cNvPr>
          <p:cNvSpPr txBox="1"/>
          <p:nvPr/>
        </p:nvSpPr>
        <p:spPr>
          <a:xfrm>
            <a:off x="3725126" y="331202"/>
            <a:ext cx="4741747" cy="707886"/>
          </a:xfrm>
          <a:prstGeom prst="rect">
            <a:avLst/>
          </a:prstGeom>
          <a:noFill/>
        </p:spPr>
        <p:txBody>
          <a:bodyPr wrap="none" rtlCol="0">
            <a:spAutoFit/>
          </a:bodyPr>
          <a:lstStyle/>
          <a:p>
            <a:r>
              <a:rPr lang="en-VN" sz="4000" b="1" dirty="0">
                <a:latin typeface="Cambria" panose="02040503050406030204" pitchFamily="18" charset="0"/>
              </a:rPr>
              <a:t>Nguyễn Xuân Trang</a:t>
            </a:r>
          </a:p>
        </p:txBody>
      </p:sp>
      <p:sp>
        <p:nvSpPr>
          <p:cNvPr id="10" name="TextBox 9">
            <a:extLst>
              <a:ext uri="{FF2B5EF4-FFF2-40B4-BE49-F238E27FC236}">
                <a16:creationId xmlns:a16="http://schemas.microsoft.com/office/drawing/2014/main" id="{C322CCD3-4287-5B73-2C1B-F558D7E482C2}"/>
              </a:ext>
            </a:extLst>
          </p:cNvPr>
          <p:cNvSpPr txBox="1"/>
          <p:nvPr/>
        </p:nvSpPr>
        <p:spPr>
          <a:xfrm>
            <a:off x="3942000" y="1238400"/>
            <a:ext cx="7915330" cy="4454233"/>
          </a:xfrm>
          <a:prstGeom prst="rect">
            <a:avLst/>
          </a:prstGeom>
          <a:noFill/>
        </p:spPr>
        <p:txBody>
          <a:bodyPr wrap="square" rtlCol="0">
            <a:spAutoFit/>
          </a:bodyPr>
          <a:lstStyle/>
          <a:p>
            <a:pPr marL="44450" lvl="2" algn="just">
              <a:lnSpc>
                <a:spcPct val="150000"/>
              </a:lnSpc>
            </a:pPr>
            <a:r>
              <a:rPr lang="en-US" sz="2400" b="1" kern="100" dirty="0">
                <a:effectLst/>
                <a:latin typeface="Lucida Bright" panose="02040602050505020304" pitchFamily="18" charset="77"/>
                <a:ea typeface="Calibri" panose="020F0502020204030204" pitchFamily="34" charset="0"/>
                <a:cs typeface="Times New Roman" panose="02020603050405020304" pitchFamily="18" charset="0"/>
              </a:rPr>
              <a:t>Role</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a:t>
            </a:r>
          </a:p>
          <a:p>
            <a:pPr marL="44450" lvl="2" algn="just">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Researching frisbee’s skills</a:t>
            </a:r>
          </a:p>
          <a:p>
            <a:pPr marL="44450" lvl="2">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Training frisbee skills</a:t>
            </a:r>
          </a:p>
          <a:p>
            <a:pPr marL="44450" lvl="2">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Training fitness</a:t>
            </a:r>
            <a:endParaRPr lang="en-US" sz="2400" kern="100" dirty="0">
              <a:effectLst/>
              <a:latin typeface="Lucida Bright" panose="02040602050505020304" pitchFamily="18" charset="77"/>
              <a:ea typeface="Calibri" panose="020F0502020204030204" pitchFamily="34" charset="0"/>
              <a:cs typeface="Times New Roman" panose="02020603050405020304" pitchFamily="18" charset="0"/>
            </a:endParaRPr>
          </a:p>
          <a:p>
            <a:pPr marL="44450" lvl="2" algn="just">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Tracking the practicing progress of member and giving improvement steps to help member to build up</a:t>
            </a:r>
          </a:p>
          <a:p>
            <a:pPr marL="44450" lvl="2" algn="just">
              <a:lnSpc>
                <a:spcPct val="150000"/>
              </a:lnSpc>
            </a:pPr>
            <a:r>
              <a:rPr lang="en-VN" sz="2400" kern="100" dirty="0">
                <a:effectLst/>
                <a:latin typeface="Lucida Bright" panose="02040602050505020304" pitchFamily="18" charset="77"/>
                <a:ea typeface="Calibri" panose="020F0502020204030204" pitchFamily="34" charset="0"/>
                <a:cs typeface="Times New Roman" panose="02020603050405020304" pitchFamily="18" charset="0"/>
              </a:rPr>
              <a:t>- Build up the new generation coaches</a:t>
            </a:r>
          </a:p>
        </p:txBody>
      </p:sp>
    </p:spTree>
    <p:extLst>
      <p:ext uri="{BB962C8B-B14F-4D97-AF65-F5344CB8AC3E}">
        <p14:creationId xmlns:p14="http://schemas.microsoft.com/office/powerpoint/2010/main" val="150051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160B-3405-8998-6F14-CF1FC17A2D79}"/>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51BD9EC4-78F1-2C96-ADA5-2641C270F09F}"/>
              </a:ext>
            </a:extLst>
          </p:cNvPr>
          <p:cNvPicPr>
            <a:picLocks noChangeAspect="1"/>
          </p:cNvPicPr>
          <p:nvPr/>
        </p:nvPicPr>
        <p:blipFill>
          <a:blip r:embed="rId3">
            <a:alphaModFix/>
          </a:blip>
          <a:srcRect l="13038" t="26076" r="13038"/>
          <a:stretch>
            <a:fillRect/>
          </a:stretch>
        </p:blipFill>
        <p:spPr>
          <a:xfrm>
            <a:off x="1041134" y="492623"/>
            <a:ext cx="2148640" cy="2148640"/>
          </a:xfrm>
          <a:custGeom>
            <a:avLst/>
            <a:gdLst>
              <a:gd name="connsiteX0" fmla="*/ 2534856 w 5069712"/>
              <a:gd name="connsiteY0" fmla="*/ 0 h 5069712"/>
              <a:gd name="connsiteX1" fmla="*/ 5069712 w 5069712"/>
              <a:gd name="connsiteY1" fmla="*/ 2534856 h 5069712"/>
              <a:gd name="connsiteX2" fmla="*/ 2534856 w 5069712"/>
              <a:gd name="connsiteY2" fmla="*/ 5069712 h 5069712"/>
              <a:gd name="connsiteX3" fmla="*/ 0 w 5069712"/>
              <a:gd name="connsiteY3" fmla="*/ 2534856 h 5069712"/>
              <a:gd name="connsiteX4" fmla="*/ 2534856 w 5069712"/>
              <a:gd name="connsiteY4" fmla="*/ 0 h 5069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712" h="5069712">
                <a:moveTo>
                  <a:pt x="2534856" y="0"/>
                </a:moveTo>
                <a:cubicBezTo>
                  <a:pt x="3934818" y="0"/>
                  <a:pt x="5069712" y="1134894"/>
                  <a:pt x="5069712" y="2534856"/>
                </a:cubicBezTo>
                <a:cubicBezTo>
                  <a:pt x="5069712" y="3934818"/>
                  <a:pt x="3934818" y="5069712"/>
                  <a:pt x="2534856" y="5069712"/>
                </a:cubicBezTo>
                <a:cubicBezTo>
                  <a:pt x="1134894" y="5069712"/>
                  <a:pt x="0" y="3934818"/>
                  <a:pt x="0" y="2534856"/>
                </a:cubicBezTo>
                <a:cubicBezTo>
                  <a:pt x="0" y="1134894"/>
                  <a:pt x="1134894" y="0"/>
                  <a:pt x="2534856" y="0"/>
                </a:cubicBezTo>
                <a:close/>
              </a:path>
            </a:pathLst>
          </a:custGeom>
        </p:spPr>
      </p:pic>
      <p:pic>
        <p:nvPicPr>
          <p:cNvPr id="15" name="Picture 14">
            <a:extLst>
              <a:ext uri="{FF2B5EF4-FFF2-40B4-BE49-F238E27FC236}">
                <a16:creationId xmlns:a16="http://schemas.microsoft.com/office/drawing/2014/main" id="{1DC4E522-4977-73EA-F1FE-50457FF433C6}"/>
              </a:ext>
            </a:extLst>
          </p:cNvPr>
          <p:cNvPicPr>
            <a:picLocks noChangeAspect="1"/>
          </p:cNvPicPr>
          <p:nvPr/>
        </p:nvPicPr>
        <p:blipFill>
          <a:blip r:embed="rId4">
            <a:alphaModFix amt="30000"/>
          </a:blip>
          <a:srcRect l="760" b="1894"/>
          <a:stretch>
            <a:fillRect/>
          </a:stretch>
        </p:blipFill>
        <p:spPr>
          <a:xfrm>
            <a:off x="2167129" y="5260618"/>
            <a:ext cx="1236898" cy="1217666"/>
          </a:xfrm>
          <a:custGeom>
            <a:avLst/>
            <a:gdLst>
              <a:gd name="connsiteX0" fmla="*/ 2173991 w 6049700"/>
              <a:gd name="connsiteY0" fmla="*/ 0 h 5955638"/>
              <a:gd name="connsiteX1" fmla="*/ 3875709 w 6049700"/>
              <a:gd name="connsiteY1" fmla="*/ 0 h 5955638"/>
              <a:gd name="connsiteX2" fmla="*/ 3924348 w 6049700"/>
              <a:gd name="connsiteY2" fmla="*/ 12568 h 5955638"/>
              <a:gd name="connsiteX3" fmla="*/ 6049700 w 6049700"/>
              <a:gd name="connsiteY3" fmla="*/ 2915770 h 5955638"/>
              <a:gd name="connsiteX4" fmla="*/ 3024850 w 6049700"/>
              <a:gd name="connsiteY4" fmla="*/ 5955638 h 5955638"/>
              <a:gd name="connsiteX5" fmla="*/ 0 w 6049700"/>
              <a:gd name="connsiteY5" fmla="*/ 2915770 h 5955638"/>
              <a:gd name="connsiteX6" fmla="*/ 2125352 w 6049700"/>
              <a:gd name="connsiteY6" fmla="*/ 12568 h 59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49700" h="5955638">
                <a:moveTo>
                  <a:pt x="2173991" y="0"/>
                </a:moveTo>
                <a:lnTo>
                  <a:pt x="3875709" y="0"/>
                </a:lnTo>
                <a:lnTo>
                  <a:pt x="3924348" y="12568"/>
                </a:lnTo>
                <a:cubicBezTo>
                  <a:pt x="5155670" y="397451"/>
                  <a:pt x="6049700" y="1551686"/>
                  <a:pt x="6049700" y="2915770"/>
                </a:cubicBezTo>
                <a:cubicBezTo>
                  <a:pt x="6049700" y="4594643"/>
                  <a:pt x="4695429" y="5955638"/>
                  <a:pt x="3024850" y="5955638"/>
                </a:cubicBezTo>
                <a:cubicBezTo>
                  <a:pt x="1354271" y="5955638"/>
                  <a:pt x="0" y="4594643"/>
                  <a:pt x="0" y="2915770"/>
                </a:cubicBezTo>
                <a:cubicBezTo>
                  <a:pt x="0" y="1551686"/>
                  <a:pt x="894031" y="397451"/>
                  <a:pt x="2125352" y="12568"/>
                </a:cubicBezTo>
                <a:close/>
              </a:path>
            </a:pathLst>
          </a:custGeom>
        </p:spPr>
      </p:pic>
      <p:pic>
        <p:nvPicPr>
          <p:cNvPr id="7" name="Picture 6">
            <a:extLst>
              <a:ext uri="{FF2B5EF4-FFF2-40B4-BE49-F238E27FC236}">
                <a16:creationId xmlns:a16="http://schemas.microsoft.com/office/drawing/2014/main" id="{632BBD05-A371-359A-B70C-5B385F13F002}"/>
              </a:ext>
            </a:extLst>
          </p:cNvPr>
          <p:cNvPicPr>
            <a:picLocks noChangeAspect="1"/>
          </p:cNvPicPr>
          <p:nvPr/>
        </p:nvPicPr>
        <p:blipFill>
          <a:blip r:embed="rId5">
            <a:alphaModFix amt="30000"/>
          </a:blip>
          <a:srcRect l="1191" t="29312" r="45793"/>
          <a:stretch>
            <a:fillRect/>
          </a:stretch>
        </p:blipFill>
        <p:spPr>
          <a:xfrm>
            <a:off x="680458" y="5272492"/>
            <a:ext cx="1183066" cy="1183066"/>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pic>
        <p:nvPicPr>
          <p:cNvPr id="24" name="Picture 23">
            <a:extLst>
              <a:ext uri="{FF2B5EF4-FFF2-40B4-BE49-F238E27FC236}">
                <a16:creationId xmlns:a16="http://schemas.microsoft.com/office/drawing/2014/main" id="{C0D76138-17C3-A546-465D-3752D06886DF}"/>
              </a:ext>
            </a:extLst>
          </p:cNvPr>
          <p:cNvPicPr>
            <a:picLocks noChangeAspect="1"/>
          </p:cNvPicPr>
          <p:nvPr/>
        </p:nvPicPr>
        <p:blipFill>
          <a:blip r:embed="rId6">
            <a:alphaModFix amt="30000"/>
          </a:blip>
          <a:srcRect l="6211" t="9088" r="6211" b="4246"/>
          <a:stretch>
            <a:fillRect/>
          </a:stretch>
        </p:blipFill>
        <p:spPr>
          <a:xfrm>
            <a:off x="3707632" y="5230853"/>
            <a:ext cx="1266344" cy="1266344"/>
          </a:xfrm>
          <a:custGeom>
            <a:avLst/>
            <a:gdLst>
              <a:gd name="connsiteX0" fmla="*/ 2641600 w 5283200"/>
              <a:gd name="connsiteY0" fmla="*/ 0 h 5283200"/>
              <a:gd name="connsiteX1" fmla="*/ 5283200 w 5283200"/>
              <a:gd name="connsiteY1" fmla="*/ 2641600 h 5283200"/>
              <a:gd name="connsiteX2" fmla="*/ 2641600 w 5283200"/>
              <a:gd name="connsiteY2" fmla="*/ 5283200 h 5283200"/>
              <a:gd name="connsiteX3" fmla="*/ 0 w 5283200"/>
              <a:gd name="connsiteY3" fmla="*/ 2641600 h 5283200"/>
              <a:gd name="connsiteX4" fmla="*/ 2641600 w 5283200"/>
              <a:gd name="connsiteY4" fmla="*/ 0 h 528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0" h="5283200">
                <a:moveTo>
                  <a:pt x="2641600" y="0"/>
                </a:moveTo>
                <a:cubicBezTo>
                  <a:pt x="4100515" y="0"/>
                  <a:pt x="5283200" y="1182685"/>
                  <a:pt x="5283200" y="2641600"/>
                </a:cubicBezTo>
                <a:cubicBezTo>
                  <a:pt x="5283200" y="4100515"/>
                  <a:pt x="4100515" y="5283200"/>
                  <a:pt x="2641600" y="5283200"/>
                </a:cubicBezTo>
                <a:cubicBezTo>
                  <a:pt x="1182685" y="5283200"/>
                  <a:pt x="0" y="4100515"/>
                  <a:pt x="0" y="2641600"/>
                </a:cubicBezTo>
                <a:cubicBezTo>
                  <a:pt x="0" y="1182685"/>
                  <a:pt x="1182685" y="0"/>
                  <a:pt x="2641600" y="0"/>
                </a:cubicBezTo>
                <a:close/>
              </a:path>
            </a:pathLst>
          </a:custGeom>
        </p:spPr>
      </p:pic>
      <p:sp>
        <p:nvSpPr>
          <p:cNvPr id="34" name="Rectangle 33">
            <a:extLst>
              <a:ext uri="{FF2B5EF4-FFF2-40B4-BE49-F238E27FC236}">
                <a16:creationId xmlns:a16="http://schemas.microsoft.com/office/drawing/2014/main" id="{4DA174F4-7108-3B42-CA05-DF86D3784402}"/>
              </a:ext>
            </a:extLst>
          </p:cNvPr>
          <p:cNvSpPr/>
          <p:nvPr/>
        </p:nvSpPr>
        <p:spPr>
          <a:xfrm>
            <a:off x="469202" y="2681403"/>
            <a:ext cx="3292504" cy="830997"/>
          </a:xfrm>
          <a:prstGeom prst="rect">
            <a:avLst/>
          </a:prstGeom>
          <a:noFill/>
        </p:spPr>
        <p:txBody>
          <a:bodyPr wrap="none" rtlCol="0">
            <a:spAutoFit/>
          </a:bodyPr>
          <a:lstStyle/>
          <a:p>
            <a:pPr algn="ctr"/>
            <a:r>
              <a:rPr lang="en-US" sz="4800" dirty="0">
                <a:latin typeface="Cooper Black" panose="0208090404030B020404" pitchFamily="18" charset="77"/>
              </a:rPr>
              <a:t>Treasurer</a:t>
            </a:r>
          </a:p>
        </p:txBody>
      </p:sp>
      <p:sp>
        <p:nvSpPr>
          <p:cNvPr id="9" name="TextBox 8">
            <a:extLst>
              <a:ext uri="{FF2B5EF4-FFF2-40B4-BE49-F238E27FC236}">
                <a16:creationId xmlns:a16="http://schemas.microsoft.com/office/drawing/2014/main" id="{60220DDA-69C4-4D6D-08EE-AE7B1D73FEA2}"/>
              </a:ext>
            </a:extLst>
          </p:cNvPr>
          <p:cNvSpPr txBox="1"/>
          <p:nvPr/>
        </p:nvSpPr>
        <p:spPr>
          <a:xfrm>
            <a:off x="3725126" y="331202"/>
            <a:ext cx="5259068" cy="707886"/>
          </a:xfrm>
          <a:prstGeom prst="rect">
            <a:avLst/>
          </a:prstGeom>
          <a:noFill/>
        </p:spPr>
        <p:txBody>
          <a:bodyPr wrap="none" rtlCol="0">
            <a:spAutoFit/>
          </a:bodyPr>
          <a:lstStyle/>
          <a:p>
            <a:r>
              <a:rPr lang="en-US" sz="4000" b="1" dirty="0">
                <a:latin typeface="Cambria" panose="02040503050406030204" pitchFamily="18" charset="0"/>
              </a:rPr>
              <a:t>Đoàn Cao </a:t>
            </a:r>
            <a:r>
              <a:rPr lang="en-US" sz="4000" b="1" dirty="0" err="1">
                <a:latin typeface="Cambria" panose="02040503050406030204" pitchFamily="18" charset="0"/>
              </a:rPr>
              <a:t>Diệu</a:t>
            </a:r>
            <a:r>
              <a:rPr lang="en-US" sz="4000" b="1" dirty="0">
                <a:latin typeface="Cambria" panose="02040503050406030204" pitchFamily="18" charset="0"/>
              </a:rPr>
              <a:t> Quỳnh</a:t>
            </a:r>
            <a:endParaRPr lang="en-VN" sz="4000" b="1" dirty="0">
              <a:latin typeface="Cambria" panose="02040503050406030204" pitchFamily="18" charset="0"/>
            </a:endParaRPr>
          </a:p>
        </p:txBody>
      </p:sp>
      <p:sp>
        <p:nvSpPr>
          <p:cNvPr id="10" name="TextBox 9">
            <a:extLst>
              <a:ext uri="{FF2B5EF4-FFF2-40B4-BE49-F238E27FC236}">
                <a16:creationId xmlns:a16="http://schemas.microsoft.com/office/drawing/2014/main" id="{F249F326-2931-2234-C73C-6FBB0B2B6CA9}"/>
              </a:ext>
            </a:extLst>
          </p:cNvPr>
          <p:cNvSpPr txBox="1"/>
          <p:nvPr/>
        </p:nvSpPr>
        <p:spPr>
          <a:xfrm>
            <a:off x="3942000" y="1238400"/>
            <a:ext cx="7915330" cy="4454233"/>
          </a:xfrm>
          <a:prstGeom prst="rect">
            <a:avLst/>
          </a:prstGeom>
          <a:noFill/>
        </p:spPr>
        <p:txBody>
          <a:bodyPr wrap="square" rtlCol="0">
            <a:spAutoFit/>
          </a:bodyPr>
          <a:lstStyle/>
          <a:p>
            <a:pPr marL="44450" lvl="2" algn="just">
              <a:lnSpc>
                <a:spcPct val="150000"/>
              </a:lnSpc>
            </a:pPr>
            <a:r>
              <a:rPr lang="en-US" sz="2400" b="1" kern="100" dirty="0">
                <a:effectLst/>
                <a:latin typeface="Lucida Bright" panose="02040602050505020304" pitchFamily="18" charset="77"/>
                <a:ea typeface="Calibri" panose="020F0502020204030204" pitchFamily="34" charset="0"/>
                <a:cs typeface="Times New Roman" panose="02020603050405020304" pitchFamily="18" charset="0"/>
              </a:rPr>
              <a:t>Role</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a:t>
            </a:r>
          </a:p>
          <a:p>
            <a:pPr marL="44450" lvl="2" algn="just">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Manage the finance of SUC team </a:t>
            </a:r>
          </a:p>
          <a:p>
            <a:pPr marL="44450" lvl="2">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Support as a logistics in buying some furniture or fruits to the practice time</a:t>
            </a:r>
          </a:p>
          <a:p>
            <a:pPr marL="44450" lvl="2">
              <a:lnSpc>
                <a:spcPct val="150000"/>
              </a:lnSpc>
            </a:pP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Raising fund plans</a:t>
            </a:r>
          </a:p>
          <a:p>
            <a:pPr marL="44450" lvl="2">
              <a:lnSpc>
                <a:spcPct val="150000"/>
              </a:lnSpc>
            </a:pP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Receiving fee payment for field after each practicing</a:t>
            </a:r>
          </a:p>
          <a:p>
            <a:pPr marL="44450" lvl="2">
              <a:lnSpc>
                <a:spcPct val="150000"/>
              </a:lnSpc>
            </a:pPr>
            <a:r>
              <a:rPr lang="en-US" sz="2400" kern="100" dirty="0">
                <a:latin typeface="Lucida Bright" panose="02040602050505020304" pitchFamily="18" charset="77"/>
                <a:ea typeface="Calibri" panose="020F0502020204030204" pitchFamily="34" charset="0"/>
                <a:cs typeface="Times New Roman" panose="02020603050405020304" pitchFamily="18" charset="0"/>
              </a:rPr>
              <a:t>- Do summarize the finance and report</a:t>
            </a:r>
            <a:endParaRPr lang="en-US" sz="2400" kern="100" dirty="0">
              <a:effectLst/>
              <a:latin typeface="Lucida Bright" panose="02040602050505020304" pitchFamily="18" charset="77"/>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92419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4BFDE-2311-BE96-E094-CB21D64259BC}"/>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E6A262FC-85FB-C81D-2D6E-27C58BF8180E}"/>
              </a:ext>
            </a:extLst>
          </p:cNvPr>
          <p:cNvPicPr>
            <a:picLocks noChangeAspect="1"/>
          </p:cNvPicPr>
          <p:nvPr/>
        </p:nvPicPr>
        <p:blipFill>
          <a:blip r:embed="rId3">
            <a:alphaModFix/>
          </a:blip>
          <a:srcRect l="6211" t="9088" r="6211" b="4246"/>
          <a:stretch>
            <a:fillRect/>
          </a:stretch>
        </p:blipFill>
        <p:spPr>
          <a:xfrm>
            <a:off x="1041134" y="492623"/>
            <a:ext cx="2148640" cy="2148640"/>
          </a:xfrm>
          <a:custGeom>
            <a:avLst/>
            <a:gdLst>
              <a:gd name="connsiteX0" fmla="*/ 2641600 w 5283200"/>
              <a:gd name="connsiteY0" fmla="*/ 0 h 5283200"/>
              <a:gd name="connsiteX1" fmla="*/ 5283200 w 5283200"/>
              <a:gd name="connsiteY1" fmla="*/ 2641600 h 5283200"/>
              <a:gd name="connsiteX2" fmla="*/ 2641600 w 5283200"/>
              <a:gd name="connsiteY2" fmla="*/ 5283200 h 5283200"/>
              <a:gd name="connsiteX3" fmla="*/ 0 w 5283200"/>
              <a:gd name="connsiteY3" fmla="*/ 2641600 h 5283200"/>
              <a:gd name="connsiteX4" fmla="*/ 2641600 w 5283200"/>
              <a:gd name="connsiteY4" fmla="*/ 0 h 528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0" h="5283200">
                <a:moveTo>
                  <a:pt x="2641600" y="0"/>
                </a:moveTo>
                <a:cubicBezTo>
                  <a:pt x="4100515" y="0"/>
                  <a:pt x="5283200" y="1182685"/>
                  <a:pt x="5283200" y="2641600"/>
                </a:cubicBezTo>
                <a:cubicBezTo>
                  <a:pt x="5283200" y="4100515"/>
                  <a:pt x="4100515" y="5283200"/>
                  <a:pt x="2641600" y="5283200"/>
                </a:cubicBezTo>
                <a:cubicBezTo>
                  <a:pt x="1182685" y="5283200"/>
                  <a:pt x="0" y="4100515"/>
                  <a:pt x="0" y="2641600"/>
                </a:cubicBezTo>
                <a:cubicBezTo>
                  <a:pt x="0" y="1182685"/>
                  <a:pt x="1182685" y="0"/>
                  <a:pt x="2641600" y="0"/>
                </a:cubicBezTo>
                <a:close/>
              </a:path>
            </a:pathLst>
          </a:custGeom>
        </p:spPr>
      </p:pic>
      <p:pic>
        <p:nvPicPr>
          <p:cNvPr id="19" name="Picture 18">
            <a:extLst>
              <a:ext uri="{FF2B5EF4-FFF2-40B4-BE49-F238E27FC236}">
                <a16:creationId xmlns:a16="http://schemas.microsoft.com/office/drawing/2014/main" id="{1A3327D8-8D02-7E6F-D0DA-D36C14316822}"/>
              </a:ext>
            </a:extLst>
          </p:cNvPr>
          <p:cNvPicPr>
            <a:picLocks noChangeAspect="1"/>
          </p:cNvPicPr>
          <p:nvPr/>
        </p:nvPicPr>
        <p:blipFill>
          <a:blip r:embed="rId4">
            <a:alphaModFix amt="30000"/>
          </a:blip>
          <a:srcRect l="13038" t="26076" r="13038"/>
          <a:stretch>
            <a:fillRect/>
          </a:stretch>
        </p:blipFill>
        <p:spPr>
          <a:xfrm>
            <a:off x="3707632" y="5179498"/>
            <a:ext cx="1381456" cy="1381456"/>
          </a:xfrm>
          <a:custGeom>
            <a:avLst/>
            <a:gdLst>
              <a:gd name="connsiteX0" fmla="*/ 2534856 w 5069712"/>
              <a:gd name="connsiteY0" fmla="*/ 0 h 5069712"/>
              <a:gd name="connsiteX1" fmla="*/ 5069712 w 5069712"/>
              <a:gd name="connsiteY1" fmla="*/ 2534856 h 5069712"/>
              <a:gd name="connsiteX2" fmla="*/ 2534856 w 5069712"/>
              <a:gd name="connsiteY2" fmla="*/ 5069712 h 5069712"/>
              <a:gd name="connsiteX3" fmla="*/ 0 w 5069712"/>
              <a:gd name="connsiteY3" fmla="*/ 2534856 h 5069712"/>
              <a:gd name="connsiteX4" fmla="*/ 2534856 w 5069712"/>
              <a:gd name="connsiteY4" fmla="*/ 0 h 5069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712" h="5069712">
                <a:moveTo>
                  <a:pt x="2534856" y="0"/>
                </a:moveTo>
                <a:cubicBezTo>
                  <a:pt x="3934818" y="0"/>
                  <a:pt x="5069712" y="1134894"/>
                  <a:pt x="5069712" y="2534856"/>
                </a:cubicBezTo>
                <a:cubicBezTo>
                  <a:pt x="5069712" y="3934818"/>
                  <a:pt x="3934818" y="5069712"/>
                  <a:pt x="2534856" y="5069712"/>
                </a:cubicBezTo>
                <a:cubicBezTo>
                  <a:pt x="1134894" y="5069712"/>
                  <a:pt x="0" y="3934818"/>
                  <a:pt x="0" y="2534856"/>
                </a:cubicBezTo>
                <a:cubicBezTo>
                  <a:pt x="0" y="1134894"/>
                  <a:pt x="1134894" y="0"/>
                  <a:pt x="2534856" y="0"/>
                </a:cubicBezTo>
                <a:close/>
              </a:path>
            </a:pathLst>
          </a:custGeom>
        </p:spPr>
      </p:pic>
      <p:pic>
        <p:nvPicPr>
          <p:cNvPr id="15" name="Picture 14">
            <a:extLst>
              <a:ext uri="{FF2B5EF4-FFF2-40B4-BE49-F238E27FC236}">
                <a16:creationId xmlns:a16="http://schemas.microsoft.com/office/drawing/2014/main" id="{0389E91A-F206-BF43-A66C-4D35F1A427EB}"/>
              </a:ext>
            </a:extLst>
          </p:cNvPr>
          <p:cNvPicPr>
            <a:picLocks noChangeAspect="1"/>
          </p:cNvPicPr>
          <p:nvPr/>
        </p:nvPicPr>
        <p:blipFill>
          <a:blip r:embed="rId5">
            <a:alphaModFix amt="30000"/>
          </a:blip>
          <a:srcRect l="760" b="1894"/>
          <a:stretch>
            <a:fillRect/>
          </a:stretch>
        </p:blipFill>
        <p:spPr>
          <a:xfrm>
            <a:off x="2167129" y="5260618"/>
            <a:ext cx="1236898" cy="1217666"/>
          </a:xfrm>
          <a:custGeom>
            <a:avLst/>
            <a:gdLst>
              <a:gd name="connsiteX0" fmla="*/ 2173991 w 6049700"/>
              <a:gd name="connsiteY0" fmla="*/ 0 h 5955638"/>
              <a:gd name="connsiteX1" fmla="*/ 3875709 w 6049700"/>
              <a:gd name="connsiteY1" fmla="*/ 0 h 5955638"/>
              <a:gd name="connsiteX2" fmla="*/ 3924348 w 6049700"/>
              <a:gd name="connsiteY2" fmla="*/ 12568 h 5955638"/>
              <a:gd name="connsiteX3" fmla="*/ 6049700 w 6049700"/>
              <a:gd name="connsiteY3" fmla="*/ 2915770 h 5955638"/>
              <a:gd name="connsiteX4" fmla="*/ 3024850 w 6049700"/>
              <a:gd name="connsiteY4" fmla="*/ 5955638 h 5955638"/>
              <a:gd name="connsiteX5" fmla="*/ 0 w 6049700"/>
              <a:gd name="connsiteY5" fmla="*/ 2915770 h 5955638"/>
              <a:gd name="connsiteX6" fmla="*/ 2125352 w 6049700"/>
              <a:gd name="connsiteY6" fmla="*/ 12568 h 59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49700" h="5955638">
                <a:moveTo>
                  <a:pt x="2173991" y="0"/>
                </a:moveTo>
                <a:lnTo>
                  <a:pt x="3875709" y="0"/>
                </a:lnTo>
                <a:lnTo>
                  <a:pt x="3924348" y="12568"/>
                </a:lnTo>
                <a:cubicBezTo>
                  <a:pt x="5155670" y="397451"/>
                  <a:pt x="6049700" y="1551686"/>
                  <a:pt x="6049700" y="2915770"/>
                </a:cubicBezTo>
                <a:cubicBezTo>
                  <a:pt x="6049700" y="4594643"/>
                  <a:pt x="4695429" y="5955638"/>
                  <a:pt x="3024850" y="5955638"/>
                </a:cubicBezTo>
                <a:cubicBezTo>
                  <a:pt x="1354271" y="5955638"/>
                  <a:pt x="0" y="4594643"/>
                  <a:pt x="0" y="2915770"/>
                </a:cubicBezTo>
                <a:cubicBezTo>
                  <a:pt x="0" y="1551686"/>
                  <a:pt x="894031" y="397451"/>
                  <a:pt x="2125352" y="12568"/>
                </a:cubicBezTo>
                <a:close/>
              </a:path>
            </a:pathLst>
          </a:custGeom>
        </p:spPr>
      </p:pic>
      <p:pic>
        <p:nvPicPr>
          <p:cNvPr id="7" name="Picture 6">
            <a:extLst>
              <a:ext uri="{FF2B5EF4-FFF2-40B4-BE49-F238E27FC236}">
                <a16:creationId xmlns:a16="http://schemas.microsoft.com/office/drawing/2014/main" id="{2EDE8774-9447-6B1A-53E4-B102832D178F}"/>
              </a:ext>
            </a:extLst>
          </p:cNvPr>
          <p:cNvPicPr>
            <a:picLocks noChangeAspect="1"/>
          </p:cNvPicPr>
          <p:nvPr/>
        </p:nvPicPr>
        <p:blipFill>
          <a:blip r:embed="rId6">
            <a:alphaModFix amt="30000"/>
          </a:blip>
          <a:srcRect l="1191" t="29312" r="45793"/>
          <a:stretch>
            <a:fillRect/>
          </a:stretch>
        </p:blipFill>
        <p:spPr>
          <a:xfrm>
            <a:off x="680458" y="5272492"/>
            <a:ext cx="1183066" cy="1183066"/>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sp>
        <p:nvSpPr>
          <p:cNvPr id="34" name="Rectangle 33">
            <a:extLst>
              <a:ext uri="{FF2B5EF4-FFF2-40B4-BE49-F238E27FC236}">
                <a16:creationId xmlns:a16="http://schemas.microsoft.com/office/drawing/2014/main" id="{731AA65F-7D6E-420A-7B5A-F8FC837B7B5A}"/>
              </a:ext>
            </a:extLst>
          </p:cNvPr>
          <p:cNvSpPr/>
          <p:nvPr/>
        </p:nvSpPr>
        <p:spPr>
          <a:xfrm>
            <a:off x="469202" y="2681403"/>
            <a:ext cx="3238430" cy="830997"/>
          </a:xfrm>
          <a:prstGeom prst="rect">
            <a:avLst/>
          </a:prstGeom>
          <a:noFill/>
        </p:spPr>
        <p:txBody>
          <a:bodyPr wrap="square" rtlCol="0">
            <a:spAutoFit/>
          </a:bodyPr>
          <a:lstStyle/>
          <a:p>
            <a:pPr algn="ctr"/>
            <a:r>
              <a:rPr lang="en-US" sz="4800" dirty="0">
                <a:latin typeface="Cooper Black" panose="0208090404030B020404" pitchFamily="18" charset="77"/>
              </a:rPr>
              <a:t>Media</a:t>
            </a:r>
          </a:p>
        </p:txBody>
      </p:sp>
      <p:sp>
        <p:nvSpPr>
          <p:cNvPr id="9" name="TextBox 8">
            <a:extLst>
              <a:ext uri="{FF2B5EF4-FFF2-40B4-BE49-F238E27FC236}">
                <a16:creationId xmlns:a16="http://schemas.microsoft.com/office/drawing/2014/main" id="{27F0B05F-7F29-6A0B-6B6F-47E32236F02A}"/>
              </a:ext>
            </a:extLst>
          </p:cNvPr>
          <p:cNvSpPr txBox="1"/>
          <p:nvPr/>
        </p:nvSpPr>
        <p:spPr>
          <a:xfrm>
            <a:off x="3725126" y="331202"/>
            <a:ext cx="4873578" cy="707886"/>
          </a:xfrm>
          <a:prstGeom prst="rect">
            <a:avLst/>
          </a:prstGeom>
          <a:noFill/>
        </p:spPr>
        <p:txBody>
          <a:bodyPr wrap="none" rtlCol="0">
            <a:spAutoFit/>
          </a:bodyPr>
          <a:lstStyle/>
          <a:p>
            <a:r>
              <a:rPr lang="en-US" sz="4000" b="1" dirty="0">
                <a:latin typeface="Cambria" panose="02040503050406030204" pitchFamily="18" charset="0"/>
              </a:rPr>
              <a:t>Nguyễn </a:t>
            </a:r>
            <a:r>
              <a:rPr lang="en-US" sz="4000" b="1" dirty="0" err="1">
                <a:latin typeface="Cambria" panose="02040503050406030204" pitchFamily="18" charset="0"/>
              </a:rPr>
              <a:t>Vĩnh</a:t>
            </a:r>
            <a:r>
              <a:rPr lang="en-US" sz="4000" b="1" dirty="0">
                <a:latin typeface="Cambria" panose="02040503050406030204" pitchFamily="18" charset="0"/>
              </a:rPr>
              <a:t> </a:t>
            </a:r>
            <a:r>
              <a:rPr lang="en-US" sz="4000" b="1" dirty="0" err="1">
                <a:latin typeface="Cambria" panose="02040503050406030204" pitchFamily="18" charset="0"/>
              </a:rPr>
              <a:t>Tường</a:t>
            </a:r>
            <a:endParaRPr lang="en-VN" sz="4000" b="1" dirty="0">
              <a:latin typeface="Cambria" panose="02040503050406030204" pitchFamily="18" charset="0"/>
            </a:endParaRPr>
          </a:p>
        </p:txBody>
      </p:sp>
      <p:sp>
        <p:nvSpPr>
          <p:cNvPr id="10" name="TextBox 9">
            <a:extLst>
              <a:ext uri="{FF2B5EF4-FFF2-40B4-BE49-F238E27FC236}">
                <a16:creationId xmlns:a16="http://schemas.microsoft.com/office/drawing/2014/main" id="{01B2EA07-1365-7B23-11A2-03EEC3CF7832}"/>
              </a:ext>
            </a:extLst>
          </p:cNvPr>
          <p:cNvSpPr txBox="1"/>
          <p:nvPr/>
        </p:nvSpPr>
        <p:spPr>
          <a:xfrm>
            <a:off x="3942000" y="1238400"/>
            <a:ext cx="7915330" cy="3900235"/>
          </a:xfrm>
          <a:prstGeom prst="rect">
            <a:avLst/>
          </a:prstGeom>
          <a:noFill/>
        </p:spPr>
        <p:txBody>
          <a:bodyPr wrap="square" rtlCol="0">
            <a:spAutoFit/>
          </a:bodyPr>
          <a:lstStyle/>
          <a:p>
            <a:pPr marL="44450" lvl="2">
              <a:lnSpc>
                <a:spcPct val="150000"/>
              </a:lnSpc>
            </a:pPr>
            <a:r>
              <a:rPr lang="en-US" sz="2400" b="1" kern="100" dirty="0">
                <a:effectLst/>
                <a:latin typeface="Lucida Bright" panose="02040602050505020304" pitchFamily="18" charset="77"/>
                <a:ea typeface="Calibri" panose="020F0502020204030204" pitchFamily="34" charset="0"/>
                <a:cs typeface="Times New Roman" panose="02020603050405020304" pitchFamily="18" charset="0"/>
              </a:rPr>
              <a:t>Role</a:t>
            </a: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a:t>
            </a:r>
          </a:p>
          <a:p>
            <a:pPr marL="44450" lvl="2">
              <a:lnSpc>
                <a:spcPct val="150000"/>
              </a:lnSpc>
            </a:pP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Make up ideas for weekly posters and do post the poster for the training time, events,…</a:t>
            </a:r>
          </a:p>
          <a:p>
            <a:pPr marL="44450" lvl="2">
              <a:lnSpc>
                <a:spcPct val="150000"/>
              </a:lnSpc>
            </a:pP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Making plan for SUC to attractive people’s concerning</a:t>
            </a:r>
          </a:p>
          <a:p>
            <a:pPr marL="44450" lvl="2">
              <a:lnSpc>
                <a:spcPct val="150000"/>
              </a:lnSpc>
            </a:pPr>
            <a:r>
              <a:rPr lang="en-US" sz="2400" kern="100" dirty="0">
                <a:effectLst/>
                <a:latin typeface="Lucida Bright" panose="02040602050505020304" pitchFamily="18" charset="77"/>
                <a:ea typeface="Calibri" panose="020F0502020204030204" pitchFamily="34" charset="0"/>
                <a:cs typeface="Times New Roman" panose="02020603050405020304" pitchFamily="18" charset="0"/>
              </a:rPr>
              <a:t>- Page Management </a:t>
            </a:r>
          </a:p>
          <a:p>
            <a:pPr marL="44450" lvl="2">
              <a:lnSpc>
                <a:spcPct val="150000"/>
              </a:lnSpc>
            </a:pPr>
            <a:r>
              <a:rPr lang="en-US" sz="2400" kern="100" dirty="0">
                <a:latin typeface="Lucida Bright" panose="02040602050505020304" pitchFamily="18" charset="77"/>
                <a:cs typeface="Times New Roman" panose="02020603050405020304" pitchFamily="18" charset="0"/>
              </a:rPr>
              <a:t>- Make uniform designs</a:t>
            </a:r>
            <a:r>
              <a:rPr lang="en-VN" sz="2400" kern="100" dirty="0">
                <a:latin typeface="Lucida Bright" panose="02040602050505020304" pitchFamily="18" charset="77"/>
                <a:cs typeface="Times New Roman" panose="02020603050405020304" pitchFamily="18" charset="0"/>
              </a:rPr>
              <a:t> </a:t>
            </a:r>
            <a:r>
              <a:rPr lang="en-US" sz="2400" kern="100" dirty="0">
                <a:latin typeface="Lucida Bright" panose="02040602050505020304" pitchFamily="18" charset="77"/>
                <a:cs typeface="Times New Roman" panose="02020603050405020304" pitchFamily="18" charset="0"/>
              </a:rPr>
              <a:t>up</a:t>
            </a:r>
          </a:p>
        </p:txBody>
      </p:sp>
    </p:spTree>
    <p:extLst>
      <p:ext uri="{BB962C8B-B14F-4D97-AF65-F5344CB8AC3E}">
        <p14:creationId xmlns:p14="http://schemas.microsoft.com/office/powerpoint/2010/main" val="33478757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2CD43-3FF5-6DB4-896E-576E3C18C238}"/>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AC1DA6F4-FF3B-62FB-B58B-B010D83550BF}"/>
              </a:ext>
            </a:extLst>
          </p:cNvPr>
          <p:cNvPicPr>
            <a:picLocks noChangeAspect="1"/>
          </p:cNvPicPr>
          <p:nvPr/>
        </p:nvPicPr>
        <p:blipFill>
          <a:blip r:embed="rId3">
            <a:alphaModFix amt="30000"/>
          </a:blip>
          <a:srcRect l="6211" t="9088" r="6211" b="4246"/>
          <a:stretch>
            <a:fillRect/>
          </a:stretch>
        </p:blipFill>
        <p:spPr>
          <a:xfrm>
            <a:off x="5366947" y="5167096"/>
            <a:ext cx="1393858" cy="1393858"/>
          </a:xfrm>
          <a:custGeom>
            <a:avLst/>
            <a:gdLst>
              <a:gd name="connsiteX0" fmla="*/ 2641600 w 5283200"/>
              <a:gd name="connsiteY0" fmla="*/ 0 h 5283200"/>
              <a:gd name="connsiteX1" fmla="*/ 5283200 w 5283200"/>
              <a:gd name="connsiteY1" fmla="*/ 2641600 h 5283200"/>
              <a:gd name="connsiteX2" fmla="*/ 2641600 w 5283200"/>
              <a:gd name="connsiteY2" fmla="*/ 5283200 h 5283200"/>
              <a:gd name="connsiteX3" fmla="*/ 0 w 5283200"/>
              <a:gd name="connsiteY3" fmla="*/ 2641600 h 5283200"/>
              <a:gd name="connsiteX4" fmla="*/ 2641600 w 5283200"/>
              <a:gd name="connsiteY4" fmla="*/ 0 h 528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3200" h="5283200">
                <a:moveTo>
                  <a:pt x="2641600" y="0"/>
                </a:moveTo>
                <a:cubicBezTo>
                  <a:pt x="4100515" y="0"/>
                  <a:pt x="5283200" y="1182685"/>
                  <a:pt x="5283200" y="2641600"/>
                </a:cubicBezTo>
                <a:cubicBezTo>
                  <a:pt x="5283200" y="4100515"/>
                  <a:pt x="4100515" y="5283200"/>
                  <a:pt x="2641600" y="5283200"/>
                </a:cubicBezTo>
                <a:cubicBezTo>
                  <a:pt x="1182685" y="5283200"/>
                  <a:pt x="0" y="4100515"/>
                  <a:pt x="0" y="2641600"/>
                </a:cubicBezTo>
                <a:cubicBezTo>
                  <a:pt x="0" y="1182685"/>
                  <a:pt x="1182685" y="0"/>
                  <a:pt x="2641600" y="0"/>
                </a:cubicBezTo>
                <a:close/>
              </a:path>
            </a:pathLst>
          </a:custGeom>
        </p:spPr>
      </p:pic>
      <p:pic>
        <p:nvPicPr>
          <p:cNvPr id="19" name="Picture 18">
            <a:extLst>
              <a:ext uri="{FF2B5EF4-FFF2-40B4-BE49-F238E27FC236}">
                <a16:creationId xmlns:a16="http://schemas.microsoft.com/office/drawing/2014/main" id="{11C34CD5-D391-ACD8-DF83-27AC38DAAB2D}"/>
              </a:ext>
            </a:extLst>
          </p:cNvPr>
          <p:cNvPicPr>
            <a:picLocks noChangeAspect="1"/>
          </p:cNvPicPr>
          <p:nvPr/>
        </p:nvPicPr>
        <p:blipFill>
          <a:blip r:embed="rId4">
            <a:alphaModFix amt="30000"/>
          </a:blip>
          <a:srcRect l="13038" t="26076" r="13038"/>
          <a:stretch>
            <a:fillRect/>
          </a:stretch>
        </p:blipFill>
        <p:spPr>
          <a:xfrm>
            <a:off x="3707632" y="5179498"/>
            <a:ext cx="1381456" cy="1381456"/>
          </a:xfrm>
          <a:custGeom>
            <a:avLst/>
            <a:gdLst>
              <a:gd name="connsiteX0" fmla="*/ 2534856 w 5069712"/>
              <a:gd name="connsiteY0" fmla="*/ 0 h 5069712"/>
              <a:gd name="connsiteX1" fmla="*/ 5069712 w 5069712"/>
              <a:gd name="connsiteY1" fmla="*/ 2534856 h 5069712"/>
              <a:gd name="connsiteX2" fmla="*/ 2534856 w 5069712"/>
              <a:gd name="connsiteY2" fmla="*/ 5069712 h 5069712"/>
              <a:gd name="connsiteX3" fmla="*/ 0 w 5069712"/>
              <a:gd name="connsiteY3" fmla="*/ 2534856 h 5069712"/>
              <a:gd name="connsiteX4" fmla="*/ 2534856 w 5069712"/>
              <a:gd name="connsiteY4" fmla="*/ 0 h 5069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9712" h="5069712">
                <a:moveTo>
                  <a:pt x="2534856" y="0"/>
                </a:moveTo>
                <a:cubicBezTo>
                  <a:pt x="3934818" y="0"/>
                  <a:pt x="5069712" y="1134894"/>
                  <a:pt x="5069712" y="2534856"/>
                </a:cubicBezTo>
                <a:cubicBezTo>
                  <a:pt x="5069712" y="3934818"/>
                  <a:pt x="3934818" y="5069712"/>
                  <a:pt x="2534856" y="5069712"/>
                </a:cubicBezTo>
                <a:cubicBezTo>
                  <a:pt x="1134894" y="5069712"/>
                  <a:pt x="0" y="3934818"/>
                  <a:pt x="0" y="2534856"/>
                </a:cubicBezTo>
                <a:cubicBezTo>
                  <a:pt x="0" y="1134894"/>
                  <a:pt x="1134894" y="0"/>
                  <a:pt x="2534856" y="0"/>
                </a:cubicBezTo>
                <a:close/>
              </a:path>
            </a:pathLst>
          </a:custGeom>
        </p:spPr>
      </p:pic>
      <p:pic>
        <p:nvPicPr>
          <p:cNvPr id="15" name="Picture 14">
            <a:extLst>
              <a:ext uri="{FF2B5EF4-FFF2-40B4-BE49-F238E27FC236}">
                <a16:creationId xmlns:a16="http://schemas.microsoft.com/office/drawing/2014/main" id="{56C20441-EC94-785D-C97C-685DDB13CFE5}"/>
              </a:ext>
            </a:extLst>
          </p:cNvPr>
          <p:cNvPicPr>
            <a:picLocks noChangeAspect="1"/>
          </p:cNvPicPr>
          <p:nvPr/>
        </p:nvPicPr>
        <p:blipFill>
          <a:blip r:embed="rId5">
            <a:alphaModFix amt="30000"/>
          </a:blip>
          <a:srcRect l="760" b="1894"/>
          <a:stretch>
            <a:fillRect/>
          </a:stretch>
        </p:blipFill>
        <p:spPr>
          <a:xfrm>
            <a:off x="2167129" y="5260618"/>
            <a:ext cx="1236898" cy="1217666"/>
          </a:xfrm>
          <a:custGeom>
            <a:avLst/>
            <a:gdLst>
              <a:gd name="connsiteX0" fmla="*/ 2173991 w 6049700"/>
              <a:gd name="connsiteY0" fmla="*/ 0 h 5955638"/>
              <a:gd name="connsiteX1" fmla="*/ 3875709 w 6049700"/>
              <a:gd name="connsiteY1" fmla="*/ 0 h 5955638"/>
              <a:gd name="connsiteX2" fmla="*/ 3924348 w 6049700"/>
              <a:gd name="connsiteY2" fmla="*/ 12568 h 5955638"/>
              <a:gd name="connsiteX3" fmla="*/ 6049700 w 6049700"/>
              <a:gd name="connsiteY3" fmla="*/ 2915770 h 5955638"/>
              <a:gd name="connsiteX4" fmla="*/ 3024850 w 6049700"/>
              <a:gd name="connsiteY4" fmla="*/ 5955638 h 5955638"/>
              <a:gd name="connsiteX5" fmla="*/ 0 w 6049700"/>
              <a:gd name="connsiteY5" fmla="*/ 2915770 h 5955638"/>
              <a:gd name="connsiteX6" fmla="*/ 2125352 w 6049700"/>
              <a:gd name="connsiteY6" fmla="*/ 12568 h 59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49700" h="5955638">
                <a:moveTo>
                  <a:pt x="2173991" y="0"/>
                </a:moveTo>
                <a:lnTo>
                  <a:pt x="3875709" y="0"/>
                </a:lnTo>
                <a:lnTo>
                  <a:pt x="3924348" y="12568"/>
                </a:lnTo>
                <a:cubicBezTo>
                  <a:pt x="5155670" y="397451"/>
                  <a:pt x="6049700" y="1551686"/>
                  <a:pt x="6049700" y="2915770"/>
                </a:cubicBezTo>
                <a:cubicBezTo>
                  <a:pt x="6049700" y="4594643"/>
                  <a:pt x="4695429" y="5955638"/>
                  <a:pt x="3024850" y="5955638"/>
                </a:cubicBezTo>
                <a:cubicBezTo>
                  <a:pt x="1354271" y="5955638"/>
                  <a:pt x="0" y="4594643"/>
                  <a:pt x="0" y="2915770"/>
                </a:cubicBezTo>
                <a:cubicBezTo>
                  <a:pt x="0" y="1551686"/>
                  <a:pt x="894031" y="397451"/>
                  <a:pt x="2125352" y="12568"/>
                </a:cubicBezTo>
                <a:close/>
              </a:path>
            </a:pathLst>
          </a:custGeom>
        </p:spPr>
      </p:pic>
      <p:pic>
        <p:nvPicPr>
          <p:cNvPr id="7" name="Picture 6">
            <a:extLst>
              <a:ext uri="{FF2B5EF4-FFF2-40B4-BE49-F238E27FC236}">
                <a16:creationId xmlns:a16="http://schemas.microsoft.com/office/drawing/2014/main" id="{B6D2F028-C77D-116C-1441-44E4DB7F9A19}"/>
              </a:ext>
            </a:extLst>
          </p:cNvPr>
          <p:cNvPicPr>
            <a:picLocks noChangeAspect="1"/>
          </p:cNvPicPr>
          <p:nvPr/>
        </p:nvPicPr>
        <p:blipFill>
          <a:blip r:embed="rId6">
            <a:alphaModFix amt="30000"/>
          </a:blip>
          <a:srcRect l="1191" t="29312" r="45793"/>
          <a:stretch>
            <a:fillRect/>
          </a:stretch>
        </p:blipFill>
        <p:spPr>
          <a:xfrm>
            <a:off x="680458" y="5272492"/>
            <a:ext cx="1183066" cy="1183066"/>
          </a:xfrm>
          <a:custGeom>
            <a:avLst/>
            <a:gdLst>
              <a:gd name="connsiteX0" fmla="*/ 2060294 w 4120588"/>
              <a:gd name="connsiteY0" fmla="*/ 0 h 4120588"/>
              <a:gd name="connsiteX1" fmla="*/ 4120588 w 4120588"/>
              <a:gd name="connsiteY1" fmla="*/ 2060294 h 4120588"/>
              <a:gd name="connsiteX2" fmla="*/ 2060294 w 4120588"/>
              <a:gd name="connsiteY2" fmla="*/ 4120588 h 4120588"/>
              <a:gd name="connsiteX3" fmla="*/ 0 w 4120588"/>
              <a:gd name="connsiteY3" fmla="*/ 2060294 h 4120588"/>
              <a:gd name="connsiteX4" fmla="*/ 2060294 w 4120588"/>
              <a:gd name="connsiteY4" fmla="*/ 0 h 412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0588" h="4120588">
                <a:moveTo>
                  <a:pt x="2060294" y="0"/>
                </a:moveTo>
                <a:cubicBezTo>
                  <a:pt x="3198163" y="0"/>
                  <a:pt x="4120588" y="922425"/>
                  <a:pt x="4120588" y="2060294"/>
                </a:cubicBezTo>
                <a:cubicBezTo>
                  <a:pt x="4120588" y="3198163"/>
                  <a:pt x="3198163" y="4120588"/>
                  <a:pt x="2060294" y="4120588"/>
                </a:cubicBezTo>
                <a:cubicBezTo>
                  <a:pt x="922425" y="4120588"/>
                  <a:pt x="0" y="3198163"/>
                  <a:pt x="0" y="2060294"/>
                </a:cubicBezTo>
                <a:cubicBezTo>
                  <a:pt x="0" y="922425"/>
                  <a:pt x="922425" y="0"/>
                  <a:pt x="2060294" y="0"/>
                </a:cubicBezTo>
                <a:close/>
              </a:path>
            </a:pathLst>
          </a:custGeom>
        </p:spPr>
      </p:pic>
      <p:grpSp>
        <p:nvGrpSpPr>
          <p:cNvPr id="21" name="Group 20">
            <a:extLst>
              <a:ext uri="{FF2B5EF4-FFF2-40B4-BE49-F238E27FC236}">
                <a16:creationId xmlns:a16="http://schemas.microsoft.com/office/drawing/2014/main" id="{A95668B2-3F28-056A-BE8F-D769E4BCD1DD}"/>
              </a:ext>
            </a:extLst>
          </p:cNvPr>
          <p:cNvGrpSpPr/>
          <p:nvPr/>
        </p:nvGrpSpPr>
        <p:grpSpPr>
          <a:xfrm>
            <a:off x="469202" y="323273"/>
            <a:ext cx="6351663" cy="4442455"/>
            <a:chOff x="469202" y="225299"/>
            <a:chExt cx="6351663" cy="4442455"/>
          </a:xfrm>
        </p:grpSpPr>
        <p:sp>
          <p:nvSpPr>
            <p:cNvPr id="9" name="TextBox 8">
              <a:extLst>
                <a:ext uri="{FF2B5EF4-FFF2-40B4-BE49-F238E27FC236}">
                  <a16:creationId xmlns:a16="http://schemas.microsoft.com/office/drawing/2014/main" id="{E2FBA5E8-1AF7-97E8-7313-8AF892C96C14}"/>
                </a:ext>
              </a:extLst>
            </p:cNvPr>
            <p:cNvSpPr txBox="1"/>
            <p:nvPr/>
          </p:nvSpPr>
          <p:spPr>
            <a:xfrm>
              <a:off x="469202" y="225299"/>
              <a:ext cx="3128100" cy="707886"/>
            </a:xfrm>
            <a:prstGeom prst="rect">
              <a:avLst/>
            </a:prstGeom>
            <a:noFill/>
          </p:spPr>
          <p:txBody>
            <a:bodyPr wrap="none" rtlCol="0">
              <a:spAutoFit/>
            </a:bodyPr>
            <a:lstStyle/>
            <a:p>
              <a:r>
                <a:rPr lang="en-US" sz="4000" b="1" dirty="0">
                  <a:latin typeface="Cambria" panose="02040503050406030204" pitchFamily="18" charset="0"/>
                </a:rPr>
                <a:t>Role Needed</a:t>
              </a:r>
              <a:endParaRPr lang="en-VN" sz="4000" b="1" dirty="0">
                <a:latin typeface="Cambria" panose="02040503050406030204" pitchFamily="18" charset="0"/>
              </a:endParaRPr>
            </a:p>
          </p:txBody>
        </p:sp>
        <p:grpSp>
          <p:nvGrpSpPr>
            <p:cNvPr id="13" name="Group 12">
              <a:extLst>
                <a:ext uri="{FF2B5EF4-FFF2-40B4-BE49-F238E27FC236}">
                  <a16:creationId xmlns:a16="http://schemas.microsoft.com/office/drawing/2014/main" id="{19621442-02D0-D040-2BDD-B7DD91CEB0A9}"/>
                </a:ext>
              </a:extLst>
            </p:cNvPr>
            <p:cNvGrpSpPr/>
            <p:nvPr/>
          </p:nvGrpSpPr>
          <p:grpSpPr>
            <a:xfrm>
              <a:off x="469202" y="1351935"/>
              <a:ext cx="6351663" cy="3315819"/>
              <a:chOff x="3014826" y="1345470"/>
              <a:chExt cx="8718540" cy="3315819"/>
            </a:xfrm>
          </p:grpSpPr>
          <p:grpSp>
            <p:nvGrpSpPr>
              <p:cNvPr id="8" name="Group 7">
                <a:extLst>
                  <a:ext uri="{FF2B5EF4-FFF2-40B4-BE49-F238E27FC236}">
                    <a16:creationId xmlns:a16="http://schemas.microsoft.com/office/drawing/2014/main" id="{ADF94033-840E-849B-8C82-9ACB8D1FE59B}"/>
                  </a:ext>
                </a:extLst>
              </p:cNvPr>
              <p:cNvGrpSpPr/>
              <p:nvPr/>
            </p:nvGrpSpPr>
            <p:grpSpPr>
              <a:xfrm>
                <a:off x="3014826" y="4014958"/>
                <a:ext cx="8718540" cy="646331"/>
                <a:chOff x="900928" y="3678332"/>
                <a:chExt cx="10521834" cy="646331"/>
              </a:xfrm>
            </p:grpSpPr>
            <p:sp>
              <p:nvSpPr>
                <p:cNvPr id="3" name="Rectangle 2">
                  <a:extLst>
                    <a:ext uri="{FF2B5EF4-FFF2-40B4-BE49-F238E27FC236}">
                      <a16:creationId xmlns:a16="http://schemas.microsoft.com/office/drawing/2014/main" id="{DBEBA59C-E3A7-DABF-49FD-2685A4B17F66}"/>
                    </a:ext>
                  </a:extLst>
                </p:cNvPr>
                <p:cNvSpPr/>
                <p:nvPr/>
              </p:nvSpPr>
              <p:spPr>
                <a:xfrm>
                  <a:off x="900928" y="3678332"/>
                  <a:ext cx="3837188" cy="646331"/>
                </a:xfrm>
                <a:prstGeom prst="rect">
                  <a:avLst/>
                </a:prstGeom>
                <a:noFill/>
              </p:spPr>
              <p:txBody>
                <a:bodyPr wrap="square" rtlCol="0">
                  <a:spAutoFit/>
                </a:bodyPr>
                <a:lstStyle/>
                <a:p>
                  <a:pPr algn="ctr"/>
                  <a:r>
                    <a:rPr lang="en-US" sz="3600" dirty="0">
                      <a:latin typeface="Cooper Black" panose="0208090404030B020404" pitchFamily="18" charset="77"/>
                    </a:rPr>
                    <a:t>Media</a:t>
                  </a:r>
                </a:p>
              </p:txBody>
            </p:sp>
            <p:sp>
              <p:nvSpPr>
                <p:cNvPr id="4" name="TextBox 3">
                  <a:extLst>
                    <a:ext uri="{FF2B5EF4-FFF2-40B4-BE49-F238E27FC236}">
                      <a16:creationId xmlns:a16="http://schemas.microsoft.com/office/drawing/2014/main" id="{197903EB-2C1C-83BD-6770-0F28831BB662}"/>
                    </a:ext>
                  </a:extLst>
                </p:cNvPr>
                <p:cNvSpPr txBox="1"/>
                <p:nvPr/>
              </p:nvSpPr>
              <p:spPr>
                <a:xfrm>
                  <a:off x="4884308" y="3739887"/>
                  <a:ext cx="6538454" cy="523220"/>
                </a:xfrm>
                <a:prstGeom prst="rect">
                  <a:avLst/>
                </a:prstGeom>
                <a:noFill/>
              </p:spPr>
              <p:txBody>
                <a:bodyPr wrap="square" rtlCol="0">
                  <a:spAutoFit/>
                </a:bodyPr>
                <a:lstStyle/>
                <a:p>
                  <a:r>
                    <a:rPr lang="en-US" sz="2800" dirty="0">
                      <a:latin typeface="Lucida Bright" panose="02040602050505020304" pitchFamily="18" charset="77"/>
                    </a:rPr>
                    <a:t>A</a:t>
                  </a:r>
                  <a:r>
                    <a:rPr lang="en-VN" sz="2800" dirty="0">
                      <a:latin typeface="Lucida Bright" panose="02040602050505020304" pitchFamily="18" charset="77"/>
                    </a:rPr>
                    <a:t>t least 2 person</a:t>
                  </a:r>
                </a:p>
              </p:txBody>
            </p:sp>
          </p:grpSp>
          <p:grpSp>
            <p:nvGrpSpPr>
              <p:cNvPr id="11" name="Group 10">
                <a:extLst>
                  <a:ext uri="{FF2B5EF4-FFF2-40B4-BE49-F238E27FC236}">
                    <a16:creationId xmlns:a16="http://schemas.microsoft.com/office/drawing/2014/main" id="{414A33CF-2DE9-4C2C-B585-C967F3CF3111}"/>
                  </a:ext>
                </a:extLst>
              </p:cNvPr>
              <p:cNvGrpSpPr/>
              <p:nvPr/>
            </p:nvGrpSpPr>
            <p:grpSpPr>
              <a:xfrm>
                <a:off x="3014826" y="2680214"/>
                <a:ext cx="8718540" cy="646331"/>
                <a:chOff x="900928" y="2456507"/>
                <a:chExt cx="10521834" cy="646331"/>
              </a:xfrm>
            </p:grpSpPr>
            <p:sp>
              <p:nvSpPr>
                <p:cNvPr id="34" name="Rectangle 33">
                  <a:extLst>
                    <a:ext uri="{FF2B5EF4-FFF2-40B4-BE49-F238E27FC236}">
                      <a16:creationId xmlns:a16="http://schemas.microsoft.com/office/drawing/2014/main" id="{3B6BBF61-C43F-0CA5-840D-F360E9400ED5}"/>
                    </a:ext>
                  </a:extLst>
                </p:cNvPr>
                <p:cNvSpPr/>
                <p:nvPr/>
              </p:nvSpPr>
              <p:spPr>
                <a:xfrm>
                  <a:off x="900928" y="2456507"/>
                  <a:ext cx="3983380" cy="646331"/>
                </a:xfrm>
                <a:prstGeom prst="rect">
                  <a:avLst/>
                </a:prstGeom>
                <a:noFill/>
              </p:spPr>
              <p:txBody>
                <a:bodyPr wrap="square" rtlCol="0">
                  <a:spAutoFit/>
                </a:bodyPr>
                <a:lstStyle/>
                <a:p>
                  <a:pPr algn="ctr"/>
                  <a:r>
                    <a:rPr lang="en-US" sz="3600" dirty="0">
                      <a:latin typeface="Cooper Black" panose="0208090404030B020404" pitchFamily="18" charset="77"/>
                    </a:rPr>
                    <a:t>Logistic</a:t>
                  </a:r>
                </a:p>
              </p:txBody>
            </p:sp>
            <p:sp>
              <p:nvSpPr>
                <p:cNvPr id="5" name="TextBox 4">
                  <a:extLst>
                    <a:ext uri="{FF2B5EF4-FFF2-40B4-BE49-F238E27FC236}">
                      <a16:creationId xmlns:a16="http://schemas.microsoft.com/office/drawing/2014/main" id="{17FA711D-CABC-B472-854D-7BCFA203EE0D}"/>
                    </a:ext>
                  </a:extLst>
                </p:cNvPr>
                <p:cNvSpPr txBox="1"/>
                <p:nvPr/>
              </p:nvSpPr>
              <p:spPr>
                <a:xfrm>
                  <a:off x="4884308" y="2518062"/>
                  <a:ext cx="6538454" cy="523220"/>
                </a:xfrm>
                <a:prstGeom prst="rect">
                  <a:avLst/>
                </a:prstGeom>
                <a:noFill/>
              </p:spPr>
              <p:txBody>
                <a:bodyPr wrap="square" rtlCol="0">
                  <a:spAutoFit/>
                </a:bodyPr>
                <a:lstStyle/>
                <a:p>
                  <a:r>
                    <a:rPr lang="en-US" sz="2800" dirty="0">
                      <a:latin typeface="Lucida Bright" panose="02040602050505020304" pitchFamily="18" charset="77"/>
                    </a:rPr>
                    <a:t>A</a:t>
                  </a:r>
                  <a:r>
                    <a:rPr lang="en-VN" sz="2800" dirty="0">
                      <a:latin typeface="Lucida Bright" panose="02040602050505020304" pitchFamily="18" charset="77"/>
                    </a:rPr>
                    <a:t>t least 1 person</a:t>
                  </a:r>
                </a:p>
              </p:txBody>
            </p:sp>
          </p:grpSp>
          <p:grpSp>
            <p:nvGrpSpPr>
              <p:cNvPr id="12" name="Group 11">
                <a:extLst>
                  <a:ext uri="{FF2B5EF4-FFF2-40B4-BE49-F238E27FC236}">
                    <a16:creationId xmlns:a16="http://schemas.microsoft.com/office/drawing/2014/main" id="{4771CD10-606A-EA4D-FB70-95E8D3A206CC}"/>
                  </a:ext>
                </a:extLst>
              </p:cNvPr>
              <p:cNvGrpSpPr/>
              <p:nvPr/>
            </p:nvGrpSpPr>
            <p:grpSpPr>
              <a:xfrm>
                <a:off x="3014826" y="1345470"/>
                <a:ext cx="8597403" cy="646331"/>
                <a:chOff x="900928" y="1197387"/>
                <a:chExt cx="10375642" cy="646331"/>
              </a:xfrm>
            </p:grpSpPr>
            <p:sp>
              <p:nvSpPr>
                <p:cNvPr id="2" name="Rectangle 1">
                  <a:extLst>
                    <a:ext uri="{FF2B5EF4-FFF2-40B4-BE49-F238E27FC236}">
                      <a16:creationId xmlns:a16="http://schemas.microsoft.com/office/drawing/2014/main" id="{D88B64B6-30D3-A82D-0F87-0860E97F5CA7}"/>
                    </a:ext>
                  </a:extLst>
                </p:cNvPr>
                <p:cNvSpPr/>
                <p:nvPr/>
              </p:nvSpPr>
              <p:spPr>
                <a:xfrm>
                  <a:off x="900928" y="1197387"/>
                  <a:ext cx="3883888" cy="646331"/>
                </a:xfrm>
                <a:prstGeom prst="rect">
                  <a:avLst/>
                </a:prstGeom>
                <a:noFill/>
              </p:spPr>
              <p:txBody>
                <a:bodyPr wrap="square" rtlCol="0">
                  <a:spAutoFit/>
                </a:bodyPr>
                <a:lstStyle/>
                <a:p>
                  <a:pPr algn="ctr"/>
                  <a:r>
                    <a:rPr lang="en-US" sz="3600" dirty="0">
                      <a:latin typeface="Cooper Black" panose="0208090404030B020404" pitchFamily="18" charset="77"/>
                    </a:rPr>
                    <a:t>Coach</a:t>
                  </a:r>
                </a:p>
              </p:txBody>
            </p:sp>
            <p:sp>
              <p:nvSpPr>
                <p:cNvPr id="6" name="TextBox 5">
                  <a:extLst>
                    <a:ext uri="{FF2B5EF4-FFF2-40B4-BE49-F238E27FC236}">
                      <a16:creationId xmlns:a16="http://schemas.microsoft.com/office/drawing/2014/main" id="{D35099EA-B3C7-BD8E-4A1C-B0090F48497F}"/>
                    </a:ext>
                  </a:extLst>
                </p:cNvPr>
                <p:cNvSpPr txBox="1"/>
                <p:nvPr/>
              </p:nvSpPr>
              <p:spPr>
                <a:xfrm>
                  <a:off x="4738116" y="1258942"/>
                  <a:ext cx="6538454" cy="523220"/>
                </a:xfrm>
                <a:prstGeom prst="rect">
                  <a:avLst/>
                </a:prstGeom>
                <a:noFill/>
              </p:spPr>
              <p:txBody>
                <a:bodyPr wrap="square" rtlCol="0">
                  <a:spAutoFit/>
                </a:bodyPr>
                <a:lstStyle/>
                <a:p>
                  <a:r>
                    <a:rPr lang="en-US" sz="2800" dirty="0">
                      <a:latin typeface="Lucida Bright" panose="02040602050505020304" pitchFamily="18" charset="77"/>
                    </a:rPr>
                    <a:t>A</a:t>
                  </a:r>
                  <a:r>
                    <a:rPr lang="en-VN" sz="2800" dirty="0">
                      <a:latin typeface="Lucida Bright" panose="02040602050505020304" pitchFamily="18" charset="77"/>
                    </a:rPr>
                    <a:t>t least 1 person</a:t>
                  </a:r>
                </a:p>
              </p:txBody>
            </p:sp>
          </p:grpSp>
        </p:grpSp>
      </p:grpSp>
      <p:grpSp>
        <p:nvGrpSpPr>
          <p:cNvPr id="20" name="Group 19">
            <a:extLst>
              <a:ext uri="{FF2B5EF4-FFF2-40B4-BE49-F238E27FC236}">
                <a16:creationId xmlns:a16="http://schemas.microsoft.com/office/drawing/2014/main" id="{79D4EE0E-54D0-92B5-1FFA-E00EFC60B300}"/>
              </a:ext>
            </a:extLst>
          </p:cNvPr>
          <p:cNvGrpSpPr/>
          <p:nvPr/>
        </p:nvGrpSpPr>
        <p:grpSpPr>
          <a:xfrm>
            <a:off x="7775762" y="1975547"/>
            <a:ext cx="3947036" cy="2776012"/>
            <a:chOff x="7775762" y="1975547"/>
            <a:chExt cx="3947036" cy="2776012"/>
          </a:xfrm>
        </p:grpSpPr>
        <p:sp>
          <p:nvSpPr>
            <p:cNvPr id="14" name="TextBox 13">
              <a:extLst>
                <a:ext uri="{FF2B5EF4-FFF2-40B4-BE49-F238E27FC236}">
                  <a16:creationId xmlns:a16="http://schemas.microsoft.com/office/drawing/2014/main" id="{0D2A945D-38A9-0362-9BCA-706553245AAC}"/>
                </a:ext>
              </a:extLst>
            </p:cNvPr>
            <p:cNvSpPr txBox="1"/>
            <p:nvPr/>
          </p:nvSpPr>
          <p:spPr>
            <a:xfrm>
              <a:off x="7775762" y="1975547"/>
              <a:ext cx="3182281" cy="646331"/>
            </a:xfrm>
            <a:prstGeom prst="rect">
              <a:avLst/>
            </a:prstGeom>
            <a:noFill/>
          </p:spPr>
          <p:txBody>
            <a:bodyPr wrap="none" rtlCol="0">
              <a:spAutoFit/>
            </a:bodyPr>
            <a:lstStyle/>
            <a:p>
              <a:r>
                <a:rPr lang="en-VN" sz="3600" b="1" dirty="0">
                  <a:latin typeface="Lucida Bright" panose="02040602050505020304" pitchFamily="18" charset="77"/>
                </a:rPr>
                <a:t>Requirement</a:t>
              </a:r>
            </a:p>
          </p:txBody>
        </p:sp>
        <p:sp>
          <p:nvSpPr>
            <p:cNvPr id="17" name="TextBox 16">
              <a:extLst>
                <a:ext uri="{FF2B5EF4-FFF2-40B4-BE49-F238E27FC236}">
                  <a16:creationId xmlns:a16="http://schemas.microsoft.com/office/drawing/2014/main" id="{34B95196-FD75-FE52-72C7-6EE53B511624}"/>
                </a:ext>
              </a:extLst>
            </p:cNvPr>
            <p:cNvSpPr txBox="1"/>
            <p:nvPr/>
          </p:nvSpPr>
          <p:spPr>
            <a:xfrm>
              <a:off x="7775762" y="2890763"/>
              <a:ext cx="3947036" cy="461665"/>
            </a:xfrm>
            <a:prstGeom prst="rect">
              <a:avLst/>
            </a:prstGeom>
            <a:noFill/>
          </p:spPr>
          <p:txBody>
            <a:bodyPr wrap="square" rtlCol="0">
              <a:spAutoFit/>
            </a:bodyPr>
            <a:lstStyle/>
            <a:p>
              <a:r>
                <a:rPr lang="en-US" sz="2400" dirty="0">
                  <a:latin typeface="Lucida Bright" panose="02040602050505020304" pitchFamily="18" charset="77"/>
                </a:rPr>
                <a:t>Be an official member</a:t>
              </a:r>
              <a:endParaRPr lang="en-VN" sz="2400" dirty="0">
                <a:latin typeface="Lucida Bright" panose="02040602050505020304" pitchFamily="18" charset="77"/>
              </a:endParaRPr>
            </a:p>
          </p:txBody>
        </p:sp>
        <p:sp>
          <p:nvSpPr>
            <p:cNvPr id="18" name="TextBox 17">
              <a:extLst>
                <a:ext uri="{FF2B5EF4-FFF2-40B4-BE49-F238E27FC236}">
                  <a16:creationId xmlns:a16="http://schemas.microsoft.com/office/drawing/2014/main" id="{A886F36C-17C8-65D5-0419-153135C41D53}"/>
                </a:ext>
              </a:extLst>
            </p:cNvPr>
            <p:cNvSpPr txBox="1"/>
            <p:nvPr/>
          </p:nvSpPr>
          <p:spPr>
            <a:xfrm>
              <a:off x="7775762" y="3621313"/>
              <a:ext cx="3947036" cy="1130246"/>
            </a:xfrm>
            <a:prstGeom prst="rect">
              <a:avLst/>
            </a:prstGeom>
            <a:noFill/>
          </p:spPr>
          <p:txBody>
            <a:bodyPr wrap="square" rtlCol="0">
              <a:spAutoFit/>
            </a:bodyPr>
            <a:lstStyle/>
            <a:p>
              <a:pPr>
                <a:lnSpc>
                  <a:spcPct val="150000"/>
                </a:lnSpc>
              </a:pPr>
              <a:r>
                <a:rPr lang="en-US" sz="2400" dirty="0">
                  <a:latin typeface="Lucida Bright" panose="02040602050505020304" pitchFamily="18" charset="77"/>
                </a:rPr>
                <a:t>Be with team at least 2 months </a:t>
              </a:r>
              <a:endParaRPr lang="en-VN" sz="2400" dirty="0">
                <a:latin typeface="Lucida Bright" panose="02040602050505020304" pitchFamily="18" charset="77"/>
              </a:endParaRPr>
            </a:p>
          </p:txBody>
        </p:sp>
      </p:grpSp>
    </p:spTree>
    <p:extLst>
      <p:ext uri="{BB962C8B-B14F-4D97-AF65-F5344CB8AC3E}">
        <p14:creationId xmlns:p14="http://schemas.microsoft.com/office/powerpoint/2010/main" val="3547221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checkerboard(across)">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1E417-3AA5-D304-8BE1-98856EB2E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C4149-513B-EE7E-3C6B-5C8F67416AC0}"/>
              </a:ext>
            </a:extLst>
          </p:cNvPr>
          <p:cNvSpPr>
            <a:spLocks noGrp="1"/>
          </p:cNvSpPr>
          <p:nvPr>
            <p:ph type="title"/>
          </p:nvPr>
        </p:nvSpPr>
        <p:spPr>
          <a:xfrm>
            <a:off x="838200" y="2103437"/>
            <a:ext cx="10515600" cy="1325563"/>
          </a:xfrm>
        </p:spPr>
        <p:txBody>
          <a:bodyPr>
            <a:normAutofit/>
          </a:bodyPr>
          <a:lstStyle/>
          <a:p>
            <a:pPr algn="ctr"/>
            <a:r>
              <a:rPr lang="en-US" sz="8800" dirty="0">
                <a:latin typeface="Britannic Bold" panose="020B0903060703020204" pitchFamily="34" charset="77"/>
              </a:rPr>
              <a:t>Vision - Goal</a:t>
            </a:r>
            <a:endParaRPr lang="en-VN" sz="8800" dirty="0">
              <a:latin typeface="Britannic Bold" panose="020B0903060703020204" pitchFamily="34" charset="77"/>
            </a:endParaRPr>
          </a:p>
        </p:txBody>
      </p:sp>
    </p:spTree>
    <p:extLst>
      <p:ext uri="{BB962C8B-B14F-4D97-AF65-F5344CB8AC3E}">
        <p14:creationId xmlns:p14="http://schemas.microsoft.com/office/powerpoint/2010/main" val="1882448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F6E2EEA-BEDC-503A-3850-F0923BC34324}"/>
              </a:ext>
            </a:extLst>
          </p:cNvPr>
          <p:cNvSpPr>
            <a:spLocks noGrp="1"/>
          </p:cNvSpPr>
          <p:nvPr>
            <p:ph type="title"/>
          </p:nvPr>
        </p:nvSpPr>
        <p:spPr>
          <a:xfrm>
            <a:off x="3568861" y="51936"/>
            <a:ext cx="5054278" cy="1107134"/>
          </a:xfrm>
        </p:spPr>
        <p:txBody>
          <a:bodyPr>
            <a:normAutofit/>
          </a:bodyPr>
          <a:lstStyle/>
          <a:p>
            <a:pPr algn="ctr"/>
            <a:r>
              <a:rPr lang="en-US" sz="5400" dirty="0">
                <a:latin typeface="Britannic Bold" panose="020B0903060703020204" pitchFamily="34" charset="77"/>
              </a:rPr>
              <a:t>Vision - Goal</a:t>
            </a:r>
            <a:endParaRPr lang="en-VN" sz="5400" dirty="0">
              <a:latin typeface="Britannic Bold" panose="020B0903060703020204" pitchFamily="34" charset="77"/>
            </a:endParaRPr>
          </a:p>
        </p:txBody>
      </p:sp>
      <p:sp>
        <p:nvSpPr>
          <p:cNvPr id="5" name="TextBox 4">
            <a:extLst>
              <a:ext uri="{FF2B5EF4-FFF2-40B4-BE49-F238E27FC236}">
                <a16:creationId xmlns:a16="http://schemas.microsoft.com/office/drawing/2014/main" id="{853F4A5D-A647-D4BB-6974-45549466D1FE}"/>
              </a:ext>
            </a:extLst>
          </p:cNvPr>
          <p:cNvSpPr txBox="1"/>
          <p:nvPr/>
        </p:nvSpPr>
        <p:spPr>
          <a:xfrm>
            <a:off x="451756" y="947728"/>
            <a:ext cx="11288488" cy="5171609"/>
          </a:xfrm>
          <a:prstGeom prst="rect">
            <a:avLst/>
          </a:prstGeom>
          <a:noFill/>
        </p:spPr>
        <p:txBody>
          <a:bodyPr wrap="square" rtlCol="0">
            <a:spAutoFit/>
          </a:bodyPr>
          <a:lstStyle/>
          <a:p>
            <a:pPr>
              <a:lnSpc>
                <a:spcPct val="150000"/>
              </a:lnSpc>
            </a:pPr>
            <a:r>
              <a:rPr lang="en-VN" sz="3200" b="1" dirty="0">
                <a:latin typeface="Lucida Bright" panose="02040602050505020304" pitchFamily="18" charset="77"/>
              </a:rPr>
              <a:t>To frisbee</a:t>
            </a:r>
            <a:r>
              <a:rPr lang="en-VN" sz="3200" dirty="0">
                <a:latin typeface="Lucida Bright" panose="02040602050505020304" pitchFamily="18" charset="77"/>
              </a:rPr>
              <a:t>:</a:t>
            </a:r>
          </a:p>
          <a:p>
            <a:pPr marL="457200" indent="-457200">
              <a:lnSpc>
                <a:spcPct val="150000"/>
              </a:lnSpc>
              <a:buFont typeface="Arial" panose="020B0604020202020204" pitchFamily="34" charset="0"/>
              <a:buChar char="•"/>
            </a:pPr>
            <a:r>
              <a:rPr lang="en-VN" sz="3200" dirty="0">
                <a:latin typeface="Lucida Bright" panose="02040602050505020304" pitchFamily="18" charset="77"/>
              </a:rPr>
              <a:t>Mastering the basic skills of frisbee</a:t>
            </a:r>
          </a:p>
          <a:p>
            <a:pPr marL="457200" indent="-457200">
              <a:lnSpc>
                <a:spcPct val="150000"/>
              </a:lnSpc>
              <a:buFont typeface="Arial" panose="020B0604020202020204" pitchFamily="34" charset="0"/>
              <a:buChar char="•"/>
            </a:pPr>
            <a:r>
              <a:rPr lang="en-VN" sz="3200" dirty="0">
                <a:latin typeface="Lucida Bright" panose="02040602050505020304" pitchFamily="18" charset="77"/>
              </a:rPr>
              <a:t>Mastering the stategies for doing offense and defense</a:t>
            </a:r>
          </a:p>
          <a:p>
            <a:pPr marL="457200" indent="-457200">
              <a:lnSpc>
                <a:spcPct val="150000"/>
              </a:lnSpc>
              <a:buFont typeface="Arial" panose="020B0604020202020204" pitchFamily="34" charset="0"/>
              <a:buChar char="•"/>
            </a:pPr>
            <a:r>
              <a:rPr lang="en-VN" sz="3200" dirty="0">
                <a:latin typeface="Lucida Bright" panose="02040602050505020304" pitchFamily="18" charset="77"/>
              </a:rPr>
              <a:t>Participating an Asia Tournament - FCA</a:t>
            </a:r>
          </a:p>
          <a:p>
            <a:pPr>
              <a:lnSpc>
                <a:spcPct val="150000"/>
              </a:lnSpc>
            </a:pPr>
            <a:r>
              <a:rPr lang="en-VN" sz="3200" b="1" dirty="0">
                <a:latin typeface="Lucida Bright" panose="02040602050505020304" pitchFamily="18" charset="77"/>
              </a:rPr>
              <a:t>To us</a:t>
            </a:r>
            <a:r>
              <a:rPr lang="en-VN" sz="3200" dirty="0">
                <a:latin typeface="Lucida Bright" panose="02040602050505020304" pitchFamily="18" charset="77"/>
              </a:rPr>
              <a:t>:</a:t>
            </a:r>
          </a:p>
          <a:p>
            <a:pPr marL="457200" indent="-457200">
              <a:lnSpc>
                <a:spcPct val="150000"/>
              </a:lnSpc>
              <a:buFont typeface="Arial" panose="020B0604020202020204" pitchFamily="34" charset="0"/>
              <a:buChar char="•"/>
            </a:pPr>
            <a:r>
              <a:rPr lang="en-VN" sz="3200" dirty="0">
                <a:latin typeface="Lucida Bright" panose="02040602050505020304" pitchFamily="18" charset="77"/>
              </a:rPr>
              <a:t>Members would be closer to each other</a:t>
            </a:r>
          </a:p>
          <a:p>
            <a:pPr marL="457200" indent="-457200">
              <a:lnSpc>
                <a:spcPct val="150000"/>
              </a:lnSpc>
              <a:buFont typeface="Arial" panose="020B0604020202020204" pitchFamily="34" charset="0"/>
              <a:buChar char="•"/>
            </a:pPr>
            <a:endParaRPr lang="en-VN" sz="3200" dirty="0">
              <a:latin typeface="Lucida Bright" panose="02040602050505020304" pitchFamily="18" charset="77"/>
            </a:endParaRPr>
          </a:p>
        </p:txBody>
      </p:sp>
    </p:spTree>
    <p:extLst>
      <p:ext uri="{BB962C8B-B14F-4D97-AF65-F5344CB8AC3E}">
        <p14:creationId xmlns:p14="http://schemas.microsoft.com/office/powerpoint/2010/main" val="29847107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BC307-4EB6-2DC9-4BC2-5445493D6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7E95E-96B1-DD71-A6E4-303A719AE1B9}"/>
              </a:ext>
            </a:extLst>
          </p:cNvPr>
          <p:cNvSpPr>
            <a:spLocks noGrp="1"/>
          </p:cNvSpPr>
          <p:nvPr>
            <p:ph type="title"/>
          </p:nvPr>
        </p:nvSpPr>
        <p:spPr>
          <a:xfrm>
            <a:off x="838200" y="2103437"/>
            <a:ext cx="10515600" cy="1325563"/>
          </a:xfrm>
        </p:spPr>
        <p:txBody>
          <a:bodyPr>
            <a:normAutofit/>
          </a:bodyPr>
          <a:lstStyle/>
          <a:p>
            <a:pPr algn="ctr"/>
            <a:r>
              <a:rPr lang="en-US" sz="8800" dirty="0">
                <a:latin typeface="Britannic Bold" panose="020B0903060703020204" pitchFamily="34" charset="77"/>
              </a:rPr>
              <a:t>Activities</a:t>
            </a:r>
            <a:endParaRPr lang="en-VN" sz="8800" dirty="0">
              <a:latin typeface="Britannic Bold" panose="020B0903060703020204" pitchFamily="34" charset="77"/>
            </a:endParaRPr>
          </a:p>
        </p:txBody>
      </p:sp>
    </p:spTree>
    <p:extLst>
      <p:ext uri="{BB962C8B-B14F-4D97-AF65-F5344CB8AC3E}">
        <p14:creationId xmlns:p14="http://schemas.microsoft.com/office/powerpoint/2010/main" val="13434764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617B-E1F6-D988-E9B2-496F8C613A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A7E61C1-2CF2-0912-529C-04D15346CC43}"/>
              </a:ext>
            </a:extLst>
          </p:cNvPr>
          <p:cNvSpPr>
            <a:spLocks noGrp="1"/>
          </p:cNvSpPr>
          <p:nvPr>
            <p:ph type="title"/>
          </p:nvPr>
        </p:nvSpPr>
        <p:spPr>
          <a:xfrm>
            <a:off x="3568861" y="51936"/>
            <a:ext cx="5054278" cy="1107134"/>
          </a:xfrm>
        </p:spPr>
        <p:txBody>
          <a:bodyPr>
            <a:normAutofit/>
          </a:bodyPr>
          <a:lstStyle/>
          <a:p>
            <a:pPr algn="ctr"/>
            <a:r>
              <a:rPr lang="en-US" sz="5400" dirty="0">
                <a:latin typeface="Britannic Bold" panose="020B0903060703020204" pitchFamily="34" charset="77"/>
              </a:rPr>
              <a:t>Activities</a:t>
            </a:r>
            <a:endParaRPr lang="en-VN" sz="5400" dirty="0">
              <a:latin typeface="Britannic Bold" panose="020B0903060703020204" pitchFamily="34" charset="77"/>
            </a:endParaRPr>
          </a:p>
        </p:txBody>
      </p:sp>
      <p:sp>
        <p:nvSpPr>
          <p:cNvPr id="2" name="TextBox 1">
            <a:extLst>
              <a:ext uri="{FF2B5EF4-FFF2-40B4-BE49-F238E27FC236}">
                <a16:creationId xmlns:a16="http://schemas.microsoft.com/office/drawing/2014/main" id="{3EBBFED4-3B63-AE9A-9928-573986F67336}"/>
              </a:ext>
            </a:extLst>
          </p:cNvPr>
          <p:cNvSpPr txBox="1"/>
          <p:nvPr/>
        </p:nvSpPr>
        <p:spPr>
          <a:xfrm>
            <a:off x="239486" y="1159070"/>
            <a:ext cx="11713028" cy="5417893"/>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VN" sz="2600" dirty="0">
                <a:latin typeface="Lucida Bright" panose="02040602050505020304" pitchFamily="18" charset="77"/>
              </a:rPr>
              <a:t>The training time would come up to be 2 hours</a:t>
            </a:r>
          </a:p>
          <a:p>
            <a:pPr marL="457200" indent="-457200">
              <a:lnSpc>
                <a:spcPct val="150000"/>
              </a:lnSpc>
              <a:buFont typeface="Arial" panose="020B0604020202020204" pitchFamily="34" charset="0"/>
              <a:buChar char="•"/>
            </a:pPr>
            <a:r>
              <a:rPr lang="en-VN" sz="2600" dirty="0">
                <a:latin typeface="Lucida Bright" panose="02040602050505020304" pitchFamily="18" charset="77"/>
              </a:rPr>
              <a:t>Frame of training time: Opening prayer -&gt; Warming up -&gt; Fitness and Disc Thrill -&gt; Pick up -&gt; Huddle -&gt; Close Prayer</a:t>
            </a:r>
          </a:p>
          <a:p>
            <a:pPr marL="457200" indent="-457200">
              <a:lnSpc>
                <a:spcPct val="150000"/>
              </a:lnSpc>
              <a:buFont typeface="Arial" panose="020B0604020202020204" pitchFamily="34" charset="0"/>
              <a:buChar char="•"/>
            </a:pPr>
            <a:r>
              <a:rPr lang="en-VN" sz="2600" dirty="0">
                <a:latin typeface="Lucida Bright" panose="02040602050505020304" pitchFamily="18" charset="77"/>
              </a:rPr>
              <a:t>PickupMonthly – Friendly Match to NTC in every first week of month</a:t>
            </a:r>
          </a:p>
          <a:p>
            <a:pPr marL="457200" indent="-457200">
              <a:lnSpc>
                <a:spcPct val="150000"/>
              </a:lnSpc>
              <a:buFont typeface="Arial" panose="020B0604020202020204" pitchFamily="34" charset="0"/>
              <a:buChar char="•"/>
            </a:pPr>
            <a:r>
              <a:rPr lang="en-VN" sz="2600" dirty="0">
                <a:latin typeface="Lucida Bright" panose="02040602050505020304" pitchFamily="18" charset="77"/>
              </a:rPr>
              <a:t>More team activities (coffee, workshop, training,…)</a:t>
            </a:r>
          </a:p>
          <a:p>
            <a:pPr marL="457200" indent="-457200">
              <a:lnSpc>
                <a:spcPct val="150000"/>
              </a:lnSpc>
              <a:buFont typeface="Arial" panose="020B0604020202020204" pitchFamily="34" charset="0"/>
              <a:buChar char="•"/>
            </a:pPr>
            <a:r>
              <a:rPr lang="en-VN" sz="2600" dirty="0">
                <a:latin typeface="Lucida Bright" panose="02040602050505020304" pitchFamily="18" charset="77"/>
              </a:rPr>
              <a:t>Archivement Gifts in milestones (1 year, 2 year, 3 year, …)</a:t>
            </a:r>
          </a:p>
          <a:p>
            <a:pPr marL="457200" indent="-457200">
              <a:lnSpc>
                <a:spcPct val="150000"/>
              </a:lnSpc>
              <a:buFont typeface="Arial" panose="020B0604020202020204" pitchFamily="34" charset="0"/>
              <a:buChar char="•"/>
            </a:pPr>
            <a:r>
              <a:rPr lang="en-VN" sz="2600" dirty="0">
                <a:latin typeface="Lucida Bright" panose="02040602050505020304" pitchFamily="18" charset="77"/>
              </a:rPr>
              <a:t>Tracking the attendance of member and skill improvement every week</a:t>
            </a:r>
          </a:p>
          <a:p>
            <a:pPr marL="457200" indent="-457200">
              <a:lnSpc>
                <a:spcPct val="150000"/>
              </a:lnSpc>
              <a:buFont typeface="Arial" panose="020B0604020202020204" pitchFamily="34" charset="0"/>
              <a:buChar char="•"/>
            </a:pPr>
            <a:r>
              <a:rPr lang="en-VN" sz="2600" dirty="0">
                <a:latin typeface="Lucida Bright" panose="02040602050505020304" pitchFamily="18" charset="77"/>
              </a:rPr>
              <a:t>Fitness Together (Jogging, Walking, Running,…)</a:t>
            </a:r>
          </a:p>
        </p:txBody>
      </p:sp>
    </p:spTree>
    <p:extLst>
      <p:ext uri="{BB962C8B-B14F-4D97-AF65-F5344CB8AC3E}">
        <p14:creationId xmlns:p14="http://schemas.microsoft.com/office/powerpoint/2010/main" val="3528832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4258C-D098-450B-EF34-4B22C1C49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5294A-54CD-1810-F22E-0C3CF0EDB0E9}"/>
              </a:ext>
            </a:extLst>
          </p:cNvPr>
          <p:cNvSpPr>
            <a:spLocks noGrp="1"/>
          </p:cNvSpPr>
          <p:nvPr>
            <p:ph type="title"/>
          </p:nvPr>
        </p:nvSpPr>
        <p:spPr>
          <a:xfrm>
            <a:off x="838200" y="2103437"/>
            <a:ext cx="10515600" cy="1325563"/>
          </a:xfrm>
        </p:spPr>
        <p:txBody>
          <a:bodyPr>
            <a:normAutofit/>
          </a:bodyPr>
          <a:lstStyle/>
          <a:p>
            <a:pPr algn="ctr"/>
            <a:r>
              <a:rPr lang="en-US" sz="8800" dirty="0">
                <a:latin typeface="Britannic Bold" panose="020B0903060703020204" pitchFamily="34" charset="77"/>
              </a:rPr>
              <a:t>Fee</a:t>
            </a:r>
            <a:endParaRPr lang="en-VN" sz="8800" dirty="0">
              <a:latin typeface="Britannic Bold" panose="020B0903060703020204" pitchFamily="34" charset="77"/>
            </a:endParaRPr>
          </a:p>
        </p:txBody>
      </p:sp>
    </p:spTree>
    <p:extLst>
      <p:ext uri="{BB962C8B-B14F-4D97-AF65-F5344CB8AC3E}">
        <p14:creationId xmlns:p14="http://schemas.microsoft.com/office/powerpoint/2010/main" val="5236721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9205C56-6696-29EF-4298-CE3F92587810}"/>
              </a:ext>
            </a:extLst>
          </p:cNvPr>
          <p:cNvGraphicFramePr>
            <a:graphicFrameLocks noGrp="1"/>
          </p:cNvGraphicFramePr>
          <p:nvPr>
            <p:extLst>
              <p:ext uri="{D42A27DB-BD31-4B8C-83A1-F6EECF244321}">
                <p14:modId xmlns:p14="http://schemas.microsoft.com/office/powerpoint/2010/main" val="3524694369"/>
              </p:ext>
            </p:extLst>
          </p:nvPr>
        </p:nvGraphicFramePr>
        <p:xfrm>
          <a:off x="721140" y="1030787"/>
          <a:ext cx="10749720" cy="2613319"/>
        </p:xfrm>
        <a:graphic>
          <a:graphicData uri="http://schemas.openxmlformats.org/drawingml/2006/table">
            <a:tbl>
              <a:tblPr firstRow="1" bandRow="1">
                <a:tableStyleId>{21E4AEA4-8DFA-4A89-87EB-49C32662AFE0}</a:tableStyleId>
              </a:tblPr>
              <a:tblGrid>
                <a:gridCol w="2687430">
                  <a:extLst>
                    <a:ext uri="{9D8B030D-6E8A-4147-A177-3AD203B41FA5}">
                      <a16:colId xmlns:a16="http://schemas.microsoft.com/office/drawing/2014/main" val="66251765"/>
                    </a:ext>
                  </a:extLst>
                </a:gridCol>
                <a:gridCol w="2687430">
                  <a:extLst>
                    <a:ext uri="{9D8B030D-6E8A-4147-A177-3AD203B41FA5}">
                      <a16:colId xmlns:a16="http://schemas.microsoft.com/office/drawing/2014/main" val="2683273664"/>
                    </a:ext>
                  </a:extLst>
                </a:gridCol>
                <a:gridCol w="2687430">
                  <a:extLst>
                    <a:ext uri="{9D8B030D-6E8A-4147-A177-3AD203B41FA5}">
                      <a16:colId xmlns:a16="http://schemas.microsoft.com/office/drawing/2014/main" val="175878412"/>
                    </a:ext>
                  </a:extLst>
                </a:gridCol>
                <a:gridCol w="2687430">
                  <a:extLst>
                    <a:ext uri="{9D8B030D-6E8A-4147-A177-3AD203B41FA5}">
                      <a16:colId xmlns:a16="http://schemas.microsoft.com/office/drawing/2014/main" val="2918369344"/>
                    </a:ext>
                  </a:extLst>
                </a:gridCol>
              </a:tblGrid>
              <a:tr h="586955">
                <a:tc>
                  <a:txBody>
                    <a:bodyPr/>
                    <a:lstStyle/>
                    <a:p>
                      <a:pPr algn="ctr"/>
                      <a:endParaRPr lang="en-VN" sz="2400" dirty="0">
                        <a:latin typeface="Cambria" panose="02040503050406030204" pitchFamily="18" charset="0"/>
                      </a:endParaRPr>
                    </a:p>
                  </a:txBody>
                  <a:tcPr marL="120934" marR="120934" marT="60467" marB="60467" anchor="ctr"/>
                </a:tc>
                <a:tc>
                  <a:txBody>
                    <a:bodyPr/>
                    <a:lstStyle/>
                    <a:p>
                      <a:pPr algn="ctr"/>
                      <a:r>
                        <a:rPr lang="en-VN" sz="2400" dirty="0">
                          <a:latin typeface="Cambria" panose="02040503050406030204" pitchFamily="18" charset="0"/>
                        </a:rPr>
                        <a:t>Worker</a:t>
                      </a:r>
                    </a:p>
                  </a:txBody>
                  <a:tcPr marL="120934" marR="120934" marT="60467" marB="60467" anchor="ctr"/>
                </a:tc>
                <a:tc>
                  <a:txBody>
                    <a:bodyPr/>
                    <a:lstStyle/>
                    <a:p>
                      <a:pPr algn="ctr"/>
                      <a:r>
                        <a:rPr lang="en-VN" sz="2400" dirty="0">
                          <a:latin typeface="Cambria" panose="02040503050406030204" pitchFamily="18" charset="0"/>
                        </a:rPr>
                        <a:t>Students</a:t>
                      </a:r>
                    </a:p>
                  </a:txBody>
                  <a:tcPr marL="120934" marR="120934" marT="60467" marB="60467" anchor="ctr"/>
                </a:tc>
                <a:tc>
                  <a:txBody>
                    <a:bodyPr/>
                    <a:lstStyle/>
                    <a:p>
                      <a:pPr algn="ctr"/>
                      <a:r>
                        <a:rPr lang="en-VN" sz="2400" dirty="0">
                          <a:latin typeface="Cambria" panose="02040503050406030204" pitchFamily="18" charset="0"/>
                        </a:rPr>
                        <a:t>PUS</a:t>
                      </a:r>
                    </a:p>
                  </a:txBody>
                  <a:tcPr marL="120934" marR="120934" marT="60467" marB="60467" anchor="ctr"/>
                </a:tc>
                <a:extLst>
                  <a:ext uri="{0D108BD9-81ED-4DB2-BD59-A6C34878D82A}">
                    <a16:rowId xmlns:a16="http://schemas.microsoft.com/office/drawing/2014/main" val="1279046711"/>
                  </a:ext>
                </a:extLst>
              </a:tr>
              <a:tr h="784305">
                <a:tc>
                  <a:txBody>
                    <a:bodyPr/>
                    <a:lstStyle/>
                    <a:p>
                      <a:pPr algn="ctr"/>
                      <a:r>
                        <a:rPr lang="en-VN" sz="2400" dirty="0">
                          <a:latin typeface="Cambria" panose="02040503050406030204" pitchFamily="18" charset="0"/>
                        </a:rPr>
                        <a:t>Membership (Offical member)</a:t>
                      </a:r>
                    </a:p>
                  </a:txBody>
                  <a:tcPr marL="120934" marR="120934" marT="60467" marB="60467" anchor="ctr"/>
                </a:tc>
                <a:tc>
                  <a:txBody>
                    <a:bodyPr/>
                    <a:lstStyle/>
                    <a:p>
                      <a:pPr algn="ctr"/>
                      <a:r>
                        <a:rPr lang="en-VN" sz="2400" dirty="0">
                          <a:latin typeface="Cambria" panose="02040503050406030204" pitchFamily="18" charset="0"/>
                        </a:rPr>
                        <a:t>180k/Month</a:t>
                      </a:r>
                    </a:p>
                  </a:txBody>
                  <a:tcPr marL="120934" marR="120934" marT="60467" marB="60467" anchor="ctr"/>
                </a:tc>
                <a:tc>
                  <a:txBody>
                    <a:bodyPr/>
                    <a:lstStyle/>
                    <a:p>
                      <a:pPr algn="ctr"/>
                      <a:r>
                        <a:rPr lang="en-VN" sz="2400" dirty="0">
                          <a:latin typeface="Cambria" panose="02040503050406030204" pitchFamily="18" charset="0"/>
                        </a:rPr>
                        <a:t>120/Month</a:t>
                      </a:r>
                    </a:p>
                  </a:txBody>
                  <a:tcPr marL="120934" marR="120934" marT="60467" marB="60467" anchor="ctr"/>
                </a:tc>
                <a:tc>
                  <a:txBody>
                    <a:bodyPr/>
                    <a:lstStyle/>
                    <a:p>
                      <a:pPr algn="ctr"/>
                      <a:r>
                        <a:rPr lang="en-VN" sz="2400" dirty="0">
                          <a:latin typeface="Cambria" panose="02040503050406030204" pitchFamily="18" charset="0"/>
                        </a:rPr>
                        <a:t>100k/month</a:t>
                      </a:r>
                    </a:p>
                  </a:txBody>
                  <a:tcPr marL="120934" marR="120934" marT="60467" marB="60467" anchor="ctr"/>
                </a:tc>
                <a:extLst>
                  <a:ext uri="{0D108BD9-81ED-4DB2-BD59-A6C34878D82A}">
                    <a16:rowId xmlns:a16="http://schemas.microsoft.com/office/drawing/2014/main" val="1130219113"/>
                  </a:ext>
                </a:extLst>
              </a:tr>
              <a:tr h="586955">
                <a:tc>
                  <a:txBody>
                    <a:bodyPr/>
                    <a:lstStyle/>
                    <a:p>
                      <a:pPr algn="ctr"/>
                      <a:r>
                        <a:rPr lang="en-VN" sz="2400" dirty="0">
                          <a:latin typeface="Cambria" panose="02040503050406030204" pitchFamily="18" charset="0"/>
                        </a:rPr>
                        <a:t>Visitor</a:t>
                      </a:r>
                    </a:p>
                  </a:txBody>
                  <a:tcPr marL="120934" marR="120934" marT="60467" marB="60467" anchor="ctr"/>
                </a:tc>
                <a:tc>
                  <a:txBody>
                    <a:bodyPr/>
                    <a:lstStyle/>
                    <a:p>
                      <a:pPr algn="ctr"/>
                      <a:r>
                        <a:rPr lang="en-VN" sz="2400" dirty="0">
                          <a:latin typeface="Cambria" panose="02040503050406030204" pitchFamily="18" charset="0"/>
                        </a:rPr>
                        <a:t>40k/Time</a:t>
                      </a:r>
                    </a:p>
                  </a:txBody>
                  <a:tcPr marL="120934" marR="120934" marT="60467" marB="60467" anchor="ctr"/>
                </a:tc>
                <a:tc>
                  <a:txBody>
                    <a:bodyPr/>
                    <a:lstStyle/>
                    <a:p>
                      <a:pPr algn="ctr"/>
                      <a:r>
                        <a:rPr lang="en-VN" sz="2400" dirty="0">
                          <a:latin typeface="Cambria" panose="02040503050406030204" pitchFamily="18" charset="0"/>
                        </a:rPr>
                        <a:t>25k/Time</a:t>
                      </a:r>
                    </a:p>
                  </a:txBody>
                  <a:tcPr marL="120934" marR="120934" marT="60467" marB="60467" anchor="ctr"/>
                </a:tc>
                <a:tc>
                  <a:txBody>
                    <a:bodyPr/>
                    <a:lstStyle/>
                    <a:p>
                      <a:pPr algn="ctr"/>
                      <a:r>
                        <a:rPr lang="en-VN" sz="2400" dirty="0">
                          <a:latin typeface="Cambria" panose="02040503050406030204" pitchFamily="18" charset="0"/>
                        </a:rPr>
                        <a:t>20k/Time</a:t>
                      </a:r>
                    </a:p>
                  </a:txBody>
                  <a:tcPr marL="120934" marR="120934" marT="60467" marB="60467" anchor="ctr"/>
                </a:tc>
                <a:extLst>
                  <a:ext uri="{0D108BD9-81ED-4DB2-BD59-A6C34878D82A}">
                    <a16:rowId xmlns:a16="http://schemas.microsoft.com/office/drawing/2014/main" val="2453412264"/>
                  </a:ext>
                </a:extLst>
              </a:tr>
              <a:tr h="586955">
                <a:tc>
                  <a:txBody>
                    <a:bodyPr/>
                    <a:lstStyle/>
                    <a:p>
                      <a:pPr algn="ctr"/>
                      <a:r>
                        <a:rPr lang="en-VN" sz="2400" dirty="0">
                          <a:latin typeface="Cambria" panose="02040503050406030204" pitchFamily="18" charset="0"/>
                        </a:rPr>
                        <a:t>First Visiting</a:t>
                      </a:r>
                    </a:p>
                  </a:txBody>
                  <a:tcPr marL="120934" marR="120934" marT="60467" marB="60467" anchor="ctr"/>
                </a:tc>
                <a:tc>
                  <a:txBody>
                    <a:bodyPr/>
                    <a:lstStyle/>
                    <a:p>
                      <a:pPr algn="ctr"/>
                      <a:r>
                        <a:rPr lang="en-VN" sz="2400" dirty="0">
                          <a:latin typeface="Cambria" panose="02040503050406030204" pitchFamily="18" charset="0"/>
                        </a:rPr>
                        <a:t>Free</a:t>
                      </a:r>
                    </a:p>
                  </a:txBody>
                  <a:tcPr marL="120934" marR="120934" marT="60467" marB="60467" anchor="ctr"/>
                </a:tc>
                <a:tc>
                  <a:txBody>
                    <a:bodyPr/>
                    <a:lstStyle/>
                    <a:p>
                      <a:pPr algn="ctr"/>
                      <a:r>
                        <a:rPr lang="en-VN" sz="2400" dirty="0">
                          <a:latin typeface="Cambria" panose="02040503050406030204" pitchFamily="18" charset="0"/>
                        </a:rPr>
                        <a:t>Free</a:t>
                      </a:r>
                    </a:p>
                  </a:txBody>
                  <a:tcPr marL="120934" marR="120934" marT="60467" marB="60467" anchor="ctr"/>
                </a:tc>
                <a:tc>
                  <a:txBody>
                    <a:bodyPr/>
                    <a:lstStyle/>
                    <a:p>
                      <a:pPr algn="ctr"/>
                      <a:r>
                        <a:rPr lang="en-VN" sz="2400" dirty="0">
                          <a:latin typeface="Cambria" panose="02040503050406030204" pitchFamily="18" charset="0"/>
                        </a:rPr>
                        <a:t>Free</a:t>
                      </a:r>
                    </a:p>
                  </a:txBody>
                  <a:tcPr marL="120934" marR="120934" marT="60467" marB="60467" anchor="ctr"/>
                </a:tc>
                <a:extLst>
                  <a:ext uri="{0D108BD9-81ED-4DB2-BD59-A6C34878D82A}">
                    <a16:rowId xmlns:a16="http://schemas.microsoft.com/office/drawing/2014/main" val="1096450123"/>
                  </a:ext>
                </a:extLst>
              </a:tr>
            </a:tbl>
          </a:graphicData>
        </a:graphic>
      </p:graphicFrame>
      <p:sp>
        <p:nvSpPr>
          <p:cNvPr id="6" name="TextBox 5">
            <a:extLst>
              <a:ext uri="{FF2B5EF4-FFF2-40B4-BE49-F238E27FC236}">
                <a16:creationId xmlns:a16="http://schemas.microsoft.com/office/drawing/2014/main" id="{42837F29-5534-FB19-1A2E-B2DE6DB3226A}"/>
              </a:ext>
            </a:extLst>
          </p:cNvPr>
          <p:cNvSpPr txBox="1"/>
          <p:nvPr/>
        </p:nvSpPr>
        <p:spPr>
          <a:xfrm>
            <a:off x="2233915" y="121262"/>
            <a:ext cx="7724170" cy="769441"/>
          </a:xfrm>
          <a:prstGeom prst="rect">
            <a:avLst/>
          </a:prstGeom>
          <a:noFill/>
        </p:spPr>
        <p:txBody>
          <a:bodyPr wrap="square" rtlCol="0">
            <a:spAutoFit/>
          </a:bodyPr>
          <a:lstStyle/>
          <a:p>
            <a:pPr algn="ctr"/>
            <a:r>
              <a:rPr lang="en-VN" sz="4400" b="1" dirty="0">
                <a:latin typeface="Lucida Bright" panose="02040602050505020304" pitchFamily="18" charset="77"/>
              </a:rPr>
              <a:t>Membership &amp; Visitor</a:t>
            </a:r>
          </a:p>
        </p:txBody>
      </p:sp>
      <p:sp>
        <p:nvSpPr>
          <p:cNvPr id="7" name="TextBox 6">
            <a:extLst>
              <a:ext uri="{FF2B5EF4-FFF2-40B4-BE49-F238E27FC236}">
                <a16:creationId xmlns:a16="http://schemas.microsoft.com/office/drawing/2014/main" id="{CD7CCE32-5F54-568F-80CD-2DB806413E36}"/>
              </a:ext>
            </a:extLst>
          </p:cNvPr>
          <p:cNvSpPr txBox="1"/>
          <p:nvPr/>
        </p:nvSpPr>
        <p:spPr>
          <a:xfrm>
            <a:off x="721140" y="3784190"/>
            <a:ext cx="10749720" cy="830997"/>
          </a:xfrm>
          <a:prstGeom prst="rect">
            <a:avLst/>
          </a:prstGeom>
          <a:noFill/>
        </p:spPr>
        <p:txBody>
          <a:bodyPr wrap="square" rtlCol="0">
            <a:spAutoFit/>
          </a:bodyPr>
          <a:lstStyle/>
          <a:p>
            <a:pPr algn="ctr"/>
            <a:r>
              <a:rPr lang="en-VN" sz="2400" dirty="0">
                <a:solidFill>
                  <a:srgbClr val="FF0000"/>
                </a:solidFill>
                <a:latin typeface="Lucida Bright" panose="02040602050505020304" pitchFamily="18" charset="77"/>
              </a:rPr>
              <a:t>All of those who participate membership would receive </a:t>
            </a:r>
          </a:p>
          <a:p>
            <a:pPr algn="ctr"/>
            <a:r>
              <a:rPr lang="en-VN" sz="2400" dirty="0">
                <a:solidFill>
                  <a:srgbClr val="FF0000"/>
                </a:solidFill>
                <a:latin typeface="Lucida Bright" panose="02040602050505020304" pitchFamily="18" charset="77"/>
              </a:rPr>
              <a:t>all the benefits for member from SUC</a:t>
            </a:r>
          </a:p>
        </p:txBody>
      </p:sp>
      <p:graphicFrame>
        <p:nvGraphicFramePr>
          <p:cNvPr id="8" name="Table 7">
            <a:extLst>
              <a:ext uri="{FF2B5EF4-FFF2-40B4-BE49-F238E27FC236}">
                <a16:creationId xmlns:a16="http://schemas.microsoft.com/office/drawing/2014/main" id="{F65CB2F4-3B27-6EB5-7B6F-3B386ECEF5C9}"/>
              </a:ext>
            </a:extLst>
          </p:cNvPr>
          <p:cNvGraphicFramePr>
            <a:graphicFrameLocks noGrp="1"/>
          </p:cNvGraphicFramePr>
          <p:nvPr>
            <p:extLst>
              <p:ext uri="{D42A27DB-BD31-4B8C-83A1-F6EECF244321}">
                <p14:modId xmlns:p14="http://schemas.microsoft.com/office/powerpoint/2010/main" val="3429702778"/>
              </p:ext>
            </p:extLst>
          </p:nvPr>
        </p:nvGraphicFramePr>
        <p:xfrm>
          <a:off x="721140" y="4755271"/>
          <a:ext cx="10749720" cy="1825143"/>
        </p:xfrm>
        <a:graphic>
          <a:graphicData uri="http://schemas.openxmlformats.org/drawingml/2006/table">
            <a:tbl>
              <a:tblPr firstRow="1" bandRow="1">
                <a:tableStyleId>{21E4AEA4-8DFA-4A89-87EB-49C32662AFE0}</a:tableStyleId>
              </a:tblPr>
              <a:tblGrid>
                <a:gridCol w="2687430">
                  <a:extLst>
                    <a:ext uri="{9D8B030D-6E8A-4147-A177-3AD203B41FA5}">
                      <a16:colId xmlns:a16="http://schemas.microsoft.com/office/drawing/2014/main" val="66251765"/>
                    </a:ext>
                  </a:extLst>
                </a:gridCol>
                <a:gridCol w="2687430">
                  <a:extLst>
                    <a:ext uri="{9D8B030D-6E8A-4147-A177-3AD203B41FA5}">
                      <a16:colId xmlns:a16="http://schemas.microsoft.com/office/drawing/2014/main" val="2683273664"/>
                    </a:ext>
                  </a:extLst>
                </a:gridCol>
                <a:gridCol w="2687430">
                  <a:extLst>
                    <a:ext uri="{9D8B030D-6E8A-4147-A177-3AD203B41FA5}">
                      <a16:colId xmlns:a16="http://schemas.microsoft.com/office/drawing/2014/main" val="175878412"/>
                    </a:ext>
                  </a:extLst>
                </a:gridCol>
                <a:gridCol w="2687430">
                  <a:extLst>
                    <a:ext uri="{9D8B030D-6E8A-4147-A177-3AD203B41FA5}">
                      <a16:colId xmlns:a16="http://schemas.microsoft.com/office/drawing/2014/main" val="2918369344"/>
                    </a:ext>
                  </a:extLst>
                </a:gridCol>
              </a:tblGrid>
              <a:tr h="608381">
                <a:tc>
                  <a:txBody>
                    <a:bodyPr/>
                    <a:lstStyle/>
                    <a:p>
                      <a:pPr algn="ctr"/>
                      <a:r>
                        <a:rPr lang="en-VN" sz="2400" dirty="0">
                          <a:latin typeface="Cambria" panose="02040503050406030204" pitchFamily="18" charset="0"/>
                        </a:rPr>
                        <a:t>The Match</a:t>
                      </a:r>
                    </a:p>
                  </a:txBody>
                  <a:tcPr marL="120934" marR="120934" marT="60467" marB="60467" anchor="ctr"/>
                </a:tc>
                <a:tc>
                  <a:txBody>
                    <a:bodyPr/>
                    <a:lstStyle/>
                    <a:p>
                      <a:pPr algn="ctr"/>
                      <a:r>
                        <a:rPr lang="en-VN" sz="2400" dirty="0">
                          <a:latin typeface="Cambria" panose="02040503050406030204" pitchFamily="18" charset="0"/>
                        </a:rPr>
                        <a:t>Worker</a:t>
                      </a:r>
                    </a:p>
                  </a:txBody>
                  <a:tcPr marL="120934" marR="120934" marT="60467" marB="60467" anchor="ctr"/>
                </a:tc>
                <a:tc>
                  <a:txBody>
                    <a:bodyPr/>
                    <a:lstStyle/>
                    <a:p>
                      <a:pPr algn="ctr"/>
                      <a:r>
                        <a:rPr lang="en-VN" sz="2400" dirty="0">
                          <a:latin typeface="Cambria" panose="02040503050406030204" pitchFamily="18" charset="0"/>
                        </a:rPr>
                        <a:t>Students</a:t>
                      </a:r>
                    </a:p>
                  </a:txBody>
                  <a:tcPr marL="120934" marR="120934" marT="60467" marB="60467" anchor="ctr"/>
                </a:tc>
                <a:tc>
                  <a:txBody>
                    <a:bodyPr/>
                    <a:lstStyle/>
                    <a:p>
                      <a:pPr algn="ctr"/>
                      <a:r>
                        <a:rPr lang="en-VN" sz="2400" dirty="0">
                          <a:latin typeface="Cambria" panose="02040503050406030204" pitchFamily="18" charset="0"/>
                        </a:rPr>
                        <a:t>PUS</a:t>
                      </a:r>
                    </a:p>
                  </a:txBody>
                  <a:tcPr marL="120934" marR="120934" marT="60467" marB="60467" anchor="ctr"/>
                </a:tc>
                <a:extLst>
                  <a:ext uri="{0D108BD9-81ED-4DB2-BD59-A6C34878D82A}">
                    <a16:rowId xmlns:a16="http://schemas.microsoft.com/office/drawing/2014/main" val="1279046711"/>
                  </a:ext>
                </a:extLst>
              </a:tr>
              <a:tr h="608381">
                <a:tc>
                  <a:txBody>
                    <a:bodyPr/>
                    <a:lstStyle/>
                    <a:p>
                      <a:pPr algn="ctr"/>
                      <a:r>
                        <a:rPr lang="en-VN" sz="2400" dirty="0">
                          <a:latin typeface="Cambria" panose="02040503050406030204" pitchFamily="18" charset="0"/>
                        </a:rPr>
                        <a:t>Membership</a:t>
                      </a:r>
                    </a:p>
                  </a:txBody>
                  <a:tcPr marL="120934" marR="120934" marT="60467" marB="60467" anchor="ctr"/>
                </a:tc>
                <a:tc>
                  <a:txBody>
                    <a:bodyPr/>
                    <a:lstStyle/>
                    <a:p>
                      <a:pPr algn="ctr"/>
                      <a:r>
                        <a:rPr lang="en-VN" sz="2400" dirty="0">
                          <a:latin typeface="Cambria" panose="02040503050406030204" pitchFamily="18" charset="0"/>
                        </a:rPr>
                        <a:t>Paid</a:t>
                      </a:r>
                    </a:p>
                  </a:txBody>
                  <a:tcPr marL="120934" marR="120934" marT="60467" marB="60467" anchor="ctr"/>
                </a:tc>
                <a:tc>
                  <a:txBody>
                    <a:bodyPr/>
                    <a:lstStyle/>
                    <a:p>
                      <a:pPr algn="ctr"/>
                      <a:r>
                        <a:rPr lang="en-VN" sz="2400" dirty="0">
                          <a:latin typeface="Cambria" panose="02040503050406030204" pitchFamily="18" charset="0"/>
                        </a:rPr>
                        <a:t>Paid</a:t>
                      </a:r>
                    </a:p>
                  </a:txBody>
                  <a:tcPr marL="120934" marR="120934" marT="60467" marB="60467" anchor="ctr"/>
                </a:tc>
                <a:tc>
                  <a:txBody>
                    <a:bodyPr/>
                    <a:lstStyle/>
                    <a:p>
                      <a:pPr algn="ctr"/>
                      <a:r>
                        <a:rPr lang="en-VN" sz="2400" dirty="0">
                          <a:latin typeface="Cambria" panose="02040503050406030204" pitchFamily="18" charset="0"/>
                        </a:rPr>
                        <a:t>Paid</a:t>
                      </a:r>
                    </a:p>
                  </a:txBody>
                  <a:tcPr marL="120934" marR="120934" marT="60467" marB="60467" anchor="ctr"/>
                </a:tc>
                <a:extLst>
                  <a:ext uri="{0D108BD9-81ED-4DB2-BD59-A6C34878D82A}">
                    <a16:rowId xmlns:a16="http://schemas.microsoft.com/office/drawing/2014/main" val="1130219113"/>
                  </a:ext>
                </a:extLst>
              </a:tr>
              <a:tr h="608381">
                <a:tc>
                  <a:txBody>
                    <a:bodyPr/>
                    <a:lstStyle/>
                    <a:p>
                      <a:pPr algn="ctr"/>
                      <a:r>
                        <a:rPr lang="en-VN" sz="2400" dirty="0">
                          <a:latin typeface="Cambria" panose="02040503050406030204" pitchFamily="18" charset="0"/>
                        </a:rPr>
                        <a:t>Non-membership</a:t>
                      </a:r>
                    </a:p>
                  </a:txBody>
                  <a:tcPr marL="120934" marR="120934" marT="60467" marB="60467" anchor="ctr"/>
                </a:tc>
                <a:tc>
                  <a:txBody>
                    <a:bodyPr/>
                    <a:lstStyle/>
                    <a:p>
                      <a:pPr algn="ctr"/>
                      <a:r>
                        <a:rPr lang="en-VN" sz="2400" dirty="0">
                          <a:latin typeface="Cambria" panose="02040503050406030204" pitchFamily="18" charset="0"/>
                        </a:rPr>
                        <a:t>30k/House</a:t>
                      </a:r>
                    </a:p>
                  </a:txBody>
                  <a:tcPr marL="120934" marR="120934" marT="60467" marB="60467" anchor="ctr"/>
                </a:tc>
                <a:tc>
                  <a:txBody>
                    <a:bodyPr/>
                    <a:lstStyle/>
                    <a:p>
                      <a:pPr algn="ctr"/>
                      <a:r>
                        <a:rPr lang="en-VN" sz="2400" dirty="0">
                          <a:latin typeface="Cambria" panose="02040503050406030204" pitchFamily="18" charset="0"/>
                        </a:rPr>
                        <a:t>15k/House</a:t>
                      </a:r>
                    </a:p>
                  </a:txBody>
                  <a:tcPr marL="120934" marR="120934" marT="60467" marB="60467" anchor="ctr"/>
                </a:tc>
                <a:tc>
                  <a:txBody>
                    <a:bodyPr/>
                    <a:lstStyle/>
                    <a:p>
                      <a:pPr algn="ctr"/>
                      <a:r>
                        <a:rPr lang="en-VN" sz="2400" dirty="0">
                          <a:latin typeface="Cambria" panose="02040503050406030204" pitchFamily="18" charset="0"/>
                        </a:rPr>
                        <a:t>10k/House</a:t>
                      </a:r>
                    </a:p>
                  </a:txBody>
                  <a:tcPr marL="120934" marR="120934" marT="60467" marB="60467" anchor="ctr"/>
                </a:tc>
                <a:extLst>
                  <a:ext uri="{0D108BD9-81ED-4DB2-BD59-A6C34878D82A}">
                    <a16:rowId xmlns:a16="http://schemas.microsoft.com/office/drawing/2014/main" val="2328457777"/>
                  </a:ext>
                </a:extLst>
              </a:tr>
            </a:tbl>
          </a:graphicData>
        </a:graphic>
      </p:graphicFrame>
    </p:spTree>
    <p:extLst>
      <p:ext uri="{BB962C8B-B14F-4D97-AF65-F5344CB8AC3E}">
        <p14:creationId xmlns:p14="http://schemas.microsoft.com/office/powerpoint/2010/main" val="4184444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2D211-43E1-CAF4-47EA-01818CC4F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D652D-78EF-853C-5EBB-2C2668666A6C}"/>
              </a:ext>
            </a:extLst>
          </p:cNvPr>
          <p:cNvSpPr>
            <a:spLocks noGrp="1"/>
          </p:cNvSpPr>
          <p:nvPr>
            <p:ph type="title"/>
          </p:nvPr>
        </p:nvSpPr>
        <p:spPr>
          <a:xfrm>
            <a:off x="838200" y="2103437"/>
            <a:ext cx="10515600" cy="1325563"/>
          </a:xfrm>
        </p:spPr>
        <p:txBody>
          <a:bodyPr>
            <a:normAutofit/>
          </a:bodyPr>
          <a:lstStyle/>
          <a:p>
            <a:pPr algn="ctr"/>
            <a:r>
              <a:rPr lang="en-US" sz="8800" dirty="0">
                <a:latin typeface="Britannic Bold" panose="020B0903060703020204" pitchFamily="34" charset="77"/>
              </a:rPr>
              <a:t>Benefits</a:t>
            </a:r>
            <a:endParaRPr lang="en-VN" sz="8800" dirty="0">
              <a:latin typeface="Britannic Bold" panose="020B0903060703020204" pitchFamily="34" charset="77"/>
            </a:endParaRPr>
          </a:p>
        </p:txBody>
      </p:sp>
    </p:spTree>
    <p:extLst>
      <p:ext uri="{BB962C8B-B14F-4D97-AF65-F5344CB8AC3E}">
        <p14:creationId xmlns:p14="http://schemas.microsoft.com/office/powerpoint/2010/main" val="30041198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FD334-0886-9F61-3FC3-7E12EBF8D19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873630A-2D74-79C2-F5A9-D8BFFC166021}"/>
              </a:ext>
            </a:extLst>
          </p:cNvPr>
          <p:cNvSpPr>
            <a:spLocks noGrp="1"/>
          </p:cNvSpPr>
          <p:nvPr>
            <p:ph type="title"/>
          </p:nvPr>
        </p:nvSpPr>
        <p:spPr>
          <a:xfrm>
            <a:off x="1371600" y="51936"/>
            <a:ext cx="9448800" cy="1107134"/>
          </a:xfrm>
        </p:spPr>
        <p:txBody>
          <a:bodyPr>
            <a:normAutofit/>
          </a:bodyPr>
          <a:lstStyle/>
          <a:p>
            <a:pPr algn="ctr">
              <a:lnSpc>
                <a:spcPct val="100000"/>
              </a:lnSpc>
            </a:pPr>
            <a:r>
              <a:rPr lang="en-US" sz="5400" dirty="0">
                <a:latin typeface="Lucida Bright" panose="02040602050505020304" pitchFamily="18" charset="77"/>
              </a:rPr>
              <a:t>Benefits</a:t>
            </a:r>
            <a:endParaRPr lang="en-VN" sz="5400" dirty="0">
              <a:latin typeface="Lucida Bright" panose="02040602050505020304" pitchFamily="18" charset="77"/>
            </a:endParaRPr>
          </a:p>
        </p:txBody>
      </p:sp>
      <p:sp>
        <p:nvSpPr>
          <p:cNvPr id="2" name="TextBox 1">
            <a:extLst>
              <a:ext uri="{FF2B5EF4-FFF2-40B4-BE49-F238E27FC236}">
                <a16:creationId xmlns:a16="http://schemas.microsoft.com/office/drawing/2014/main" id="{CF8C2CD5-FCBB-FFCF-3F33-4C2179918C0C}"/>
              </a:ext>
            </a:extLst>
          </p:cNvPr>
          <p:cNvSpPr txBox="1"/>
          <p:nvPr/>
        </p:nvSpPr>
        <p:spPr>
          <a:xfrm>
            <a:off x="451756" y="1159070"/>
            <a:ext cx="11288488" cy="954107"/>
          </a:xfrm>
          <a:prstGeom prst="rect">
            <a:avLst/>
          </a:prstGeom>
          <a:noFill/>
        </p:spPr>
        <p:txBody>
          <a:bodyPr wrap="square" rtlCol="0">
            <a:spAutoFit/>
          </a:bodyPr>
          <a:lstStyle/>
          <a:p>
            <a:pPr algn="ctr"/>
            <a:r>
              <a:rPr lang="en-VN" sz="2800" b="1" dirty="0">
                <a:solidFill>
                  <a:srgbClr val="FF0000"/>
                </a:solidFill>
                <a:latin typeface="Lucida Bright" panose="02040602050505020304" pitchFamily="18" charset="77"/>
              </a:rPr>
              <a:t>Just be only applied for offical member </a:t>
            </a:r>
          </a:p>
          <a:p>
            <a:pPr algn="ctr"/>
            <a:r>
              <a:rPr lang="en-VN" sz="2800" b="1" dirty="0">
                <a:solidFill>
                  <a:srgbClr val="FF0000"/>
                </a:solidFill>
                <a:latin typeface="Lucida Bright" panose="02040602050505020304" pitchFamily="18" charset="77"/>
              </a:rPr>
              <a:t>(determined by membership) </a:t>
            </a:r>
          </a:p>
        </p:txBody>
      </p:sp>
      <p:sp>
        <p:nvSpPr>
          <p:cNvPr id="3" name="TextBox 2">
            <a:extLst>
              <a:ext uri="{FF2B5EF4-FFF2-40B4-BE49-F238E27FC236}">
                <a16:creationId xmlns:a16="http://schemas.microsoft.com/office/drawing/2014/main" id="{A5FAFCD0-DC3D-6DE5-0004-0F4235602394}"/>
              </a:ext>
            </a:extLst>
          </p:cNvPr>
          <p:cNvSpPr txBox="1"/>
          <p:nvPr/>
        </p:nvSpPr>
        <p:spPr>
          <a:xfrm>
            <a:off x="680499" y="5306786"/>
            <a:ext cx="10831002" cy="1130246"/>
          </a:xfrm>
          <a:prstGeom prst="rect">
            <a:avLst/>
          </a:prstGeom>
          <a:noFill/>
        </p:spPr>
        <p:txBody>
          <a:bodyPr wrap="square" rtlCol="0">
            <a:spAutoFit/>
          </a:bodyPr>
          <a:lstStyle/>
          <a:p>
            <a:pPr>
              <a:lnSpc>
                <a:spcPct val="150000"/>
              </a:lnSpc>
            </a:pPr>
            <a:r>
              <a:rPr lang="en-VN" sz="2400" dirty="0">
                <a:latin typeface="Lucida Bright" panose="02040602050505020304" pitchFamily="18" charset="77"/>
              </a:rPr>
              <a:t>As any role in SUC:</a:t>
            </a:r>
          </a:p>
          <a:p>
            <a:pPr>
              <a:lnSpc>
                <a:spcPct val="150000"/>
              </a:lnSpc>
            </a:pPr>
            <a:r>
              <a:rPr lang="en-VN" sz="2400" dirty="0">
                <a:latin typeface="Lucida Bright" panose="02040602050505020304" pitchFamily="18" charset="77"/>
              </a:rPr>
              <a:t>* Be reduced 80% membership of a month in each 6 months </a:t>
            </a:r>
          </a:p>
        </p:txBody>
      </p:sp>
      <p:sp>
        <p:nvSpPr>
          <p:cNvPr id="5" name="TextBox 4">
            <a:extLst>
              <a:ext uri="{FF2B5EF4-FFF2-40B4-BE49-F238E27FC236}">
                <a16:creationId xmlns:a16="http://schemas.microsoft.com/office/drawing/2014/main" id="{3F9764B3-5ADB-9036-AE8B-0D08964AC4A2}"/>
              </a:ext>
            </a:extLst>
          </p:cNvPr>
          <p:cNvSpPr txBox="1"/>
          <p:nvPr/>
        </p:nvSpPr>
        <p:spPr>
          <a:xfrm>
            <a:off x="680499" y="2113177"/>
            <a:ext cx="10831002" cy="2238241"/>
          </a:xfrm>
          <a:prstGeom prst="rect">
            <a:avLst/>
          </a:prstGeom>
          <a:noFill/>
        </p:spPr>
        <p:txBody>
          <a:bodyPr wrap="square" rtlCol="0">
            <a:spAutoFit/>
          </a:bodyPr>
          <a:lstStyle/>
          <a:p>
            <a:pPr>
              <a:lnSpc>
                <a:spcPct val="150000"/>
              </a:lnSpc>
            </a:pPr>
            <a:r>
              <a:rPr lang="en-VN" sz="2400" dirty="0">
                <a:latin typeface="Lucida Bright" panose="02040602050505020304" pitchFamily="18" charset="77"/>
              </a:rPr>
              <a:t>As a member:</a:t>
            </a:r>
          </a:p>
          <a:p>
            <a:pPr marL="342900" indent="-342900">
              <a:lnSpc>
                <a:spcPct val="150000"/>
              </a:lnSpc>
              <a:buFont typeface="Arial" panose="020B0604020202020204" pitchFamily="34" charset="0"/>
              <a:buChar char="•"/>
            </a:pPr>
            <a:r>
              <a:rPr lang="en-VN" sz="2400" dirty="0">
                <a:latin typeface="Lucida Bright" panose="02040602050505020304" pitchFamily="18" charset="77"/>
              </a:rPr>
              <a:t>Receiving the gifts from SUC as every milestone</a:t>
            </a:r>
          </a:p>
          <a:p>
            <a:pPr marL="342900" indent="-342900">
              <a:lnSpc>
                <a:spcPct val="150000"/>
              </a:lnSpc>
              <a:buFont typeface="Arial" panose="020B0604020202020204" pitchFamily="34" charset="0"/>
              <a:buChar char="•"/>
            </a:pPr>
            <a:r>
              <a:rPr lang="en-VN" sz="2400" dirty="0">
                <a:latin typeface="Lucida Bright" panose="02040602050505020304" pitchFamily="18" charset="77"/>
              </a:rPr>
              <a:t>Be tracked in attendance and skill improvement progress</a:t>
            </a:r>
          </a:p>
          <a:p>
            <a:pPr marL="342900" indent="-342900">
              <a:lnSpc>
                <a:spcPct val="150000"/>
              </a:lnSpc>
              <a:buFont typeface="Arial" panose="020B0604020202020204" pitchFamily="34" charset="0"/>
              <a:buChar char="•"/>
            </a:pPr>
            <a:r>
              <a:rPr lang="en-VN" sz="2400" dirty="0">
                <a:latin typeface="Lucida Bright" panose="02040602050505020304" pitchFamily="18" charset="77"/>
              </a:rPr>
              <a:t>Got the voucher of 50% of drinking in the coffee sections</a:t>
            </a:r>
          </a:p>
        </p:txBody>
      </p:sp>
    </p:spTree>
    <p:extLst>
      <p:ext uri="{BB962C8B-B14F-4D97-AF65-F5344CB8AC3E}">
        <p14:creationId xmlns:p14="http://schemas.microsoft.com/office/powerpoint/2010/main" val="1527264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F5CE2-3138-C08E-1791-F9A23B321399}"/>
            </a:ext>
          </a:extLst>
        </p:cNvPr>
        <p:cNvGrpSpPr/>
        <p:nvPr/>
      </p:nvGrpSpPr>
      <p:grpSpPr>
        <a:xfrm>
          <a:off x="0" y="0"/>
          <a:ext cx="0" cy="0"/>
          <a:chOff x="0" y="0"/>
          <a:chExt cx="0" cy="0"/>
        </a:xfrm>
      </p:grpSpPr>
    </p:spTree>
    <p:extLst>
      <p:ext uri="{BB962C8B-B14F-4D97-AF65-F5344CB8AC3E}">
        <p14:creationId xmlns:p14="http://schemas.microsoft.com/office/powerpoint/2010/main" val="26775095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4001</TotalTime>
  <Words>688</Words>
  <Application>Microsoft Macintosh PowerPoint</Application>
  <PresentationFormat>Widescreen</PresentationFormat>
  <Paragraphs>170</Paragraphs>
  <Slides>29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Britannic Bold</vt:lpstr>
      <vt:lpstr>Calibri</vt:lpstr>
      <vt:lpstr>Calibri Light</vt:lpstr>
      <vt:lpstr>Calisto MT</vt:lpstr>
      <vt:lpstr>Cambria</vt:lpstr>
      <vt:lpstr>Cooper Black</vt:lpstr>
      <vt:lpstr>Lucida Bright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SUC - Changes in 2025</vt:lpstr>
      <vt:lpstr>Staffs in SUC</vt:lpstr>
      <vt:lpstr>Staffs in SUC</vt:lpstr>
      <vt:lpstr>PowerPoint Presentation</vt:lpstr>
      <vt:lpstr>PowerPoint Presentation</vt:lpstr>
      <vt:lpstr>PowerPoint Presentation</vt:lpstr>
      <vt:lpstr>PowerPoint Presentation</vt:lpstr>
      <vt:lpstr>PowerPoint Presentation</vt:lpstr>
      <vt:lpstr>Vision - Goal</vt:lpstr>
      <vt:lpstr>Vision - Goal</vt:lpstr>
      <vt:lpstr>Activities</vt:lpstr>
      <vt:lpstr>Activities</vt:lpstr>
      <vt:lpstr>Fee</vt:lpstr>
      <vt:lpstr>PowerPoint Presentation</vt:lpstr>
      <vt:lpstr>Benefits</vt:lpstr>
      <vt:lpstr>Benefits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trieu.phan</dc:creator>
  <cp:lastModifiedBy>trieu.phan</cp:lastModifiedBy>
  <cp:revision>529</cp:revision>
  <dcterms:created xsi:type="dcterms:W3CDTF">2025-03-27T23:19:07Z</dcterms:created>
  <dcterms:modified xsi:type="dcterms:W3CDTF">2025-03-30T18:03:07Z</dcterms:modified>
</cp:coreProperties>
</file>